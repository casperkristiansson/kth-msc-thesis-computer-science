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902A"/>
    <a:srgbClr val="195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5B179F-DBD8-8842-BBF8-9C9823109DDD}" v="71" dt="2026-05-25T09:30:50.8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57143"/>
  </p:normalViewPr>
  <p:slideViewPr>
    <p:cSldViewPr snapToGrid="0">
      <p:cViewPr varScale="1">
        <p:scale>
          <a:sx n="108" d="100"/>
          <a:sy n="108" d="100"/>
        </p:scale>
        <p:origin x="3088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54" d="100"/>
          <a:sy n="154" d="100"/>
        </p:scale>
        <p:origin x="182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per kristiansson" userId="805fd1da7aba8867" providerId="LiveId" clId="{3B9D254B-07C2-5069-9471-C29F00425986}"/>
    <pc:docChg chg="undo custSel addSld delSld modSld modMainMaster modShowInfo">
      <pc:chgData name="casper kristiansson" userId="805fd1da7aba8867" providerId="LiveId" clId="{3B9D254B-07C2-5069-9471-C29F00425986}" dt="2026-05-25T12:37:52.996" v="3296"/>
      <pc:docMkLst>
        <pc:docMk/>
      </pc:docMkLst>
      <pc:sldChg chg="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56"/>
        </pc:sldMkLst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57"/>
        </pc:sldMkLst>
        <pc:spChg chg="mod">
          <ac:chgData name="casper kristiansson" userId="805fd1da7aba8867" providerId="LiveId" clId="{3B9D254B-07C2-5069-9471-C29F00425986}" dt="2026-05-24T11:15:12.643" v="2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58"/>
        </pc:sldMkLst>
        <pc:spChg chg="mod">
          <ac:chgData name="casper kristiansson" userId="805fd1da7aba8867" providerId="LiveId" clId="{3B9D254B-07C2-5069-9471-C29F00425986}" dt="2026-05-24T11:15:17.521" v="21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59"/>
        </pc:sldMkLst>
        <pc:spChg chg="mod">
          <ac:chgData name="casper kristiansson" userId="805fd1da7aba8867" providerId="LiveId" clId="{3B9D254B-07C2-5069-9471-C29F00425986}" dt="2026-05-24T11:15:22.989" v="22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60"/>
        </pc:sldMkLst>
        <pc:spChg chg="mod">
          <ac:chgData name="casper kristiansson" userId="805fd1da7aba8867" providerId="LiveId" clId="{3B9D254B-07C2-5069-9471-C29F00425986}" dt="2026-05-24T11:15:26.229" v="23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61"/>
        </pc:sldMkLst>
        <pc:spChg chg="mod">
          <ac:chgData name="casper kristiansson" userId="805fd1da7aba8867" providerId="LiveId" clId="{3B9D254B-07C2-5069-9471-C29F00425986}" dt="2026-05-24T11:15:29.412" v="24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62"/>
        </pc:sldMkLst>
        <pc:spChg chg="mod">
          <ac:chgData name="casper kristiansson" userId="805fd1da7aba8867" providerId="LiveId" clId="{3B9D254B-07C2-5069-9471-C29F00425986}" dt="2026-05-24T11:15:33.537" v="25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63"/>
        </pc:sldMkLst>
        <pc:spChg chg="mod">
          <ac:chgData name="casper kristiansson" userId="805fd1da7aba8867" providerId="LiveId" clId="{3B9D254B-07C2-5069-9471-C29F00425986}" dt="2026-05-24T11:15:37.891" v="26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casper kristiansson" userId="805fd1da7aba8867" providerId="LiveId" clId="{3B9D254B-07C2-5069-9471-C29F00425986}" dt="2026-05-24T11:17:07.258" v="45" actId="20577"/>
          <ac:spMkLst>
            <pc:docMk/>
            <pc:sldMk cId="0" sldId="263"/>
            <ac:spMk id="9" creationId="{00000000-0000-0000-0000-000000000000}"/>
          </ac:spMkLst>
        </pc:sp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64"/>
        </pc:sldMkLst>
        <pc:spChg chg="mod">
          <ac:chgData name="casper kristiansson" userId="805fd1da7aba8867" providerId="LiveId" clId="{3B9D254B-07C2-5069-9471-C29F00425986}" dt="2026-05-24T11:15:48.878" v="30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65"/>
        </pc:sldMkLst>
        <pc:spChg chg="mod">
          <ac:chgData name="casper kristiansson" userId="805fd1da7aba8867" providerId="LiveId" clId="{3B9D254B-07C2-5069-9471-C29F00425986}" dt="2026-05-24T11:15:53.568" v="32" actId="20577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66"/>
        </pc:sldMkLst>
        <pc:spChg chg="mod">
          <ac:chgData name="casper kristiansson" userId="805fd1da7aba8867" providerId="LiveId" clId="{3B9D254B-07C2-5069-9471-C29F00425986}" dt="2026-05-24T11:15:56.835" v="34" actId="20577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casper kristiansson" userId="805fd1da7aba8867" providerId="LiveId" clId="{3B9D254B-07C2-5069-9471-C29F00425986}" dt="2026-05-24T09:19:07.954" v="18"/>
          <ac:spMkLst>
            <pc:docMk/>
            <pc:sldMk cId="0" sldId="266"/>
            <ac:spMk id="5" creationId="{00000000-0000-0000-0000-000000000000}"/>
          </ac:spMkLst>
        </pc:spChg>
        <pc:picChg chg="del">
          <ac:chgData name="casper kristiansson" userId="805fd1da7aba8867" providerId="LiveId" clId="{3B9D254B-07C2-5069-9471-C29F00425986}" dt="2026-05-24T09:18:54.190" v="12" actId="478"/>
          <ac:picMkLst>
            <pc:docMk/>
            <pc:sldMk cId="0" sldId="266"/>
            <ac:picMk id="6" creationId="{00000000-0000-0000-0000-000000000000}"/>
          </ac:picMkLst>
        </pc:picChg>
        <pc:picChg chg="add mod">
          <ac:chgData name="casper kristiansson" userId="805fd1da7aba8867" providerId="LiveId" clId="{3B9D254B-07C2-5069-9471-C29F00425986}" dt="2026-05-24T09:19:54.774" v="19" actId="1076"/>
          <ac:picMkLst>
            <pc:docMk/>
            <pc:sldMk cId="0" sldId="266"/>
            <ac:picMk id="10" creationId="{DD6AC96C-E16A-8103-A9B9-7602493E4504}"/>
          </ac:picMkLst>
        </pc:pic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67"/>
        </pc:sldMkLst>
        <pc:spChg chg="mod">
          <ac:chgData name="casper kristiansson" userId="805fd1da7aba8867" providerId="LiveId" clId="{3B9D254B-07C2-5069-9471-C29F00425986}" dt="2026-05-24T11:15:59.944" v="36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68"/>
        </pc:sldMkLst>
        <pc:spChg chg="mod">
          <ac:chgData name="casper kristiansson" userId="805fd1da7aba8867" providerId="LiveId" clId="{3B9D254B-07C2-5069-9471-C29F00425986}" dt="2026-05-24T11:16:02.495" v="38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69"/>
        </pc:sldMkLst>
        <pc:spChg chg="mod">
          <ac:chgData name="casper kristiansson" userId="805fd1da7aba8867" providerId="LiveId" clId="{3B9D254B-07C2-5069-9471-C29F00425986}" dt="2026-05-24T11:16:05.571" v="40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0" sldId="270"/>
        </pc:sldMkLst>
        <pc:spChg chg="mod">
          <ac:chgData name="casper kristiansson" userId="805fd1da7aba8867" providerId="LiveId" clId="{3B9D254B-07C2-5069-9471-C29F00425986}" dt="2026-05-24T11:16:09.156" v="42" actId="20577"/>
          <ac:spMkLst>
            <pc:docMk/>
            <pc:sldMk cId="0" sldId="270"/>
            <ac:spMk id="3" creationId="{00000000-0000-0000-0000-000000000000}"/>
          </ac:spMkLst>
        </pc:spChg>
      </pc:sldChg>
      <pc:sldChg chg="del">
        <pc:chgData name="casper kristiansson" userId="805fd1da7aba8867" providerId="LiveId" clId="{3B9D254B-07C2-5069-9471-C29F00425986}" dt="2026-05-24T06:44:23.746" v="8" actId="2696"/>
        <pc:sldMkLst>
          <pc:docMk/>
          <pc:sldMk cId="0" sldId="271"/>
        </pc:sldMkLst>
      </pc:sldChg>
      <pc:sldChg chg="del">
        <pc:chgData name="casper kristiansson" userId="805fd1da7aba8867" providerId="LiveId" clId="{3B9D254B-07C2-5069-9471-C29F00425986}" dt="2026-05-24T06:44:23.746" v="8" actId="2696"/>
        <pc:sldMkLst>
          <pc:docMk/>
          <pc:sldMk cId="0" sldId="272"/>
        </pc:sldMkLst>
      </pc:sldChg>
      <pc:sldChg chg="del">
        <pc:chgData name="casper kristiansson" userId="805fd1da7aba8867" providerId="LiveId" clId="{3B9D254B-07C2-5069-9471-C29F00425986}" dt="2026-05-24T06:44:23.746" v="8" actId="2696"/>
        <pc:sldMkLst>
          <pc:docMk/>
          <pc:sldMk cId="0" sldId="273"/>
        </pc:sldMkLst>
      </pc:sldChg>
      <pc:sldChg chg="del">
        <pc:chgData name="casper kristiansson" userId="805fd1da7aba8867" providerId="LiveId" clId="{3B9D254B-07C2-5069-9471-C29F00425986}" dt="2026-05-24T06:44:23.746" v="8" actId="2696"/>
        <pc:sldMkLst>
          <pc:docMk/>
          <pc:sldMk cId="0" sldId="274"/>
        </pc:sldMkLst>
      </pc:sldChg>
      <pc:sldChg chg="del">
        <pc:chgData name="casper kristiansson" userId="805fd1da7aba8867" providerId="LiveId" clId="{3B9D254B-07C2-5069-9471-C29F00425986}" dt="2026-05-24T06:44:23.746" v="8" actId="2696"/>
        <pc:sldMkLst>
          <pc:docMk/>
          <pc:sldMk cId="0" sldId="275"/>
        </pc:sldMkLst>
      </pc:sldChg>
      <pc:sldChg chg="del">
        <pc:chgData name="casper kristiansson" userId="805fd1da7aba8867" providerId="LiveId" clId="{3B9D254B-07C2-5069-9471-C29F00425986}" dt="2026-05-24T06:44:23.746" v="8" actId="2696"/>
        <pc:sldMkLst>
          <pc:docMk/>
          <pc:sldMk cId="0" sldId="276"/>
        </pc:sldMkLst>
      </pc:sldChg>
      <pc:sldChg chg="del">
        <pc:chgData name="casper kristiansson" userId="805fd1da7aba8867" providerId="LiveId" clId="{3B9D254B-07C2-5069-9471-C29F00425986}" dt="2026-05-24T06:44:23.746" v="8" actId="2696"/>
        <pc:sldMkLst>
          <pc:docMk/>
          <pc:sldMk cId="0" sldId="277"/>
        </pc:sldMkLst>
      </pc:sldChg>
      <pc:sldChg chg="del">
        <pc:chgData name="casper kristiansson" userId="805fd1da7aba8867" providerId="LiveId" clId="{3B9D254B-07C2-5069-9471-C29F00425986}" dt="2026-05-24T06:44:23.746" v="8" actId="2696"/>
        <pc:sldMkLst>
          <pc:docMk/>
          <pc:sldMk cId="0" sldId="278"/>
        </pc:sldMkLst>
      </pc:sldChg>
      <pc:sldChg chg="addSp delSp modSp mod modTransition modNotes modNotesTx">
        <pc:chgData name="casper kristiansson" userId="805fd1da7aba8867" providerId="LiveId" clId="{3B9D254B-07C2-5069-9471-C29F00425986}" dt="2026-05-25T12:37:52.996" v="3296"/>
        <pc:sldMkLst>
          <pc:docMk/>
          <pc:sldMk cId="2905395351" sldId="279"/>
        </pc:sldMkLst>
        <pc:picChg chg="add del mod">
          <ac:chgData name="casper kristiansson" userId="805fd1da7aba8867" providerId="LiveId" clId="{3B9D254B-07C2-5069-9471-C29F00425986}" dt="2026-05-24T11:21:32.532" v="47" actId="478"/>
          <ac:picMkLst>
            <pc:docMk/>
            <pc:sldMk cId="2905395351" sldId="279"/>
            <ac:picMk id="3" creationId="{492EA73A-51A1-B158-41BA-17B0B66AA7CD}"/>
          </ac:picMkLst>
        </pc:picChg>
        <pc:picChg chg="add del mod">
          <ac:chgData name="casper kristiansson" userId="805fd1da7aba8867" providerId="LiveId" clId="{3B9D254B-07C2-5069-9471-C29F00425986}" dt="2026-05-24T11:25:07.052" v="63" actId="478"/>
          <ac:picMkLst>
            <pc:docMk/>
            <pc:sldMk cId="2905395351" sldId="279"/>
            <ac:picMk id="4" creationId="{B52551CB-3347-9FD9-469D-C434847959E9}"/>
          </ac:picMkLst>
        </pc:picChg>
        <pc:picChg chg="add mod">
          <ac:chgData name="casper kristiansson" userId="805fd1da7aba8867" providerId="LiveId" clId="{3B9D254B-07C2-5069-9471-C29F00425986}" dt="2026-05-24T11:25:18.007" v="66" actId="1076"/>
          <ac:picMkLst>
            <pc:docMk/>
            <pc:sldMk cId="2905395351" sldId="279"/>
            <ac:picMk id="7" creationId="{FCC5B854-8D8F-E3F0-20A2-860A97D72D0F}"/>
          </ac:picMkLst>
        </pc:picChg>
        <pc:picChg chg="mod">
          <ac:chgData name="casper kristiansson" userId="805fd1da7aba8867" providerId="LiveId" clId="{3B9D254B-07C2-5069-9471-C29F00425986}" dt="2026-05-24T11:21:49.345" v="52" actId="1076"/>
          <ac:picMkLst>
            <pc:docMk/>
            <pc:sldMk cId="2905395351" sldId="279"/>
            <ac:picMk id="14" creationId="{92F0DF4D-F8EE-D063-33FC-7B326E3C02FC}"/>
          </ac:picMkLst>
        </pc:picChg>
      </pc:sldChg>
      <pc:sldChg chg="new del">
        <pc:chgData name="casper kristiansson" userId="805fd1da7aba8867" providerId="LiveId" clId="{3B9D254B-07C2-5069-9471-C29F00425986}" dt="2026-05-24T11:55:14.159" v="73" actId="2696"/>
        <pc:sldMkLst>
          <pc:docMk/>
          <pc:sldMk cId="2428201469" sldId="280"/>
        </pc:sldMkLst>
      </pc:sldChg>
      <pc:sldMasterChg chg="modTransition modSldLayout">
        <pc:chgData name="casper kristiansson" userId="805fd1da7aba8867" providerId="LiveId" clId="{3B9D254B-07C2-5069-9471-C29F00425986}" dt="2026-05-25T12:37:52.996" v="3296"/>
        <pc:sldMasterMkLst>
          <pc:docMk/>
          <pc:sldMasterMk cId="174686462" sldId="2147483648"/>
        </pc:sldMasterMkLst>
        <pc:sldLayoutChg chg="modTransition">
          <pc:chgData name="casper kristiansson" userId="805fd1da7aba8867" providerId="LiveId" clId="{3B9D254B-07C2-5069-9471-C29F00425986}" dt="2026-05-25T12:37:52.996" v="3296"/>
          <pc:sldLayoutMkLst>
            <pc:docMk/>
            <pc:sldMasterMk cId="174686462" sldId="2147483648"/>
            <pc:sldLayoutMk cId="1738698075" sldId="2147483649"/>
          </pc:sldLayoutMkLst>
        </pc:sldLayoutChg>
        <pc:sldLayoutChg chg="modTransition">
          <pc:chgData name="casper kristiansson" userId="805fd1da7aba8867" providerId="LiveId" clId="{3B9D254B-07C2-5069-9471-C29F00425986}" dt="2026-05-25T12:37:52.996" v="3296"/>
          <pc:sldLayoutMkLst>
            <pc:docMk/>
            <pc:sldMasterMk cId="174686462" sldId="2147483648"/>
            <pc:sldLayoutMk cId="3431584549" sldId="2147483650"/>
          </pc:sldLayoutMkLst>
        </pc:sldLayoutChg>
        <pc:sldLayoutChg chg="modTransition">
          <pc:chgData name="casper kristiansson" userId="805fd1da7aba8867" providerId="LiveId" clId="{3B9D254B-07C2-5069-9471-C29F00425986}" dt="2026-05-25T12:37:52.996" v="3296"/>
          <pc:sldLayoutMkLst>
            <pc:docMk/>
            <pc:sldMasterMk cId="174686462" sldId="2147483648"/>
            <pc:sldLayoutMk cId="4143815699" sldId="2147483651"/>
          </pc:sldLayoutMkLst>
        </pc:sldLayoutChg>
        <pc:sldLayoutChg chg="modTransition">
          <pc:chgData name="casper kristiansson" userId="805fd1da7aba8867" providerId="LiveId" clId="{3B9D254B-07C2-5069-9471-C29F00425986}" dt="2026-05-25T12:37:52.996" v="3296"/>
          <pc:sldLayoutMkLst>
            <pc:docMk/>
            <pc:sldMasterMk cId="174686462" sldId="2147483648"/>
            <pc:sldLayoutMk cId="3315311092" sldId="2147483652"/>
          </pc:sldLayoutMkLst>
        </pc:sldLayoutChg>
        <pc:sldLayoutChg chg="modTransition">
          <pc:chgData name="casper kristiansson" userId="805fd1da7aba8867" providerId="LiveId" clId="{3B9D254B-07C2-5069-9471-C29F00425986}" dt="2026-05-25T12:37:52.996" v="3296"/>
          <pc:sldLayoutMkLst>
            <pc:docMk/>
            <pc:sldMasterMk cId="174686462" sldId="2147483648"/>
            <pc:sldLayoutMk cId="1522208060" sldId="2147483653"/>
          </pc:sldLayoutMkLst>
        </pc:sldLayoutChg>
        <pc:sldLayoutChg chg="modTransition">
          <pc:chgData name="casper kristiansson" userId="805fd1da7aba8867" providerId="LiveId" clId="{3B9D254B-07C2-5069-9471-C29F00425986}" dt="2026-05-25T12:37:52.996" v="3296"/>
          <pc:sldLayoutMkLst>
            <pc:docMk/>
            <pc:sldMasterMk cId="174686462" sldId="2147483648"/>
            <pc:sldLayoutMk cId="4190262098" sldId="2147483654"/>
          </pc:sldLayoutMkLst>
        </pc:sldLayoutChg>
        <pc:sldLayoutChg chg="modTransition">
          <pc:chgData name="casper kristiansson" userId="805fd1da7aba8867" providerId="LiveId" clId="{3B9D254B-07C2-5069-9471-C29F00425986}" dt="2026-05-25T12:37:52.996" v="3296"/>
          <pc:sldLayoutMkLst>
            <pc:docMk/>
            <pc:sldMasterMk cId="174686462" sldId="2147483648"/>
            <pc:sldLayoutMk cId="13118199" sldId="2147483655"/>
          </pc:sldLayoutMkLst>
        </pc:sldLayoutChg>
        <pc:sldLayoutChg chg="modTransition">
          <pc:chgData name="casper kristiansson" userId="805fd1da7aba8867" providerId="LiveId" clId="{3B9D254B-07C2-5069-9471-C29F00425986}" dt="2026-05-25T12:37:52.996" v="3296"/>
          <pc:sldLayoutMkLst>
            <pc:docMk/>
            <pc:sldMasterMk cId="174686462" sldId="2147483648"/>
            <pc:sldLayoutMk cId="1903430826" sldId="2147483656"/>
          </pc:sldLayoutMkLst>
        </pc:sldLayoutChg>
        <pc:sldLayoutChg chg="modTransition">
          <pc:chgData name="casper kristiansson" userId="805fd1da7aba8867" providerId="LiveId" clId="{3B9D254B-07C2-5069-9471-C29F00425986}" dt="2026-05-25T12:37:52.996" v="3296"/>
          <pc:sldLayoutMkLst>
            <pc:docMk/>
            <pc:sldMasterMk cId="174686462" sldId="2147483648"/>
            <pc:sldLayoutMk cId="447390078" sldId="2147483657"/>
          </pc:sldLayoutMkLst>
        </pc:sldLayoutChg>
        <pc:sldLayoutChg chg="modTransition">
          <pc:chgData name="casper kristiansson" userId="805fd1da7aba8867" providerId="LiveId" clId="{3B9D254B-07C2-5069-9471-C29F00425986}" dt="2026-05-25T12:37:52.996" v="3296"/>
          <pc:sldLayoutMkLst>
            <pc:docMk/>
            <pc:sldMasterMk cId="174686462" sldId="2147483648"/>
            <pc:sldLayoutMk cId="2257512124" sldId="2147483658"/>
          </pc:sldLayoutMkLst>
        </pc:sldLayoutChg>
        <pc:sldLayoutChg chg="modTransition">
          <pc:chgData name="casper kristiansson" userId="805fd1da7aba8867" providerId="LiveId" clId="{3B9D254B-07C2-5069-9471-C29F00425986}" dt="2026-05-25T12:37:52.996" v="3296"/>
          <pc:sldLayoutMkLst>
            <pc:docMk/>
            <pc:sldMasterMk cId="174686462" sldId="2147483648"/>
            <pc:sldLayoutMk cId="3401718012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A38F8-AEB3-4D68-A093-EAC4A03720BD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A77B7-4D67-4FEB-9967-F9283B339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41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7175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388938" y="4343400"/>
            <a:ext cx="6096000" cy="4114800"/>
          </a:xfrm>
        </p:spPr>
        <p:txBody>
          <a:bodyPr/>
          <a:lstStyle/>
          <a:p>
            <a:r>
              <a:rPr lang="en-US" b="1" dirty="0"/>
              <a:t>Finish by:</a:t>
            </a:r>
            <a:r>
              <a:rPr lang="en-US" dirty="0"/>
              <a:t> 0:50</a:t>
            </a:r>
          </a:p>
          <a:p>
            <a:endParaRPr lang="sv-SE" dirty="0"/>
          </a:p>
          <a:p>
            <a:pPr marL="171450" indent="-171450">
              <a:buFontTx/>
              <a:buChar char="-"/>
            </a:pPr>
            <a:r>
              <a:rPr lang="sv-SE" dirty="0" err="1"/>
              <a:t>Thank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so </a:t>
            </a:r>
            <a:r>
              <a:rPr lang="sv-SE" dirty="0" err="1"/>
              <a:t>much</a:t>
            </a:r>
            <a:endParaRPr lang="sv-SE" dirty="0"/>
          </a:p>
          <a:p>
            <a:pPr marL="171450" indent="-171450">
              <a:buFontTx/>
              <a:buChar char="-"/>
            </a:pPr>
            <a:r>
              <a:rPr lang="sv-SE" dirty="0"/>
              <a:t>My </a:t>
            </a:r>
            <a:r>
              <a:rPr lang="sv-SE" dirty="0" err="1"/>
              <a:t>name</a:t>
            </a:r>
            <a:r>
              <a:rPr lang="sv-SE" dirty="0"/>
              <a:t> is…</a:t>
            </a:r>
          </a:p>
          <a:p>
            <a:pPr marL="171450" indent="-171450">
              <a:buFontTx/>
              <a:buChar char="-"/>
            </a:pPr>
            <a:r>
              <a:rPr lang="sv-SE" dirty="0" err="1"/>
              <a:t>Presenting</a:t>
            </a:r>
            <a:r>
              <a:rPr lang="sv-SE" dirty="0"/>
              <a:t> my </a:t>
            </a:r>
            <a:r>
              <a:rPr lang="sv-SE" dirty="0" err="1"/>
              <a:t>thesis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the </a:t>
            </a:r>
            <a:r>
              <a:rPr lang="sv-SE" dirty="0" err="1"/>
              <a:t>title</a:t>
            </a:r>
            <a:endParaRPr lang="sv-SE" dirty="0"/>
          </a:p>
          <a:p>
            <a:pPr marL="171450" indent="-171450">
              <a:buFontTx/>
              <a:buChar char="-"/>
            </a:pPr>
            <a:r>
              <a:rPr lang="en-US" dirty="0">
                <a:solidFill>
                  <a:srgbClr val="22313F"/>
                </a:solidFill>
              </a:rPr>
              <a:t>From Experiment to Insight: A Comparative Study of Storage Approaches for Large-Scale Synchrotron and Neutron Scattering Data on AWS</a:t>
            </a:r>
          </a:p>
          <a:p>
            <a:pPr marL="171450" indent="-171450">
              <a:buFontTx/>
              <a:buChar char="-"/>
            </a:pPr>
            <a:r>
              <a:rPr lang="en-US" dirty="0">
                <a:solidFill>
                  <a:srgbClr val="22313F"/>
                </a:solidFill>
              </a:rPr>
              <a:t>In short that is </a:t>
            </a:r>
            <a:r>
              <a:rPr lang="en-US" b="1" dirty="0">
                <a:solidFill>
                  <a:srgbClr val="004791"/>
                </a:solidFill>
              </a:rPr>
              <a:t>Benchmarking HDF5 via HSDS, Zarr, </a:t>
            </a:r>
            <a:r>
              <a:rPr lang="en-US" b="1" dirty="0" err="1">
                <a:solidFill>
                  <a:srgbClr val="004791"/>
                </a:solidFill>
              </a:rPr>
              <a:t>TileDB</a:t>
            </a:r>
            <a:r>
              <a:rPr lang="en-US" b="1" dirty="0">
                <a:solidFill>
                  <a:srgbClr val="004791"/>
                </a:solidFill>
              </a:rPr>
              <a:t>, and ROOT/</a:t>
            </a:r>
            <a:r>
              <a:rPr lang="en-US" b="1" dirty="0" err="1">
                <a:solidFill>
                  <a:srgbClr val="004791"/>
                </a:solidFill>
              </a:rPr>
              <a:t>TTree</a:t>
            </a:r>
            <a:r>
              <a:rPr lang="en-US" b="1" dirty="0">
                <a:solidFill>
                  <a:srgbClr val="004791"/>
                </a:solidFill>
              </a:rPr>
              <a:t> using two different access patterns; Random Single-Frame Reads and Full Sequential Scans with different compression algorithms</a:t>
            </a:r>
          </a:p>
          <a:p>
            <a:pPr marL="171450" indent="-171450">
              <a:buFontTx/>
              <a:buChar char="-"/>
            </a:pPr>
            <a:endParaRPr lang="en-US" b="1" dirty="0">
              <a:solidFill>
                <a:srgbClr val="00479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dirty="0"/>
              <a:t>The main theme will be that the right storage choice depends on the access pattern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522C3-22FC-0E1E-9B31-76483679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91F90-4F66-051F-F8B7-6859B22242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CD4A6-0C92-ACB1-5565-3CB1F0007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6096000" cy="4114800"/>
          </a:xfrm>
        </p:spPr>
        <p:txBody>
          <a:bodyPr/>
          <a:lstStyle/>
          <a:p>
            <a:r>
              <a:rPr lang="en-US" b="1" dirty="0"/>
              <a:t>Length: </a:t>
            </a:r>
            <a:r>
              <a:rPr lang="en-US" dirty="0"/>
              <a:t>1:45, </a:t>
            </a:r>
            <a:r>
              <a:rPr lang="en-US" b="1" dirty="0"/>
              <a:t>Finish by:</a:t>
            </a:r>
            <a:r>
              <a:rPr lang="en-US" dirty="0"/>
              <a:t> 2:35</a:t>
            </a:r>
          </a:p>
          <a:p>
            <a:endParaRPr lang="en-US" dirty="0"/>
          </a:p>
          <a:p>
            <a:r>
              <a:rPr lang="en-US" dirty="0"/>
              <a:t>- What are we benchmarking? </a:t>
            </a:r>
          </a:p>
          <a:p>
            <a:r>
              <a:rPr lang="en-US" dirty="0"/>
              <a:t>- In this thesis, the data comes from beamline-style synchrotron or neutron experiment</a:t>
            </a:r>
          </a:p>
          <a:p>
            <a:r>
              <a:rPr lang="en-US" dirty="0"/>
              <a:t>- What this in practice means is that a beamline instrument sends an X-ray or neutron beam through optics onto a sample</a:t>
            </a:r>
          </a:p>
          <a:p>
            <a:r>
              <a:rPr lang="en-US" dirty="0"/>
              <a:t>- The sample is positioned on a stage, and a high-speed detector records the intensity after the beam interacts with the material.</a:t>
            </a:r>
          </a:p>
          <a:p>
            <a:r>
              <a:rPr lang="en-US" dirty="0"/>
              <a:t>- Each detector exposure becomes one 2D image: intensity values over x/y detector pixels.</a:t>
            </a:r>
          </a:p>
          <a:p>
            <a:endParaRPr lang="en-US" dirty="0"/>
          </a:p>
          <a:p>
            <a:r>
              <a:rPr lang="en-US" dirty="0"/>
              <a:t>Define the benchmark data:</a:t>
            </a:r>
            <a:br>
              <a:rPr lang="en-US" dirty="0"/>
            </a:br>
            <a:r>
              <a:rPr lang="en-US" dirty="0"/>
              <a:t>- The benchmark object is a stack of dense detector frames.</a:t>
            </a:r>
            <a:br>
              <a:rPr lang="en-US" dirty="0"/>
            </a:br>
            <a:r>
              <a:rPr lang="en-US" dirty="0"/>
              <a:t>- There are 1296 frames.</a:t>
            </a:r>
            <a:br>
              <a:rPr lang="en-US" dirty="0"/>
            </a:br>
            <a:r>
              <a:rPr lang="en-US" dirty="0"/>
              <a:t>- Each frame is 2880 by 2880 pixels.</a:t>
            </a:r>
            <a:br>
              <a:rPr lang="en-US" dirty="0"/>
            </a:br>
            <a:r>
              <a:rPr lang="en-US" dirty="0"/>
              <a:t>- The datatype is uint16.</a:t>
            </a:r>
            <a:br>
              <a:rPr lang="en-US" dirty="0"/>
            </a:br>
            <a:r>
              <a:rPr lang="en-US" dirty="0"/>
              <a:t>- A single frame is about 15.82 MiB.</a:t>
            </a:r>
            <a:br>
              <a:rPr lang="en-US" dirty="0"/>
            </a:br>
            <a:r>
              <a:rPr lang="en-US" dirty="0"/>
              <a:t>- The raw logical payload is about 20.02 </a:t>
            </a:r>
            <a:r>
              <a:rPr lang="en-US" dirty="0" err="1"/>
              <a:t>GiB.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Source of the dataset:</a:t>
            </a:r>
            <a:br>
              <a:rPr lang="en-US" dirty="0"/>
            </a:br>
            <a:r>
              <a:rPr lang="en-US" dirty="0"/>
              <a:t>- The benchmark stack was built from 80 real CBF seed frames.</a:t>
            </a:r>
            <a:br>
              <a:rPr lang="en-US" dirty="0"/>
            </a:br>
            <a:r>
              <a:rPr lang="en-US" dirty="0"/>
              <a:t>- These were synthetically expanded into the benchmark dataset.</a:t>
            </a:r>
            <a:br>
              <a:rPr lang="en-US" dirty="0"/>
            </a:br>
            <a:r>
              <a:rPr lang="en-US" dirty="0"/>
              <a:t>- This gives a controlled dataset while preserving detector-frame structure.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The key issue is that this same dataset is used in two different ways.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7098C-B3D6-A7FF-DB97-D86D44F2F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27663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Length </a:t>
            </a:r>
            <a:r>
              <a:rPr lang="en-US" dirty="0"/>
              <a:t>1:30, </a:t>
            </a:r>
            <a:r>
              <a:rPr lang="en-US" b="1" dirty="0"/>
              <a:t>Finish by </a:t>
            </a:r>
            <a:r>
              <a:rPr lang="en-US" b="0" dirty="0"/>
              <a:t>4:05</a:t>
            </a:r>
          </a:p>
          <a:p>
            <a:endParaRPr lang="en-US" dirty="0"/>
          </a:p>
          <a:p>
            <a:r>
              <a:rPr lang="en-US" dirty="0"/>
              <a:t>Main framing:</a:t>
            </a:r>
            <a:br>
              <a:rPr lang="en-US" dirty="0"/>
            </a:br>
            <a:r>
              <a:rPr lang="en-US" dirty="0"/>
              <a:t>- With this data, in that builds the framing of the thesis: one dataset, two competing access patterns.</a:t>
            </a:r>
            <a:br>
              <a:rPr lang="en-US" dirty="0"/>
            </a:br>
            <a:r>
              <a:rPr lang="en-US" dirty="0"/>
              <a:t>- The logical dataset is the same.</a:t>
            </a:r>
            <a:br>
              <a:rPr lang="en-US" dirty="0"/>
            </a:br>
            <a:r>
              <a:rPr lang="en-US" dirty="0"/>
              <a:t>- But the storage system sees very different behavior depending on how it is read.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single-frame:</a:t>
            </a:r>
            <a:br>
              <a:rPr lang="en-US" dirty="0"/>
            </a:br>
            <a:r>
              <a:rPr lang="en-US" dirty="0"/>
              <a:t>- The first access pattern is random single-frame reads.</a:t>
            </a:r>
            <a:br>
              <a:rPr lang="en-US" dirty="0"/>
            </a:br>
            <a:r>
              <a:rPr lang="en-US" dirty="0"/>
              <a:t>- This represents interactive inspection.</a:t>
            </a:r>
            <a:br>
              <a:rPr lang="en-US" dirty="0"/>
            </a:br>
            <a:r>
              <a:rPr lang="en-US" dirty="0"/>
              <a:t>- A scientist may want to quickly inspect one frame or slice without reading the whole dataset.</a:t>
            </a:r>
            <a:br>
              <a:rPr lang="en-US" dirty="0"/>
            </a:br>
            <a:r>
              <a:rPr lang="en-US" dirty="0"/>
              <a:t>- This is a latency-first workload.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Full sequential:</a:t>
            </a:r>
            <a:br>
              <a:rPr lang="en-US" dirty="0"/>
            </a:br>
            <a:r>
              <a:rPr lang="en-US" dirty="0"/>
              <a:t>- The second access pattern is a full sequential scan.</a:t>
            </a:r>
            <a:br>
              <a:rPr lang="en-US" dirty="0"/>
            </a:br>
            <a:r>
              <a:rPr lang="en-US" dirty="0"/>
              <a:t>- This represents reconstruction, reprocessing, or analysis pipelines.</a:t>
            </a:r>
            <a:br>
              <a:rPr lang="en-US" dirty="0"/>
            </a:br>
            <a:r>
              <a:rPr lang="en-US" dirty="0"/>
              <a:t>- Here the goal is to read the whole dataset efficiently.</a:t>
            </a:r>
            <a:br>
              <a:rPr lang="en-US" dirty="0"/>
            </a:br>
            <a:r>
              <a:rPr lang="en-US" dirty="0"/>
              <a:t>- This is a scan-time or throughput-first workload.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Why the conflict matters:</a:t>
            </a:r>
            <a:br>
              <a:rPr lang="en-US" dirty="0"/>
            </a:br>
            <a:r>
              <a:rPr lang="en-US" dirty="0"/>
              <a:t>- A layout optimized for one frame may not be optimal for full scans.</a:t>
            </a:r>
            <a:br>
              <a:rPr lang="en-US" dirty="0"/>
            </a:br>
            <a:r>
              <a:rPr lang="en-US" dirty="0"/>
              <a:t>- A layout that streams well may still have bad single-frame latency.</a:t>
            </a:r>
            <a:br>
              <a:rPr lang="en-US" dirty="0"/>
            </a:br>
            <a:r>
              <a:rPr lang="en-US" dirty="0"/>
              <a:t>- This is why I do not ask for one universal best format.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Thesis logic:</a:t>
            </a:r>
            <a:br>
              <a:rPr lang="en-US" dirty="0"/>
            </a:br>
            <a:r>
              <a:rPr lang="en-US" dirty="0"/>
              <a:t>- Instead, I compare backend + compression algorithm combinations against these two explicit workloads.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This leads to the research question.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Length</a:t>
            </a:r>
            <a:r>
              <a:rPr lang="en-US" dirty="0"/>
              <a:t> 1:10 </a:t>
            </a:r>
            <a:r>
              <a:rPr lang="en-US" b="1" dirty="0"/>
              <a:t>Finish by </a:t>
            </a:r>
            <a:r>
              <a:rPr lang="en-US" b="0" dirty="0"/>
              <a:t>5:15</a:t>
            </a:r>
          </a:p>
          <a:p>
            <a:r>
              <a:rPr lang="en-US" dirty="0"/>
              <a:t>Research question:</a:t>
            </a:r>
            <a:br>
              <a:rPr lang="en-US" dirty="0"/>
            </a:br>
            <a:r>
              <a:rPr lang="en-US" dirty="0"/>
              <a:t>- Research question: Which backend + codec combinations best support random single-frame reads and full sequential scans on AWS S3?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Define the two sides:</a:t>
            </a:r>
            <a:br>
              <a:rPr lang="en-US" dirty="0"/>
            </a:br>
            <a:r>
              <a:rPr lang="en-US" dirty="0"/>
              <a:t>- Random single-frame reads represent interactive inspection.</a:t>
            </a:r>
            <a:br>
              <a:rPr lang="en-US" dirty="0"/>
            </a:br>
            <a:r>
              <a:rPr lang="en-US" dirty="0"/>
              <a:t>- Full sequential scans represent end-to-end processing over the same logical dataset.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Explain backend + codec:</a:t>
            </a:r>
            <a:br>
              <a:rPr lang="en-US" dirty="0"/>
            </a:br>
            <a:r>
              <a:rPr lang="en-US" dirty="0"/>
              <a:t>- The backend is the storage layout and access implementation.</a:t>
            </a:r>
            <a:br>
              <a:rPr lang="en-US" dirty="0"/>
            </a:br>
            <a:r>
              <a:rPr lang="en-US" dirty="0"/>
              <a:t>- The codec is the compression choice: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gzip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- lz4,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Zstandard</a:t>
            </a:r>
            <a:r>
              <a:rPr lang="en-US" dirty="0"/>
              <a:t>, </a:t>
            </a:r>
            <a:r>
              <a:rPr lang="en-US" dirty="0" err="1"/>
              <a:t>zstd</a:t>
            </a:r>
            <a:r>
              <a:rPr lang="en-US" dirty="0"/>
              <a:t>.</a:t>
            </a:r>
          </a:p>
          <a:p>
            <a:r>
              <a:rPr lang="en-US" dirty="0"/>
              <a:t>- The combination matters because how layout and compression interacts.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Decision target:</a:t>
            </a:r>
            <a:br>
              <a:rPr lang="en-US" dirty="0"/>
            </a:br>
            <a:r>
              <a:rPr lang="en-US" dirty="0"/>
              <a:t>- The goal is to choose a storage + codec strategy for this bounded AWS/S3 setup.</a:t>
            </a:r>
            <a:br>
              <a:rPr lang="en-US" dirty="0"/>
            </a:br>
            <a:r>
              <a:rPr lang="en-US" dirty="0"/>
              <a:t>- So the output is a decision guide</a:t>
            </a:r>
          </a:p>
          <a:p>
            <a:br>
              <a:rPr lang="en-US" dirty="0"/>
            </a:br>
            <a:r>
              <a:rPr lang="en-US" dirty="0"/>
              <a:t>Scope boundary:</a:t>
            </a:r>
            <a:br>
              <a:rPr lang="en-US" dirty="0"/>
            </a:br>
            <a:r>
              <a:rPr lang="en-US" dirty="0"/>
              <a:t>- Scoped to AWS and no other cloud provider and focused on this dataset</a:t>
            </a:r>
          </a:p>
          <a:p>
            <a:endParaRPr lang="en-US" dirty="0"/>
          </a:p>
          <a:p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Next, we can go into detail why the four timed backends can behave differently even on the same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Length</a:t>
            </a:r>
            <a:r>
              <a:rPr lang="en-US" dirty="0"/>
              <a:t> 1:40, </a:t>
            </a:r>
            <a:r>
              <a:rPr lang="en-US" b="1" dirty="0"/>
              <a:t>Finish by</a:t>
            </a:r>
            <a:r>
              <a:rPr lang="en-US" dirty="0"/>
              <a:t> 6:55</a:t>
            </a:r>
          </a:p>
          <a:p>
            <a:endParaRPr lang="en-US" dirty="0"/>
          </a:p>
          <a:p>
            <a:r>
              <a:rPr lang="en-US" dirty="0"/>
              <a:t>Key idea:</a:t>
            </a:r>
            <a:br>
              <a:rPr lang="en-US" dirty="0"/>
            </a:br>
            <a:r>
              <a:rPr lang="en-US" dirty="0"/>
              <a:t>- The same logical detector stack is mapped to S3 in four different ways.</a:t>
            </a:r>
            <a:br>
              <a:rPr lang="en-US" dirty="0"/>
            </a:br>
            <a:r>
              <a:rPr lang="en-US" dirty="0"/>
              <a:t>- This physical layout controls: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objectization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- request pattern,</a:t>
            </a:r>
            <a:br>
              <a:rPr lang="en-US" dirty="0"/>
            </a:br>
            <a:r>
              <a:rPr lang="en-US" dirty="0"/>
              <a:t>- metadata behavior,</a:t>
            </a:r>
            <a:br>
              <a:rPr lang="en-US" dirty="0"/>
            </a:br>
            <a:r>
              <a:rPr lang="en-US" dirty="0"/>
              <a:t>- possible parallelism.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HDF5/HSDS:</a:t>
            </a:r>
            <a:br>
              <a:rPr lang="en-US" dirty="0"/>
            </a:br>
            <a:r>
              <a:rPr lang="en-US" dirty="0"/>
              <a:t>- HDF5 via HSDS layer which preservers the HDF5 data model.</a:t>
            </a:r>
            <a:br>
              <a:rPr lang="en-US" dirty="0"/>
            </a:br>
            <a:r>
              <a:rPr lang="en-US" dirty="0"/>
              <a:t>- But access goes through an HSDS service layer.</a:t>
            </a:r>
            <a:br>
              <a:rPr lang="en-US" dirty="0"/>
            </a:br>
            <a:r>
              <a:rPr lang="en-US" dirty="0"/>
              <a:t>- That gives compatibility.</a:t>
            </a:r>
            <a:br>
              <a:rPr lang="en-US" dirty="0"/>
            </a:br>
            <a:r>
              <a:rPr lang="en-US" dirty="0"/>
              <a:t>- But it can add REST and metadata overhead.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Zarr:</a:t>
            </a:r>
            <a:br>
              <a:rPr lang="en-US" dirty="0"/>
            </a:br>
            <a:r>
              <a:rPr lang="en-US" dirty="0"/>
              <a:t>- Zarr is a direct chunk-based object-store layout.</a:t>
            </a:r>
            <a:br>
              <a:rPr lang="en-US" dirty="0"/>
            </a:br>
            <a:r>
              <a:rPr lang="en-US" dirty="0"/>
              <a:t>- In this benchmark, chunks are frame-aligned.</a:t>
            </a:r>
            <a:br>
              <a:rPr lang="en-US" dirty="0"/>
            </a:br>
            <a:r>
              <a:rPr lang="en-US" dirty="0"/>
              <a:t>- So a single-frame read maps naturally to a chunk object.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TileDB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uses fragments and tiles.</a:t>
            </a:r>
            <a:br>
              <a:rPr lang="en-US" dirty="0"/>
            </a:br>
            <a:r>
              <a:rPr lang="en-US" dirty="0"/>
              <a:t>- This is different from pure chunk-per-object storage.</a:t>
            </a:r>
            <a:br>
              <a:rPr lang="en-US" dirty="0"/>
            </a:br>
            <a:r>
              <a:rPr lang="en-US" dirty="0"/>
              <a:t>- The fragment layout can support longer sequential reads.</a:t>
            </a:r>
            <a:br>
              <a:rPr lang="en-US" dirty="0"/>
            </a:br>
            <a:r>
              <a:rPr lang="en-US" dirty="0"/>
              <a:t>- That matters for full scans.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ROOT/</a:t>
            </a:r>
            <a:r>
              <a:rPr lang="en-US" dirty="0" err="1"/>
              <a:t>TTree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ROOT/</a:t>
            </a:r>
            <a:r>
              <a:rPr lang="en-US" dirty="0" err="1"/>
              <a:t>TTree</a:t>
            </a:r>
            <a:r>
              <a:rPr lang="en-US" dirty="0"/>
              <a:t> is the single-object contrast case.</a:t>
            </a:r>
            <a:br>
              <a:rPr lang="en-US" dirty="0"/>
            </a:br>
            <a:r>
              <a:rPr lang="en-US" dirty="0"/>
              <a:t>- It uses internal paging and range reads.</a:t>
            </a:r>
            <a:br>
              <a:rPr lang="en-US" dirty="0"/>
            </a:br>
            <a:r>
              <a:rPr lang="en-US" dirty="0"/>
              <a:t>- That can keep request count low.</a:t>
            </a:r>
            <a:br>
              <a:rPr lang="en-US" dirty="0"/>
            </a:br>
            <a:r>
              <a:rPr lang="en-US" dirty="0"/>
              <a:t>- But low request count does not automatically mean low latency.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Before showing results, I need to make clear what the benchmark did and did not claim.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sv-SE" b="1" dirty="0" err="1"/>
              <a:t>Length</a:t>
            </a:r>
            <a:r>
              <a:rPr lang="sv-SE" b="1" dirty="0"/>
              <a:t> </a:t>
            </a:r>
            <a:r>
              <a:rPr lang="en-US" dirty="0"/>
              <a:t>1:20 </a:t>
            </a:r>
            <a:r>
              <a:rPr lang="en-US" b="1" dirty="0"/>
              <a:t>Finish by</a:t>
            </a:r>
            <a:r>
              <a:rPr lang="en-US" dirty="0"/>
              <a:t> 8:15</a:t>
            </a:r>
          </a:p>
          <a:p>
            <a:endParaRPr lang="sv-SE" b="1" dirty="0"/>
          </a:p>
          <a:p>
            <a:r>
              <a:rPr lang="en-US" dirty="0"/>
              <a:t>Why this slide matters:</a:t>
            </a:r>
            <a:br>
              <a:rPr lang="en-US" dirty="0"/>
            </a:br>
            <a:r>
              <a:rPr lang="en-US" dirty="0"/>
              <a:t>- Cloud benchmarks can easily overclaim.</a:t>
            </a:r>
            <a:br>
              <a:rPr lang="en-US" dirty="0"/>
            </a:br>
            <a:r>
              <a:rPr lang="en-US" dirty="0"/>
              <a:t>- I deliberately bounded the study to make the comparison controlled.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Fixed:</a:t>
            </a:r>
            <a:br>
              <a:rPr lang="en-US" dirty="0"/>
            </a:br>
            <a:r>
              <a:rPr lang="en-US" dirty="0"/>
              <a:t>- One detector stack, not multiple datasets</a:t>
            </a:r>
            <a:br>
              <a:rPr lang="en-US" dirty="0"/>
            </a:br>
            <a:r>
              <a:rPr lang="en-US" dirty="0"/>
              <a:t>- One EC2 c6i.8xlarge client.</a:t>
            </a:r>
            <a:br>
              <a:rPr lang="en-US" dirty="0"/>
            </a:br>
            <a:r>
              <a:rPr lang="en-US" dirty="0"/>
              <a:t>- One AWS region: eu-north-1.</a:t>
            </a:r>
            <a:br>
              <a:rPr lang="en-US" dirty="0"/>
            </a:br>
            <a:r>
              <a:rPr lang="en-US" dirty="0"/>
              <a:t>- Same logical payload across the timed backends.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Varied:</a:t>
            </a:r>
            <a:br>
              <a:rPr lang="en-US" dirty="0"/>
            </a:br>
            <a:r>
              <a:rPr lang="en-US" dirty="0"/>
              <a:t>- 4 different Backend.</a:t>
            </a:r>
            <a:br>
              <a:rPr lang="en-US" dirty="0"/>
            </a:br>
            <a:r>
              <a:rPr lang="en-US" dirty="0"/>
              <a:t>- 3 different Codec.</a:t>
            </a:r>
            <a:br>
              <a:rPr lang="en-US" dirty="0"/>
            </a:br>
            <a:r>
              <a:rPr lang="en-US" dirty="0"/>
              <a:t>- 2 different Workload.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 claimed:</a:t>
            </a:r>
            <a:br>
              <a:rPr lang="en-US" dirty="0"/>
            </a:br>
            <a:r>
              <a:rPr lang="en-US" dirty="0"/>
              <a:t>- Not all clouds.</a:t>
            </a:r>
            <a:br>
              <a:rPr lang="en-US" dirty="0"/>
            </a:br>
            <a:r>
              <a:rPr lang="en-US" dirty="0"/>
              <a:t>- Not all datasets.</a:t>
            </a:r>
            <a:br>
              <a:rPr lang="en-US" dirty="0"/>
            </a:br>
            <a:r>
              <a:rPr lang="en-US" dirty="0"/>
              <a:t>- Not all client patterns.</a:t>
            </a:r>
            <a:br>
              <a:rPr lang="en-US" dirty="0"/>
            </a:br>
            <a:r>
              <a:rPr lang="en-US" dirty="0"/>
              <a:t>- Cold-start and multi-client behavior are outside scope.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CloudWatch boundary:</a:t>
            </a:r>
            <a:br>
              <a:rPr lang="en-US" dirty="0"/>
            </a:br>
            <a:r>
              <a:rPr lang="en-US" dirty="0"/>
              <a:t>- CloudWatch request metrics are used as context.</a:t>
            </a:r>
            <a:br>
              <a:rPr lang="en-US" dirty="0"/>
            </a:br>
            <a:r>
              <a:rPr lang="en-US" dirty="0"/>
              <a:t>- They help explain request behavior.</a:t>
            </a:r>
            <a:br>
              <a:rPr lang="en-US" dirty="0"/>
            </a:br>
            <a:r>
              <a:rPr lang="en-US" dirty="0"/>
              <a:t>- They are not treated as causal proof.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The next slide shows the actual metrics used to evaluate each cell.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sv-SE" b="1" dirty="0" err="1"/>
              <a:t>Length</a:t>
            </a:r>
            <a:r>
              <a:rPr lang="sv-SE" b="1" dirty="0"/>
              <a:t> </a:t>
            </a:r>
            <a:r>
              <a:rPr lang="en-US" dirty="0"/>
              <a:t>1:55 </a:t>
            </a:r>
            <a:r>
              <a:rPr lang="en-US" b="1" dirty="0"/>
              <a:t>Finish by </a:t>
            </a:r>
            <a:r>
              <a:rPr lang="en-US" b="0" dirty="0"/>
              <a:t>10:10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Experiment matrix:</a:t>
            </a:r>
            <a:br>
              <a:rPr lang="en-US" dirty="0"/>
            </a:br>
            <a:r>
              <a:rPr lang="en-US" dirty="0"/>
              <a:t>- There are 4 timed backends.</a:t>
            </a:r>
            <a:br>
              <a:rPr lang="en-US" dirty="0"/>
            </a:br>
            <a:r>
              <a:rPr lang="en-US" dirty="0"/>
              <a:t>- There are 3 codecs.</a:t>
            </a:r>
            <a:br>
              <a:rPr lang="en-US" dirty="0"/>
            </a:br>
            <a:r>
              <a:rPr lang="en-US" dirty="0"/>
              <a:t>- There are 2 workloads.</a:t>
            </a:r>
            <a:br>
              <a:rPr lang="en-US" dirty="0"/>
            </a:br>
            <a:r>
              <a:rPr lang="en-US" dirty="0"/>
              <a:t>- That gives 24 cells.</a:t>
            </a:r>
            <a:br>
              <a:rPr lang="en-US" dirty="0"/>
            </a:br>
            <a:r>
              <a:rPr lang="en-US" dirty="0"/>
              <a:t>- Each cell is run 50 times</a:t>
            </a:r>
          </a:p>
          <a:p>
            <a:r>
              <a:rPr lang="en-US" dirty="0"/>
              <a:t>- Warm-ups are excluded.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Timing scope:</a:t>
            </a:r>
            <a:br>
              <a:rPr lang="en-US" dirty="0"/>
            </a:br>
            <a:r>
              <a:rPr lang="en-US" dirty="0"/>
              <a:t>- The timing is captured on the client side</a:t>
            </a:r>
          </a:p>
          <a:p>
            <a:r>
              <a:rPr lang="en-US" dirty="0"/>
              <a:t>- It includes:</a:t>
            </a:r>
            <a:br>
              <a:rPr lang="en-US" dirty="0"/>
            </a:br>
            <a:r>
              <a:rPr lang="en-US" dirty="0"/>
              <a:t>- network transfer,</a:t>
            </a:r>
            <a:br>
              <a:rPr lang="en-US" dirty="0"/>
            </a:br>
            <a:r>
              <a:rPr lang="en-US" dirty="0"/>
              <a:t>- decompression,</a:t>
            </a:r>
            <a:br>
              <a:rPr lang="en-US" dirty="0"/>
            </a:br>
            <a:r>
              <a:rPr lang="en-US" dirty="0"/>
              <a:t>- client decode.</a:t>
            </a:r>
            <a:br>
              <a:rPr lang="en-US" dirty="0"/>
            </a:br>
            <a:r>
              <a:rPr lang="en-US" dirty="0"/>
              <a:t>- That is the performance a user or pipeline experiences.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GM slice latency:</a:t>
            </a:r>
            <a:br>
              <a:rPr lang="en-US" dirty="0"/>
            </a:br>
            <a:r>
              <a:rPr lang="en-US" dirty="0"/>
              <a:t>- For random single-frame reads, we report Geometric Mean slice latency.</a:t>
            </a:r>
            <a:br>
              <a:rPr lang="en-US" dirty="0"/>
            </a:br>
            <a:r>
              <a:rPr lang="en-US" dirty="0"/>
              <a:t>- Geometric Mean is used because timing data is positive, skewed, and ratio-based.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GM full-scan time:</a:t>
            </a:r>
            <a:br>
              <a:rPr lang="en-US" dirty="0"/>
            </a:br>
            <a:r>
              <a:rPr lang="en-US" dirty="0"/>
              <a:t>- For full scans, I report Geometric Mean to capture end to end time.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p95:</a:t>
            </a:r>
            <a:br>
              <a:rPr lang="en-US" dirty="0"/>
            </a:br>
            <a:r>
              <a:rPr lang="en-US" dirty="0"/>
              <a:t>- p95 captures tail behavior.</a:t>
            </a:r>
            <a:br>
              <a:rPr lang="en-US" dirty="0"/>
            </a:br>
            <a:r>
              <a:rPr lang="en-US" dirty="0"/>
              <a:t>- This matters because interactive users feel slow tail requests.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Statistical caution:</a:t>
            </a:r>
            <a:br>
              <a:rPr lang="en-US" dirty="0"/>
            </a:br>
            <a:r>
              <a:rPr lang="en-US" dirty="0"/>
              <a:t>- Repeated runs inside one cloud session are not fully independent, so I use moving-block bootstrap</a:t>
            </a:r>
          </a:p>
          <a:p>
            <a:r>
              <a:rPr lang="en-US" dirty="0"/>
              <a:t>- I also used log-scale analysis and dependence-robust intervals.</a:t>
            </a:r>
          </a:p>
          <a:p>
            <a:r>
              <a:rPr lang="en-US" dirty="0"/>
              <a:t>- I also checked medians and p95 sensitivity, including Harrell–Davis, as robustness checks.</a:t>
            </a:r>
          </a:p>
          <a:p>
            <a:r>
              <a:rPr lang="en-US" dirty="0"/>
              <a:t>- Cross-format contrasts remain descriptive and session-conditional.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Codec implementation caution:</a:t>
            </a:r>
            <a:br>
              <a:rPr lang="en-US" dirty="0"/>
            </a:br>
            <a:r>
              <a:rPr lang="en-US" dirty="0"/>
              <a:t>- compression algorithms labels are aligned.</a:t>
            </a:r>
            <a:br>
              <a:rPr lang="en-US" dirty="0"/>
            </a:br>
            <a:r>
              <a:rPr lang="en-US" dirty="0"/>
              <a:t>- But implementations remain backend-specific.</a:t>
            </a:r>
            <a:br>
              <a:rPr lang="en-US" dirty="0"/>
            </a:br>
            <a:r>
              <a:rPr lang="en-US" dirty="0"/>
              <a:t>- So this is an implementation-level backend + codec benchmark.</a:t>
            </a:r>
            <a:br>
              <a:rPr lang="en-US" dirty="0"/>
            </a:br>
            <a:r>
              <a:rPr lang="en-US" dirty="0"/>
              <a:t>- It is not a pure codec-kernel benchmark.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With that method defined, I can now show the main result mapping.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sv-SE" b="1" dirty="0" err="1"/>
              <a:t>Length</a:t>
            </a:r>
            <a:r>
              <a:rPr lang="sv-SE" dirty="0"/>
              <a:t> </a:t>
            </a:r>
            <a:r>
              <a:rPr lang="en-US" dirty="0"/>
              <a:t>0:50 </a:t>
            </a:r>
            <a:r>
              <a:rPr lang="en-US" b="1" dirty="0"/>
              <a:t>Finish by </a:t>
            </a:r>
            <a:r>
              <a:rPr lang="en-US" b="0" dirty="0"/>
              <a:t>11.00</a:t>
            </a:r>
          </a:p>
          <a:p>
            <a:endParaRPr lang="sv-SE" dirty="0"/>
          </a:p>
          <a:p>
            <a:r>
              <a:rPr lang="en-US" dirty="0"/>
              <a:t>Result map:</a:t>
            </a:r>
            <a:br>
              <a:rPr lang="en-US" dirty="0"/>
            </a:br>
            <a:r>
              <a:rPr lang="en-US" dirty="0"/>
              <a:t>- This is the main result in compact form.</a:t>
            </a:r>
            <a:br>
              <a:rPr lang="en-US" dirty="0"/>
            </a:br>
            <a:r>
              <a:rPr lang="en-US" dirty="0"/>
              <a:t>- Each cell shows the best-performing backend for that workload and codec.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Random single-frame reads: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wins with </a:t>
            </a:r>
            <a:r>
              <a:rPr lang="en-US" dirty="0" err="1"/>
              <a:t>gzip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- Zarr wins with lz4.</a:t>
            </a:r>
            <a:br>
              <a:rPr lang="en-US" dirty="0"/>
            </a:br>
            <a:r>
              <a:rPr lang="en-US" dirty="0"/>
              <a:t>- Zarr wins with </a:t>
            </a:r>
            <a:r>
              <a:rPr lang="en-US" dirty="0" err="1"/>
              <a:t>Zstandard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Full sequential scans: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wins all of them</a:t>
            </a:r>
          </a:p>
          <a:p>
            <a:r>
              <a:rPr lang="en-US" dirty="0"/>
              <a:t>- This is the strongest pattern in the benchmark.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Interpretation:</a:t>
            </a:r>
            <a:br>
              <a:rPr lang="en-US" dirty="0"/>
            </a:br>
            <a:r>
              <a:rPr lang="en-US" dirty="0"/>
              <a:t>- This does not mean one backend is universally best.</a:t>
            </a:r>
            <a:br>
              <a:rPr lang="en-US" dirty="0"/>
            </a:br>
            <a:r>
              <a:rPr lang="en-US" dirty="0"/>
              <a:t>- It means the best choice depends on workload.</a:t>
            </a:r>
            <a:br>
              <a:rPr lang="en-US" dirty="0"/>
            </a:br>
            <a:r>
              <a:rPr lang="en-US" dirty="0"/>
              <a:t>- Zarr is the stronger interactive-read choice.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is the stronger full-scan setup.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I will now unpack the two rows of this matrix, starting with random single-frame reads.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sv-SE" b="1" dirty="0" err="1"/>
              <a:t>Length</a:t>
            </a:r>
            <a:r>
              <a:rPr lang="sv-SE" b="1" dirty="0"/>
              <a:t> </a:t>
            </a:r>
            <a:r>
              <a:rPr lang="en-US" b="0" dirty="0"/>
              <a:t>1:50 </a:t>
            </a:r>
            <a:r>
              <a:rPr lang="en-US" b="1" dirty="0"/>
              <a:t>Finish by </a:t>
            </a:r>
            <a:r>
              <a:rPr lang="en-US" b="0" dirty="0"/>
              <a:t>12:50</a:t>
            </a:r>
          </a:p>
          <a:p>
            <a:endParaRPr lang="sv-SE" b="1" dirty="0"/>
          </a:p>
          <a:p>
            <a:r>
              <a:rPr lang="en-US" dirty="0"/>
              <a:t>Chart explanation:</a:t>
            </a:r>
            <a:br>
              <a:rPr lang="en-US" dirty="0"/>
            </a:br>
            <a:r>
              <a:rPr lang="en-US" dirty="0"/>
              <a:t>- These bars show Geometric Mean latency in milliseconds.</a:t>
            </a:r>
            <a:br>
              <a:rPr lang="en-US" dirty="0"/>
            </a:br>
            <a:r>
              <a:rPr lang="en-US" dirty="0"/>
              <a:t>- Lower is better.</a:t>
            </a:r>
            <a:br>
              <a:rPr lang="en-US" dirty="0"/>
            </a:br>
            <a:r>
              <a:rPr lang="en-US" dirty="0"/>
              <a:t>- The workload is reading one randomly selected frame out of the 1296 frames.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gzip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gzip</a:t>
            </a:r>
            <a:r>
              <a:rPr lang="en-US" dirty="0"/>
              <a:t> is the exception.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is fastest at about 195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Zarr is second at about 229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HDF5/HSDS is about 241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ROOT/</a:t>
            </a:r>
            <a:r>
              <a:rPr lang="en-US" dirty="0" err="1"/>
              <a:t>TTree</a:t>
            </a:r>
            <a:r>
              <a:rPr lang="en-US" dirty="0"/>
              <a:t> is slowest at about 406 </a:t>
            </a:r>
            <a:r>
              <a:rPr lang="en-US" dirty="0" err="1"/>
              <a:t>ms.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lz4:</a:t>
            </a:r>
            <a:br>
              <a:rPr lang="en-US" dirty="0"/>
            </a:br>
            <a:r>
              <a:rPr lang="en-US" dirty="0"/>
              <a:t>- With lz4, Zarr wins on Geometric Mean latency at about 176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is about 214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HDF5/HSDS is about 222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ROOT/</a:t>
            </a:r>
            <a:r>
              <a:rPr lang="en-US" dirty="0" err="1"/>
              <a:t>TTree</a:t>
            </a:r>
            <a:r>
              <a:rPr lang="en-US" dirty="0"/>
              <a:t> is again slowest at about 328 </a:t>
            </a:r>
            <a:r>
              <a:rPr lang="en-US" dirty="0" err="1"/>
              <a:t>ms.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zstd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With </a:t>
            </a:r>
            <a:r>
              <a:rPr lang="en-US" dirty="0" err="1"/>
              <a:t>Zstandard</a:t>
            </a:r>
            <a:r>
              <a:rPr lang="en-US" dirty="0"/>
              <a:t>, Zarr is fastest overall at about 155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is second at about 177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HDF5/HSDS is about 210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ROOT/</a:t>
            </a:r>
            <a:r>
              <a:rPr lang="en-US" dirty="0" err="1"/>
              <a:t>TTree</a:t>
            </a:r>
            <a:r>
              <a:rPr lang="en-US" dirty="0"/>
              <a:t> is about 269 </a:t>
            </a:r>
            <a:r>
              <a:rPr lang="en-US" dirty="0" err="1"/>
              <a:t>ms.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Main interpretation:</a:t>
            </a:r>
            <a:br>
              <a:rPr lang="en-US" dirty="0"/>
            </a:br>
            <a:r>
              <a:rPr lang="en-US" dirty="0"/>
              <a:t>- The best overall slice choice is Zarr + </a:t>
            </a:r>
            <a:r>
              <a:rPr lang="en-US" dirty="0" err="1"/>
              <a:t>Zstandard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+ </a:t>
            </a:r>
            <a:r>
              <a:rPr lang="en-US" dirty="0" err="1"/>
              <a:t>gzip</a:t>
            </a:r>
            <a:r>
              <a:rPr lang="en-US" dirty="0"/>
              <a:t> is the important exception.</a:t>
            </a:r>
          </a:p>
          <a:p>
            <a:r>
              <a:rPr lang="en-US" dirty="0"/>
              <a:t>- HDF5 via HSDS comes in third</a:t>
            </a:r>
            <a:br>
              <a:rPr lang="en-US" dirty="0"/>
            </a:br>
            <a:r>
              <a:rPr lang="en-US" dirty="0"/>
              <a:t>- ROOT/</a:t>
            </a:r>
            <a:r>
              <a:rPr lang="en-US" dirty="0" err="1"/>
              <a:t>TTree</a:t>
            </a:r>
            <a:r>
              <a:rPr lang="en-US" dirty="0"/>
              <a:t> is consistently poor for frame-random reads.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The scan workload has a different winner.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Length </a:t>
            </a:r>
            <a:r>
              <a:rPr lang="en-US" b="0" dirty="0"/>
              <a:t>1:40</a:t>
            </a:r>
            <a:r>
              <a:rPr lang="en-US" dirty="0"/>
              <a:t> </a:t>
            </a:r>
            <a:r>
              <a:rPr lang="en-US" b="1" dirty="0"/>
              <a:t>Finish by </a:t>
            </a:r>
            <a:r>
              <a:rPr lang="en-US" dirty="0"/>
              <a:t>14:30</a:t>
            </a:r>
          </a:p>
          <a:p>
            <a:endParaRPr lang="en-US" dirty="0"/>
          </a:p>
          <a:p>
            <a:r>
              <a:rPr lang="en-US" dirty="0"/>
              <a:t>Chart explanation:</a:t>
            </a:r>
            <a:br>
              <a:rPr lang="en-US" dirty="0"/>
            </a:br>
            <a:r>
              <a:rPr lang="en-US" dirty="0"/>
              <a:t>- These bars show Geometric Mean scan time in seconds.</a:t>
            </a:r>
            <a:br>
              <a:rPr lang="en-US" dirty="0"/>
            </a:br>
            <a:r>
              <a:rPr lang="en-US" dirty="0"/>
              <a:t>- Lower is better.</a:t>
            </a:r>
            <a:br>
              <a:rPr lang="en-US" dirty="0"/>
            </a:br>
            <a:r>
              <a:rPr lang="en-US" dirty="0"/>
              <a:t>- Every backend scans the same logical dataset.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Main pattern: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wins every codec.</a:t>
            </a:r>
            <a:br>
              <a:rPr lang="en-US" dirty="0"/>
            </a:br>
            <a:r>
              <a:rPr lang="en-US" dirty="0"/>
              <a:t>- Zarr is consistently second.</a:t>
            </a:r>
            <a:br>
              <a:rPr lang="en-US" dirty="0"/>
            </a:br>
            <a:r>
              <a:rPr lang="en-US" dirty="0"/>
              <a:t>- HDF5 via HSDS and ROOT/</a:t>
            </a:r>
            <a:r>
              <a:rPr lang="en-US" dirty="0" err="1"/>
              <a:t>TTree</a:t>
            </a:r>
            <a:r>
              <a:rPr lang="en-US" dirty="0"/>
              <a:t> are far behind.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gzip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Under </a:t>
            </a:r>
            <a:r>
              <a:rPr lang="en-US" dirty="0" err="1"/>
              <a:t>gzip</a:t>
            </a:r>
            <a:r>
              <a:rPr lang="en-US" dirty="0"/>
              <a:t>, </a:t>
            </a:r>
            <a:r>
              <a:rPr lang="en-US" dirty="0" err="1"/>
              <a:t>TileDB</a:t>
            </a:r>
            <a:r>
              <a:rPr lang="en-US" dirty="0"/>
              <a:t> scans in about 11.3 seconds.</a:t>
            </a:r>
            <a:br>
              <a:rPr lang="en-US" dirty="0"/>
            </a:br>
            <a:r>
              <a:rPr lang="en-US" dirty="0"/>
              <a:t>- Zarr takes about 35.6 seconds.</a:t>
            </a:r>
            <a:br>
              <a:rPr lang="en-US" dirty="0"/>
            </a:br>
            <a:r>
              <a:rPr lang="en-US" dirty="0"/>
              <a:t>- That makes </a:t>
            </a:r>
            <a:r>
              <a:rPr lang="en-US" dirty="0" err="1"/>
              <a:t>TileDB</a:t>
            </a:r>
            <a:r>
              <a:rPr lang="en-US" dirty="0"/>
              <a:t> about 3.2x faster than Zarr.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lz4:</a:t>
            </a:r>
            <a:br>
              <a:rPr lang="en-US" dirty="0"/>
            </a:br>
            <a:r>
              <a:rPr lang="en-US" dirty="0"/>
              <a:t>- Under lz4, </a:t>
            </a:r>
            <a:r>
              <a:rPr lang="en-US" dirty="0" err="1"/>
              <a:t>TileDB</a:t>
            </a:r>
            <a:r>
              <a:rPr lang="en-US" dirty="0"/>
              <a:t> scans in about 13.6 seconds.</a:t>
            </a:r>
            <a:br>
              <a:rPr lang="en-US" dirty="0"/>
            </a:br>
            <a:r>
              <a:rPr lang="en-US" dirty="0"/>
              <a:t>- Zarr takes about 29.5 seconds.</a:t>
            </a:r>
            <a:br>
              <a:rPr lang="en-US" dirty="0"/>
            </a:br>
            <a:r>
              <a:rPr lang="en-US" dirty="0"/>
              <a:t>- That is about 2.2x faster.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zstd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Under </a:t>
            </a:r>
            <a:r>
              <a:rPr lang="en-US" dirty="0" err="1"/>
              <a:t>Zstandard</a:t>
            </a:r>
            <a:r>
              <a:rPr lang="en-US" dirty="0"/>
              <a:t>, </a:t>
            </a:r>
            <a:r>
              <a:rPr lang="en-US" dirty="0" err="1"/>
              <a:t>TileDB</a:t>
            </a:r>
            <a:r>
              <a:rPr lang="en-US" dirty="0"/>
              <a:t> has the best scan time: about 10.4 seconds.</a:t>
            </a:r>
            <a:br>
              <a:rPr lang="en-US" dirty="0"/>
            </a:br>
            <a:r>
              <a:rPr lang="en-US" dirty="0"/>
              <a:t>- Zarr takes about 30.4 seconds.</a:t>
            </a:r>
            <a:br>
              <a:rPr lang="en-US" dirty="0"/>
            </a:br>
            <a:r>
              <a:rPr lang="en-US" dirty="0"/>
              <a:t>- That is about 2.9x faster.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Main interpretation:</a:t>
            </a:r>
            <a:br>
              <a:rPr lang="en-US" dirty="0"/>
            </a:br>
            <a:r>
              <a:rPr lang="en-US" dirty="0"/>
              <a:t>- For full scans, the default recommendation is </a:t>
            </a:r>
            <a:r>
              <a:rPr lang="en-US" dirty="0" err="1"/>
              <a:t>TileDB</a:t>
            </a:r>
            <a:r>
              <a:rPr lang="en-US" dirty="0"/>
              <a:t> + </a:t>
            </a:r>
            <a:r>
              <a:rPr lang="en-US" dirty="0" err="1"/>
              <a:t>Zstandard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+ lz4 can be considered if throughput or CPU pressure dominates and the larger storage footprint is acceptable.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For interactive access, however, the center metric is not enough; tail latency also matters.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Length</a:t>
            </a:r>
            <a:r>
              <a:rPr lang="en-US" dirty="0"/>
              <a:t> 1:30 </a:t>
            </a:r>
            <a:r>
              <a:rPr lang="en-US" b="1" dirty="0"/>
              <a:t>Finish by </a:t>
            </a:r>
            <a:r>
              <a:rPr lang="en-US" dirty="0"/>
              <a:t>16:00</a:t>
            </a:r>
          </a:p>
          <a:p>
            <a:endParaRPr lang="en-US" dirty="0"/>
          </a:p>
          <a:p>
            <a:r>
              <a:rPr lang="en-US" dirty="0"/>
              <a:t>Why p95 matters:</a:t>
            </a:r>
            <a:br>
              <a:rPr lang="en-US" dirty="0"/>
            </a:br>
            <a:r>
              <a:rPr lang="en-US" dirty="0"/>
              <a:t>- This slide looks at both Geometric Mean and p95.</a:t>
            </a:r>
            <a:br>
              <a:rPr lang="en-US" dirty="0"/>
            </a:br>
            <a:r>
              <a:rPr lang="en-US" dirty="0"/>
              <a:t>- Where Geometric Mean shows typical latency.</a:t>
            </a:r>
            <a:br>
              <a:rPr lang="en-US" dirty="0"/>
            </a:br>
            <a:r>
              <a:rPr lang="en-US" dirty="0"/>
              <a:t>- p95 shows slow-tail behavior.</a:t>
            </a:r>
            <a:br>
              <a:rPr lang="en-US" dirty="0"/>
            </a:br>
            <a:r>
              <a:rPr lang="en-US" dirty="0"/>
              <a:t>- For interactive users, p95 matters because occasional slow reads are visible and does give the user pain point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Subset shown:</a:t>
            </a:r>
            <a:br>
              <a:rPr lang="en-US" dirty="0"/>
            </a:br>
            <a:r>
              <a:rPr lang="en-US" dirty="0"/>
              <a:t>- This focuses on the main slice candidates: Zarr and </a:t>
            </a:r>
            <a:r>
              <a:rPr lang="en-US" dirty="0" err="1"/>
              <a:t>TileDB</a:t>
            </a:r>
            <a:r>
              <a:rPr lang="en-US" dirty="0"/>
              <a:t> under </a:t>
            </a:r>
            <a:r>
              <a:rPr lang="en-US" dirty="0" err="1"/>
              <a:t>Zstandard</a:t>
            </a:r>
            <a:r>
              <a:rPr lang="en-US" dirty="0"/>
              <a:t> and lz4.</a:t>
            </a:r>
          </a:p>
          <a:p>
            <a:br>
              <a:rPr lang="en-US" dirty="0"/>
            </a:br>
            <a:r>
              <a:rPr lang="en-US" dirty="0" err="1"/>
              <a:t>zstd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Zarr + </a:t>
            </a:r>
            <a:r>
              <a:rPr lang="en-US" dirty="0" err="1"/>
              <a:t>Zstandard</a:t>
            </a:r>
            <a:r>
              <a:rPr lang="en-US" dirty="0"/>
              <a:t> has Geometric Mean about 155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Its p95 is about 195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That supports Zarr + </a:t>
            </a:r>
            <a:r>
              <a:rPr lang="en-US" dirty="0" err="1"/>
              <a:t>Zstandard</a:t>
            </a:r>
            <a:r>
              <a:rPr lang="en-US" dirty="0"/>
              <a:t> as the safest default for random single-frame reads.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lz4:</a:t>
            </a:r>
            <a:br>
              <a:rPr lang="en-US" dirty="0"/>
            </a:br>
            <a:r>
              <a:rPr lang="en-US" dirty="0"/>
              <a:t>- Zarr + lz4 has the best Geometric Mean among lz4 slices: about 176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But its p95 is about 349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+ lz4 has higher Geometric Mean, about 214 </a:t>
            </a:r>
            <a:r>
              <a:rPr lang="en-US" dirty="0" err="1"/>
              <a:t>ms.</a:t>
            </a:r>
            <a:br>
              <a:rPr lang="en-US" dirty="0"/>
            </a:br>
            <a:r>
              <a:rPr lang="en-US" dirty="0"/>
              <a:t>- But </a:t>
            </a:r>
            <a:r>
              <a:rPr lang="en-US" dirty="0" err="1"/>
              <a:t>TileDB</a:t>
            </a:r>
            <a:r>
              <a:rPr lang="en-US" dirty="0"/>
              <a:t> + lz4 has lower p95, about 274 </a:t>
            </a:r>
            <a:r>
              <a:rPr lang="en-US" dirty="0" err="1"/>
              <a:t>ms.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Interpretation:</a:t>
            </a:r>
            <a:br>
              <a:rPr lang="en-US" dirty="0"/>
            </a:br>
            <a:r>
              <a:rPr lang="en-US" dirty="0"/>
              <a:t>- Zarr + lz4 is fast on typical latency.</a:t>
            </a:r>
            <a:br>
              <a:rPr lang="en-US" dirty="0"/>
            </a:br>
            <a:r>
              <a:rPr lang="en-US" dirty="0"/>
              <a:t>- But it is a caution if tail latency matters.</a:t>
            </a:r>
            <a:br>
              <a:rPr lang="en-US" dirty="0"/>
            </a:br>
            <a:r>
              <a:rPr lang="en-US" dirty="0"/>
              <a:t>- This is why </a:t>
            </a:r>
            <a:r>
              <a:rPr lang="en-US" dirty="0" err="1"/>
              <a:t>Zstandard</a:t>
            </a:r>
            <a:r>
              <a:rPr lang="en-US" dirty="0"/>
              <a:t> is the better default slice recommendation.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The next part explains why request count alone does not explain the results.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Length</a:t>
            </a:r>
            <a:r>
              <a:rPr lang="en-US" dirty="0"/>
              <a:t> 1:30 </a:t>
            </a:r>
            <a:r>
              <a:rPr lang="en-US" b="1" dirty="0"/>
              <a:t>Finish by </a:t>
            </a:r>
            <a:r>
              <a:rPr lang="en-US" dirty="0"/>
              <a:t>17:30</a:t>
            </a:r>
          </a:p>
          <a:p>
            <a:endParaRPr lang="en-US" dirty="0"/>
          </a:p>
          <a:p>
            <a:r>
              <a:rPr lang="en-US" dirty="0"/>
              <a:t>Plot explanation:</a:t>
            </a:r>
            <a:br>
              <a:rPr lang="en-US" dirty="0"/>
            </a:br>
            <a:r>
              <a:rPr lang="en-US" dirty="0"/>
              <a:t>- The x-axis is GETs per </a:t>
            </a:r>
            <a:r>
              <a:rPr lang="en-US" dirty="0" err="1"/>
              <a:t>GiB.</a:t>
            </a:r>
            <a:br>
              <a:rPr lang="en-US" dirty="0"/>
            </a:br>
            <a:r>
              <a:rPr lang="en-US" dirty="0"/>
              <a:t>- The y-axis is Geometric Mean slice latency.</a:t>
            </a:r>
            <a:br>
              <a:rPr lang="en-US" dirty="0"/>
            </a:br>
            <a:r>
              <a:rPr lang="en-US" dirty="0"/>
              <a:t>- Each point is a backend + compression algorithm.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Main mechanism:</a:t>
            </a:r>
            <a:br>
              <a:rPr lang="en-US" dirty="0"/>
            </a:br>
            <a:r>
              <a:rPr lang="en-US" dirty="0"/>
              <a:t>- GET intensity helps explain performance.</a:t>
            </a:r>
            <a:br>
              <a:rPr lang="en-US" dirty="0"/>
            </a:br>
            <a:r>
              <a:rPr lang="en-US" dirty="0"/>
              <a:t>- But it is not sufficient.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ROOT/</a:t>
            </a:r>
            <a:r>
              <a:rPr lang="en-US" dirty="0" err="1"/>
              <a:t>TTree</a:t>
            </a:r>
            <a:r>
              <a:rPr lang="en-US" dirty="0"/>
              <a:t> counterexample:</a:t>
            </a:r>
            <a:br>
              <a:rPr lang="en-US" dirty="0"/>
            </a:br>
            <a:r>
              <a:rPr lang="en-US" dirty="0"/>
              <a:t>- ROOT/</a:t>
            </a:r>
            <a:r>
              <a:rPr lang="en-US" dirty="0" err="1"/>
              <a:t>TTree</a:t>
            </a:r>
            <a:r>
              <a:rPr lang="en-US" dirty="0"/>
              <a:t> is the counterexample.</a:t>
            </a:r>
            <a:br>
              <a:rPr lang="en-US" dirty="0"/>
            </a:br>
            <a:r>
              <a:rPr lang="en-US" dirty="0"/>
              <a:t>- It has few GETs/GiB because it is a single-object layout.</a:t>
            </a:r>
            <a:br>
              <a:rPr lang="en-US" dirty="0"/>
            </a:br>
            <a:r>
              <a:rPr lang="en-US" dirty="0"/>
              <a:t>- But it still has poor single-frame latency.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Why:</a:t>
            </a:r>
            <a:br>
              <a:rPr lang="en-US" dirty="0"/>
            </a:br>
            <a:r>
              <a:rPr lang="en-US" dirty="0"/>
              <a:t>- The missing factors are:</a:t>
            </a:r>
            <a:br>
              <a:rPr lang="en-US" dirty="0"/>
            </a:br>
            <a:r>
              <a:rPr lang="en-US" dirty="0"/>
              <a:t>- layout,</a:t>
            </a:r>
            <a:br>
              <a:rPr lang="en-US" dirty="0"/>
            </a:br>
            <a:r>
              <a:rPr lang="en-US" dirty="0"/>
              <a:t>- object size,</a:t>
            </a:r>
            <a:br>
              <a:rPr lang="en-US" dirty="0"/>
            </a:br>
            <a:r>
              <a:rPr lang="en-US" dirty="0"/>
              <a:t>- paging,</a:t>
            </a:r>
            <a:br>
              <a:rPr lang="en-US" dirty="0"/>
            </a:br>
            <a:r>
              <a:rPr lang="en-US" dirty="0"/>
              <a:t>- range-read behavior,</a:t>
            </a:r>
            <a:br>
              <a:rPr lang="en-US" dirty="0"/>
            </a:br>
            <a:r>
              <a:rPr lang="en-US" dirty="0"/>
              <a:t>- parallelism,</a:t>
            </a:r>
            <a:br>
              <a:rPr lang="en-US" dirty="0"/>
            </a:br>
            <a:r>
              <a:rPr lang="en-US" dirty="0"/>
              <a:t>- decode path.</a:t>
            </a:r>
            <a:br>
              <a:rPr lang="en-US" dirty="0"/>
            </a:br>
            <a:r>
              <a:rPr lang="en-US" dirty="0"/>
              <a:t>- ROOT/</a:t>
            </a:r>
            <a:r>
              <a:rPr lang="en-US" dirty="0" err="1"/>
              <a:t>TTree</a:t>
            </a:r>
            <a:r>
              <a:rPr lang="en-US" dirty="0"/>
              <a:t> minimizes request count.</a:t>
            </a:r>
            <a:br>
              <a:rPr lang="en-US" dirty="0"/>
            </a:br>
            <a:r>
              <a:rPr lang="en-US" dirty="0"/>
              <a:t>- But it still pays for internal paging and decode.</a:t>
            </a:r>
            <a:br>
              <a:rPr lang="en-US" dirty="0"/>
            </a:br>
            <a:r>
              <a:rPr lang="en-US" dirty="0"/>
              <a:t>- Zarr and </a:t>
            </a:r>
            <a:r>
              <a:rPr lang="en-US" dirty="0" err="1"/>
              <a:t>TileDB</a:t>
            </a:r>
            <a:r>
              <a:rPr lang="en-US" dirty="0"/>
              <a:t> expose more useful access units for these workloads.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CloudWatch caveat:</a:t>
            </a:r>
            <a:br>
              <a:rPr lang="en-US" dirty="0"/>
            </a:br>
            <a:r>
              <a:rPr lang="en-US" dirty="0"/>
              <a:t>- CloudWatch request counts support these interpretation.</a:t>
            </a:r>
            <a:br>
              <a:rPr lang="en-US" dirty="0"/>
            </a:br>
            <a:r>
              <a:rPr lang="en-US" dirty="0"/>
              <a:t>- But they are context, not causal proof.</a:t>
            </a:r>
            <a:br>
              <a:rPr lang="en-US" dirty="0"/>
            </a:br>
            <a:r>
              <a:rPr lang="en-US" dirty="0"/>
              <a:t>- Client timing includes:</a:t>
            </a:r>
            <a:br>
              <a:rPr lang="en-US" dirty="0"/>
            </a:br>
            <a:r>
              <a:rPr lang="en-US" dirty="0"/>
              <a:t>- transfer,</a:t>
            </a:r>
            <a:br>
              <a:rPr lang="en-US" dirty="0"/>
            </a:br>
            <a:r>
              <a:rPr lang="en-US" dirty="0"/>
              <a:t>- decompression,</a:t>
            </a:r>
            <a:br>
              <a:rPr lang="en-US" dirty="0"/>
            </a:br>
            <a:r>
              <a:rPr lang="en-US" dirty="0"/>
              <a:t>- decode,</a:t>
            </a:r>
            <a:br>
              <a:rPr lang="en-US" dirty="0"/>
            </a:br>
            <a:r>
              <a:rPr lang="en-US" dirty="0"/>
              <a:t>- metadata handling,</a:t>
            </a:r>
            <a:br>
              <a:rPr lang="en-US" dirty="0"/>
            </a:br>
            <a:r>
              <a:rPr lang="en-US" dirty="0"/>
              <a:t>- library behavior.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This mechanism also explains the negative results.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Length</a:t>
            </a:r>
            <a:r>
              <a:rPr lang="en-US" dirty="0"/>
              <a:t> 1:30 </a:t>
            </a:r>
            <a:r>
              <a:rPr lang="en-US" b="1" dirty="0"/>
              <a:t>Finish by </a:t>
            </a:r>
            <a:r>
              <a:rPr lang="en-US" dirty="0"/>
              <a:t>19:00</a:t>
            </a:r>
          </a:p>
          <a:p>
            <a:endParaRPr lang="en-US" dirty="0"/>
          </a:p>
          <a:p>
            <a:r>
              <a:rPr lang="en-US" dirty="0"/>
              <a:t>Frame the slide:</a:t>
            </a:r>
            <a:br>
              <a:rPr lang="en-US" dirty="0"/>
            </a:br>
            <a:r>
              <a:rPr lang="en-US" dirty="0"/>
              <a:t>- These negative results are not just failures.</a:t>
            </a:r>
            <a:br>
              <a:rPr lang="en-US" dirty="0"/>
            </a:br>
            <a:r>
              <a:rPr lang="en-US" dirty="0"/>
              <a:t>- They clarify which designs to avoid for specific priorities.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ROOT/</a:t>
            </a:r>
            <a:r>
              <a:rPr lang="en-US" dirty="0" err="1"/>
              <a:t>TTree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ROOT/</a:t>
            </a:r>
            <a:r>
              <a:rPr lang="en-US" dirty="0" err="1"/>
              <a:t>TTree</a:t>
            </a:r>
            <a:r>
              <a:rPr lang="en-US" dirty="0"/>
              <a:t> had low GETs/</a:t>
            </a:r>
            <a:r>
              <a:rPr lang="en-US" dirty="0" err="1"/>
              <a:t>GiB.</a:t>
            </a:r>
            <a:br>
              <a:rPr lang="en-US" dirty="0"/>
            </a:br>
            <a:r>
              <a:rPr lang="en-US" dirty="0"/>
              <a:t>- But it had the worst random single-frame latency.</a:t>
            </a:r>
            <a:br>
              <a:rPr lang="en-US" dirty="0"/>
            </a:br>
            <a:r>
              <a:rPr lang="en-US" dirty="0"/>
              <a:t>- The reason is single-object paging and decode behavior.</a:t>
            </a:r>
            <a:br>
              <a:rPr lang="en-US" dirty="0"/>
            </a:br>
            <a:r>
              <a:rPr lang="en-US" dirty="0"/>
              <a:t>- The takeaway is:</a:t>
            </a:r>
            <a:br>
              <a:rPr lang="en-US" dirty="0"/>
            </a:br>
            <a:r>
              <a:rPr lang="en-US" dirty="0"/>
              <a:t>- few GETs do not guarantee speed.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HDF5/HSDS:</a:t>
            </a:r>
            <a:br>
              <a:rPr lang="en-US" dirty="0"/>
            </a:br>
            <a:r>
              <a:rPr lang="en-US" dirty="0"/>
              <a:t>- HDF5 via HSDS helps preserves HDF5-style access.</a:t>
            </a:r>
            <a:br>
              <a:rPr lang="en-US" dirty="0"/>
            </a:br>
            <a:r>
              <a:rPr lang="en-US" dirty="0"/>
              <a:t>- But in this setup, service mediation adds overhead.</a:t>
            </a:r>
            <a:br>
              <a:rPr lang="en-US" dirty="0"/>
            </a:br>
            <a:r>
              <a:rPr lang="en-US" dirty="0"/>
              <a:t>- It was behind on both workloads.</a:t>
            </a:r>
            <a:br>
              <a:rPr lang="en-US" dirty="0"/>
            </a:br>
            <a:r>
              <a:rPr lang="en-US" dirty="0"/>
              <a:t>- The lz4 case is storage-heavy:</a:t>
            </a:r>
            <a:br>
              <a:rPr lang="en-US" dirty="0"/>
            </a:br>
            <a:r>
              <a:rPr lang="en-US" dirty="0"/>
              <a:t>- HSDS + lz4 stored 19.17 </a:t>
            </a:r>
            <a:r>
              <a:rPr lang="en-US" dirty="0" err="1"/>
              <a:t>GiB.</a:t>
            </a:r>
            <a:br>
              <a:rPr lang="en-US" dirty="0"/>
            </a:br>
            <a:r>
              <a:rPr lang="en-US" dirty="0"/>
              <a:t>- Zarr + lz4 stored 10.40 </a:t>
            </a:r>
            <a:r>
              <a:rPr lang="en-US" dirty="0" err="1"/>
              <a:t>GiB.</a:t>
            </a:r>
            <a:br>
              <a:rPr lang="en-US" dirty="0"/>
            </a:br>
            <a:r>
              <a:rPr lang="en-US" dirty="0"/>
              <a:t>- So HSDS + lz4 is unattractive when storage cost matters.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Parquet, spoken briefly:</a:t>
            </a:r>
            <a:br>
              <a:rPr lang="en-US" dirty="0"/>
            </a:br>
            <a:r>
              <a:rPr lang="en-US" dirty="0"/>
              <a:t>- Parquet was also tested as a pilot.</a:t>
            </a:r>
            <a:br>
              <a:rPr lang="en-US" dirty="0"/>
            </a:br>
            <a:r>
              <a:rPr lang="en-US" dirty="0"/>
              <a:t>- The tested single-object layout produced about a 34 GiB object for a 20 GiB raw stack.</a:t>
            </a:r>
            <a:br>
              <a:rPr lang="en-US" dirty="0"/>
            </a:br>
            <a:r>
              <a:rPr lang="en-US" dirty="0"/>
              <a:t>- Metadata open took 3 to 4 minutes.</a:t>
            </a:r>
            <a:br>
              <a:rPr lang="en-US" dirty="0"/>
            </a:br>
            <a:r>
              <a:rPr lang="en-US" dirty="0"/>
              <a:t>- So it was excluded from timed runs.</a:t>
            </a:r>
            <a:br>
              <a:rPr lang="en-US" dirty="0"/>
            </a:br>
            <a:r>
              <a:rPr lang="en-US" dirty="0"/>
              <a:t>- This is not a claim about tuned partitioned Parquet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With the winners and negative results together, the decision guide becomes straightforward.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Length</a:t>
            </a:r>
            <a:r>
              <a:rPr lang="en-US" dirty="0"/>
              <a:t> 1:20 </a:t>
            </a:r>
            <a:r>
              <a:rPr lang="en-US" b="1" dirty="0"/>
              <a:t>Finish by </a:t>
            </a:r>
            <a:r>
              <a:rPr lang="en-US" b="0" dirty="0"/>
              <a:t>20:20</a:t>
            </a:r>
          </a:p>
          <a:p>
            <a:endParaRPr lang="en-US" dirty="0"/>
          </a:p>
          <a:p>
            <a:r>
              <a:rPr lang="en-US" dirty="0"/>
              <a:t>Decision principle:</a:t>
            </a:r>
            <a:br>
              <a:rPr lang="en-US" dirty="0"/>
            </a:br>
            <a:r>
              <a:rPr lang="en-US" dirty="0"/>
              <a:t>- The decision starts with the dominant workload.</a:t>
            </a:r>
            <a:br>
              <a:rPr lang="en-US" dirty="0"/>
            </a:br>
            <a:r>
              <a:rPr lang="en-US" dirty="0"/>
              <a:t>- Is the system mainly latency-first or full sequential scan focused?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Random single-frame reads:</a:t>
            </a:r>
            <a:br>
              <a:rPr lang="en-US" dirty="0"/>
            </a:br>
            <a:r>
              <a:rPr lang="en-US" dirty="0"/>
              <a:t>- For random single-frame reads, recommend Zarr + </a:t>
            </a:r>
            <a:r>
              <a:rPr lang="en-US" dirty="0" err="1"/>
              <a:t>Zstandard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- It has the best overall slice result.</a:t>
            </a:r>
            <a:br>
              <a:rPr lang="en-US" dirty="0"/>
            </a:br>
            <a:r>
              <a:rPr lang="en-US" dirty="0"/>
              <a:t>- If </a:t>
            </a:r>
            <a:r>
              <a:rPr lang="en-US" dirty="0" err="1"/>
              <a:t>gzip</a:t>
            </a:r>
            <a:r>
              <a:rPr lang="en-US" dirty="0"/>
              <a:t> is fixed, </a:t>
            </a:r>
            <a:r>
              <a:rPr lang="en-US" dirty="0" err="1"/>
              <a:t>TileDB</a:t>
            </a:r>
            <a:r>
              <a:rPr lang="en-US" dirty="0"/>
              <a:t> wins that cell.</a:t>
            </a:r>
            <a:br>
              <a:rPr lang="en-US" dirty="0"/>
            </a:br>
            <a:r>
              <a:rPr lang="en-US" dirty="0"/>
              <a:t>- If tail latency matters, be careful with Zarr + lz4.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Full sequential scans:</a:t>
            </a:r>
            <a:br>
              <a:rPr lang="en-US" dirty="0"/>
            </a:br>
            <a:r>
              <a:rPr lang="en-US" dirty="0"/>
              <a:t>- For full sequential scans, recommend </a:t>
            </a:r>
            <a:r>
              <a:rPr lang="en-US" dirty="0" err="1"/>
              <a:t>TileDB</a:t>
            </a:r>
            <a:r>
              <a:rPr lang="en-US" dirty="0"/>
              <a:t> + </a:t>
            </a:r>
            <a:r>
              <a:rPr lang="en-US" dirty="0" err="1"/>
              <a:t>Zstandard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- This had the best scan time.</a:t>
            </a:r>
            <a:br>
              <a:rPr lang="en-US" dirty="0"/>
            </a:br>
            <a:r>
              <a:rPr lang="en-US" dirty="0"/>
              <a:t>- It also keeps the stored footprint compact.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+ lz4 is good but only if larger stored size is acceptable.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Boundary:</a:t>
            </a:r>
            <a:br>
              <a:rPr lang="en-US" dirty="0"/>
            </a:br>
            <a:r>
              <a:rPr lang="en-US" dirty="0"/>
              <a:t>- This is bounded by:</a:t>
            </a:r>
            <a:br>
              <a:rPr lang="en-US" dirty="0"/>
            </a:br>
            <a:r>
              <a:rPr lang="en-US" dirty="0"/>
              <a:t>- one dataset,</a:t>
            </a:r>
            <a:br>
              <a:rPr lang="en-US" dirty="0"/>
            </a:br>
            <a:r>
              <a:rPr lang="en-US" dirty="0"/>
              <a:t>- one client,</a:t>
            </a:r>
            <a:br>
              <a:rPr lang="en-US" dirty="0"/>
            </a:br>
            <a:r>
              <a:rPr lang="en-US" dirty="0"/>
              <a:t>- one AWS region,</a:t>
            </a:r>
            <a:br>
              <a:rPr lang="en-US" dirty="0"/>
            </a:br>
            <a:r>
              <a:rPr lang="en-US" dirty="0"/>
              <a:t>- one tested implementation set.</a:t>
            </a:r>
            <a:br>
              <a:rPr lang="en-US" dirty="0"/>
            </a:br>
            <a:r>
              <a:rPr lang="en-US" dirty="0"/>
              <a:t>- It is a decision guide for this tested setting.</a:t>
            </a:r>
            <a:br>
              <a:rPr lang="en-US" dirty="0"/>
            </a:br>
            <a:r>
              <a:rPr lang="en-US" dirty="0"/>
              <a:t>- It is not a universal law.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I will close with the contribution, limits, and relevance.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Length</a:t>
            </a:r>
            <a:r>
              <a:rPr lang="en-US" dirty="0"/>
              <a:t> 1:20 </a:t>
            </a:r>
            <a:r>
              <a:rPr lang="en-US" b="1" dirty="0"/>
              <a:t>Finish by </a:t>
            </a:r>
            <a:r>
              <a:rPr lang="en-US" b="0" dirty="0"/>
              <a:t>21:40</a:t>
            </a:r>
          </a:p>
          <a:p>
            <a:endParaRPr lang="en-US" dirty="0"/>
          </a:p>
          <a:p>
            <a:r>
              <a:rPr lang="en-US" dirty="0"/>
              <a:t>Contribution:</a:t>
            </a:r>
            <a:br>
              <a:rPr lang="en-US" dirty="0"/>
            </a:br>
            <a:r>
              <a:rPr lang="en-US" dirty="0"/>
              <a:t>- The first contribution is a reproducible AWS-native benchmark protocol.</a:t>
            </a:r>
            <a:br>
              <a:rPr lang="en-US" dirty="0"/>
            </a:br>
            <a:r>
              <a:rPr lang="en-US" dirty="0"/>
              <a:t>- The second contribution is a decision framework for two access patterns.</a:t>
            </a:r>
            <a:br>
              <a:rPr lang="en-US" dirty="0"/>
            </a:br>
            <a:r>
              <a:rPr lang="en-US" dirty="0"/>
              <a:t>- The third contribution is the mechanism explanation:</a:t>
            </a:r>
            <a:br>
              <a:rPr lang="en-US" dirty="0"/>
            </a:br>
            <a:r>
              <a:rPr lang="en-US" dirty="0"/>
              <a:t>- layout,</a:t>
            </a:r>
            <a:br>
              <a:rPr lang="en-US" dirty="0"/>
            </a:br>
            <a:r>
              <a:rPr lang="en-US" dirty="0"/>
              <a:t>- request intensity,</a:t>
            </a:r>
            <a:br>
              <a:rPr lang="en-US" dirty="0"/>
            </a:br>
            <a:r>
              <a:rPr lang="en-US" dirty="0"/>
              <a:t>- stored size,</a:t>
            </a:r>
            <a:br>
              <a:rPr lang="en-US" dirty="0"/>
            </a:br>
            <a:r>
              <a:rPr lang="en-US" dirty="0"/>
              <a:t>- decode behavior</a:t>
            </a:r>
          </a:p>
          <a:p>
            <a:r>
              <a:rPr lang="en-US" dirty="0"/>
              <a:t>all matter.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Limits:</a:t>
            </a:r>
            <a:br>
              <a:rPr lang="en-US" dirty="0"/>
            </a:br>
            <a:r>
              <a:rPr lang="en-US" dirty="0"/>
              <a:t>- The limits are deliberate.</a:t>
            </a:r>
            <a:br>
              <a:rPr lang="en-US" dirty="0"/>
            </a:br>
            <a:r>
              <a:rPr lang="en-US" dirty="0"/>
              <a:t>- One dataset.</a:t>
            </a:r>
            <a:br>
              <a:rPr lang="en-US" dirty="0"/>
            </a:br>
            <a:r>
              <a:rPr lang="en-US" dirty="0"/>
              <a:t>- One client.</a:t>
            </a:r>
            <a:br>
              <a:rPr lang="en-US" dirty="0"/>
            </a:br>
            <a:r>
              <a:rPr lang="en-US" dirty="0"/>
              <a:t>- One AWS region.</a:t>
            </a:r>
            <a:br>
              <a:rPr lang="en-US" dirty="0"/>
            </a:br>
            <a:r>
              <a:rPr lang="en-US" dirty="0"/>
              <a:t>- No multi-client contention.</a:t>
            </a:r>
            <a:br>
              <a:rPr lang="en-US" dirty="0"/>
            </a:br>
            <a:r>
              <a:rPr lang="en-US" dirty="0"/>
              <a:t>- No cross-cloud comparison.</a:t>
            </a:r>
            <a:br>
              <a:rPr lang="en-US" dirty="0"/>
            </a:br>
            <a:r>
              <a:rPr lang="en-US" dirty="0"/>
              <a:t>- No on-prem </a:t>
            </a:r>
            <a:r>
              <a:rPr lang="en-US" dirty="0" err="1"/>
              <a:t>Lustre</a:t>
            </a:r>
            <a:r>
              <a:rPr lang="en-US" dirty="0"/>
              <a:t> or GPFS baseline.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Relevance:</a:t>
            </a:r>
            <a:br>
              <a:rPr lang="en-US" dirty="0"/>
            </a:br>
            <a:r>
              <a:rPr lang="en-US" dirty="0"/>
              <a:t>- This matters because storage choice affects scientific turnaround time.</a:t>
            </a:r>
            <a:br>
              <a:rPr lang="en-US" dirty="0"/>
            </a:br>
            <a:r>
              <a:rPr lang="en-US" dirty="0"/>
              <a:t>- Fast random reads support interactive inspection.</a:t>
            </a:r>
            <a:br>
              <a:rPr lang="en-US" dirty="0"/>
            </a:br>
            <a:r>
              <a:rPr lang="en-US" dirty="0"/>
              <a:t>- Fast scans support reconstruction and reprocessing.</a:t>
            </a:r>
            <a:br>
              <a:rPr lang="en-US" dirty="0"/>
            </a:br>
            <a:r>
              <a:rPr lang="en-US" dirty="0"/>
              <a:t>- Stored size and request intensity also affect cloud-resource efficiency.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Boundary:</a:t>
            </a:r>
            <a:br>
              <a:rPr lang="en-US" dirty="0"/>
            </a:br>
            <a:r>
              <a:rPr lang="en-US" dirty="0"/>
              <a:t>- The results are useful because they are bounded and reproducible.</a:t>
            </a:r>
            <a:br>
              <a:rPr lang="en-US" dirty="0"/>
            </a:br>
            <a:r>
              <a:rPr lang="en-US" dirty="0"/>
              <a:t>- They should not be overstated beyond the tested AWS/S3 setup.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Transition:</a:t>
            </a:r>
            <a:br>
              <a:rPr lang="en-US" dirty="0"/>
            </a:br>
            <a:r>
              <a:rPr lang="en-US" dirty="0"/>
              <a:t>- The final takeaway is the decision rule.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Length</a:t>
            </a:r>
            <a:r>
              <a:rPr lang="en-US" dirty="0"/>
              <a:t> 0:50 </a:t>
            </a:r>
            <a:r>
              <a:rPr lang="en-US" b="1" dirty="0"/>
              <a:t>Finish by </a:t>
            </a:r>
            <a:r>
              <a:rPr lang="en-US" dirty="0"/>
              <a:t>22:30</a:t>
            </a:r>
          </a:p>
          <a:p>
            <a:endParaRPr lang="en-US" dirty="0"/>
          </a:p>
          <a:p>
            <a:r>
              <a:rPr lang="en-US" dirty="0"/>
              <a:t>Final principle:</a:t>
            </a:r>
            <a:br>
              <a:rPr lang="en-US" dirty="0"/>
            </a:br>
            <a:r>
              <a:rPr lang="en-US" dirty="0"/>
              <a:t>- The best storage choice depends on access pattern.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Random single-frame reads:</a:t>
            </a:r>
            <a:br>
              <a:rPr lang="en-US" dirty="0"/>
            </a:br>
            <a:r>
              <a:rPr lang="en-US" dirty="0"/>
              <a:t>- For random single-frame reads:</a:t>
            </a:r>
            <a:br>
              <a:rPr lang="en-US" dirty="0"/>
            </a:br>
            <a:r>
              <a:rPr lang="en-US" dirty="0"/>
              <a:t>- Zarr + </a:t>
            </a:r>
            <a:r>
              <a:rPr lang="en-US" dirty="0" err="1"/>
              <a:t>Zstandard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Full sequential scans:</a:t>
            </a:r>
            <a:br>
              <a:rPr lang="en-US" dirty="0"/>
            </a:br>
            <a:r>
              <a:rPr lang="en-US" dirty="0"/>
              <a:t>- For full sequential scans: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+ </a:t>
            </a:r>
            <a:r>
              <a:rPr lang="en-US" dirty="0" err="1"/>
              <a:t>Zstandard</a:t>
            </a:r>
            <a:r>
              <a:rPr lang="en-US" dirty="0"/>
              <a:t> as the default.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TileDB</a:t>
            </a:r>
            <a:r>
              <a:rPr lang="en-US" dirty="0"/>
              <a:t> + lz4 is the trade-off option if larger storage is acceptable.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Bound the conclusion:</a:t>
            </a:r>
            <a:br>
              <a:rPr lang="en-US" dirty="0"/>
            </a:br>
            <a:r>
              <a:rPr lang="en-US" dirty="0"/>
              <a:t>- This is bounded to the tested AWS/S3 setup.</a:t>
            </a:r>
            <a:br>
              <a:rPr lang="en-US" dirty="0"/>
            </a:br>
            <a:r>
              <a:rPr lang="en-US" dirty="0"/>
              <a:t>- I am not claiming a universal format ranking.</a:t>
            </a:r>
          </a:p>
          <a:p>
            <a:br>
              <a:rPr lang="en-US" dirty="0"/>
            </a:br>
            <a:r>
              <a:rPr lang="en-US" dirty="0"/>
              <a:t>Closing sentence:</a:t>
            </a:r>
            <a:br>
              <a:rPr lang="en-US" dirty="0"/>
            </a:br>
            <a:r>
              <a:rPr lang="en-US" dirty="0"/>
              <a:t>- The main contribution is a controlled benchmark and decision matrix showing that layout and codec must be chosen based on the access pattern.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Backup:</a:t>
            </a:r>
          </a:p>
          <a:p>
            <a:r>
              <a:rPr lang="en-US" dirty="0"/>
              <a:t>- The thesis is intentionally bounded.</a:t>
            </a:r>
          </a:p>
          <a:p>
            <a:r>
              <a:rPr lang="en-US" dirty="0"/>
              <a:t>- I do not claim this is universal across all datasets, all clouds, or all clients.</a:t>
            </a:r>
          </a:p>
          <a:p>
            <a:r>
              <a:rPr lang="en-US" dirty="0"/>
              <a:t>- But the method is reusable:</a:t>
            </a:r>
          </a:p>
          <a:p>
            <a:r>
              <a:rPr lang="en-US" dirty="0"/>
              <a:t>  - fix the dataset,</a:t>
            </a:r>
          </a:p>
          <a:p>
            <a:r>
              <a:rPr lang="en-US" dirty="0"/>
              <a:t>  - define the access patterns,</a:t>
            </a:r>
          </a:p>
          <a:p>
            <a:r>
              <a:rPr lang="en-US" dirty="0"/>
              <a:t>  - measure GM and p95,</a:t>
            </a:r>
          </a:p>
          <a:p>
            <a:r>
              <a:rPr lang="en-US" dirty="0"/>
              <a:t>  - measure request intensity and stored size,</a:t>
            </a:r>
          </a:p>
          <a:p>
            <a:r>
              <a:rPr lang="en-US" dirty="0"/>
              <a:t>  - then choose based on the dominant workload.</a:t>
            </a:r>
          </a:p>
          <a:p>
            <a:r>
              <a:rPr lang="en-US" dirty="0"/>
              <a:t>- That is the contribution beyond the specific result numbers.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8225" y="1122363"/>
            <a:ext cx="10438660" cy="684243"/>
          </a:xfrm>
        </p:spPr>
        <p:txBody>
          <a:bodyPr anchor="b">
            <a:noAutofit/>
          </a:bodyPr>
          <a:lstStyle>
            <a:lvl1pPr algn="l">
              <a:defRPr sz="4400" b="1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103" y="1884209"/>
            <a:ext cx="10447538" cy="51276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CB28-C894-4109-97F5-2016DD1B4A7D}" type="datetime1">
              <a:rPr lang="sv-SE" smtClean="0"/>
              <a:t>2026-05-25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E56C-DDB3-457B-A281-6E39D6A2A383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847817" y="2898559"/>
            <a:ext cx="10440140" cy="3187083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sv-SE" dirty="0"/>
              <a:t>Add optional group name</a:t>
            </a:r>
            <a:br>
              <a:rPr lang="sv-SE" dirty="0"/>
            </a:br>
            <a:r>
              <a:rPr lang="sv-SE" dirty="0"/>
              <a:t>Add name of the author, email, programe code, track</a:t>
            </a:r>
            <a:br>
              <a:rPr lang="sv-SE" dirty="0"/>
            </a:br>
            <a:r>
              <a:rPr lang="sv-SE" dirty="0"/>
              <a:t>If there is an additional author, add their email, programe code, and track.</a:t>
            </a:r>
            <a:br>
              <a:rPr lang="sv-SE" dirty="0"/>
            </a:br>
            <a:br>
              <a:rPr lang="sv-SE" dirty="0"/>
            </a:br>
            <a:r>
              <a:rPr lang="sv-SE" dirty="0"/>
              <a:t>Add purpose of the presentation</a:t>
            </a:r>
            <a:br>
              <a:rPr lang="sv-SE" dirty="0"/>
            </a:br>
            <a:r>
              <a:rPr lang="sv-SE" dirty="0"/>
              <a:t>Add date of the presentation</a:t>
            </a:r>
          </a:p>
          <a:p>
            <a:endParaRPr lang="sv-SE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92183" y="6252754"/>
            <a:ext cx="10850880" cy="43543"/>
          </a:xfrm>
          <a:prstGeom prst="line">
            <a:avLst/>
          </a:prstGeom>
          <a:ln>
            <a:solidFill>
              <a:srgbClr val="195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98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ADB6D-DB01-4656-B9B5-CC1784D826BB}" type="datetime1">
              <a:rPr lang="sv-SE" smtClean="0"/>
              <a:t>2026-05-25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41D9E56C-DDB3-457B-A281-6E39D6A2A383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31584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D889-A768-40F8-BB6A-C539F17CEF90}" type="datetime1">
              <a:rPr lang="sv-SE" smtClean="0"/>
              <a:t>2026-05-25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E56C-DDB3-457B-A281-6E39D6A2A3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43815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6884-DBE3-4A52-BBAB-5372F30F25AF}" type="datetime1">
              <a:rPr lang="sv-SE" smtClean="0"/>
              <a:t>2026-05-25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E56C-DDB3-457B-A281-6E39D6A2A3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5311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5314-21A2-4188-9D0C-CE0F5ED3A570}" type="datetime1">
              <a:rPr lang="sv-SE" smtClean="0"/>
              <a:t>2026-05-25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E56C-DDB3-457B-A281-6E39D6A2A3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2208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313A-1CD6-4838-9C13-FC6D940E14E1}" type="datetime1">
              <a:rPr lang="sv-SE" smtClean="0"/>
              <a:t>2026-05-25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E56C-DDB3-457B-A281-6E39D6A2A3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0262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E9D0-5FDC-4724-BB67-8AA3D82BAA56}" type="datetime1">
              <a:rPr lang="sv-SE" smtClean="0"/>
              <a:t>2026-05-25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E56C-DDB3-457B-A281-6E39D6A2A3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118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D6E00-ABEB-4792-BD33-1C3341B4F814}" type="datetime1">
              <a:rPr lang="sv-SE" smtClean="0"/>
              <a:t>2026-05-25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E56C-DDB3-457B-A281-6E39D6A2A3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3430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2A29-79BB-4AD8-8868-08ECB9AE8842}" type="datetime1">
              <a:rPr lang="sv-SE" smtClean="0"/>
              <a:t>2026-05-25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E56C-DDB3-457B-A281-6E39D6A2A3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7390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8E43-47AF-4228-9576-9B4BC692E0AA}" type="datetime1">
              <a:rPr lang="sv-SE" smtClean="0"/>
              <a:t>2026-05-25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E56C-DDB3-457B-A281-6E39D6A2A3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57512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F49A8-0070-4E38-A4A0-469F082D032B}" type="datetime1">
              <a:rPr lang="sv-SE" smtClean="0"/>
              <a:t>2026-05-25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E56C-DDB3-457B-A281-6E39D6A2A3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1718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88522-63C8-4F87-8B80-5FDA232E9969}" type="datetime1">
              <a:rPr lang="sv-SE" smtClean="0"/>
              <a:t>2026-05-25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9E56C-DDB3-457B-A281-6E39D6A2A383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4686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0800" tIns="25400" rIns="50800" bIns="25400" anchor="t"/>
          <a:lstStyle/>
          <a:p>
            <a:r>
              <a:rPr lang="en-US" sz="2550" dirty="0">
                <a:solidFill>
                  <a:srgbClr val="22313F"/>
                </a:solidFill>
              </a:rPr>
              <a:t>From Experiment to Insight: A Comparative Study of Storage Approaches for Large-Scale Synchrotron and Neutron Scattering Data on AWS</a:t>
            </a:r>
            <a:endParaRPr sz="2550" b="1" dirty="0">
              <a:solidFill>
                <a:srgbClr val="22313F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 lIns="50800" tIns="25400" rIns="50800" bIns="25400" anchor="t"/>
          <a:lstStyle/>
          <a:p>
            <a:pPr>
              <a:spcAft>
                <a:spcPts val="1200"/>
              </a:spcAft>
            </a:pPr>
            <a:r>
              <a:rPr lang="en-US" sz="1400" b="1" dirty="0">
                <a:solidFill>
                  <a:srgbClr val="004791"/>
                </a:solidFill>
              </a:rPr>
              <a:t>Benchmarking HDF5/HSDS, Zarr, </a:t>
            </a:r>
            <a:r>
              <a:rPr lang="en-US" sz="1400" b="1" dirty="0" err="1">
                <a:solidFill>
                  <a:srgbClr val="004791"/>
                </a:solidFill>
              </a:rPr>
              <a:t>TileDB</a:t>
            </a:r>
            <a:r>
              <a:rPr lang="en-US" sz="1400" b="1" dirty="0">
                <a:solidFill>
                  <a:srgbClr val="004791"/>
                </a:solidFill>
              </a:rPr>
              <a:t>, and ROOT/</a:t>
            </a:r>
            <a:r>
              <a:rPr lang="en-US" sz="1400" b="1" dirty="0" err="1">
                <a:solidFill>
                  <a:srgbClr val="004791"/>
                </a:solidFill>
              </a:rPr>
              <a:t>TTree</a:t>
            </a:r>
            <a:r>
              <a:rPr lang="en-US" sz="1400" b="1" dirty="0">
                <a:solidFill>
                  <a:srgbClr val="004791"/>
                </a:solidFill>
              </a:rPr>
              <a:t> for Random Single-Frame Reads and Full Sequential Scans</a:t>
            </a:r>
          </a:p>
          <a:p>
            <a:pPr>
              <a:spcAft>
                <a:spcPts val="1200"/>
              </a:spcAft>
            </a:pPr>
            <a:r>
              <a:rPr sz="1450" b="1" dirty="0">
                <a:solidFill>
                  <a:srgbClr val="22313F"/>
                </a:solidFill>
              </a:rPr>
              <a:t>Casper Ove Kristiansson</a:t>
            </a:r>
            <a:r>
              <a:rPr lang="sv-SE" sz="1450" b="1" dirty="0">
                <a:solidFill>
                  <a:srgbClr val="22313F"/>
                </a:solidFill>
              </a:rPr>
              <a:t> </a:t>
            </a:r>
            <a:r>
              <a:rPr lang="sv-SE" sz="1450" dirty="0">
                <a:solidFill>
                  <a:srgbClr val="22313F"/>
                </a:solidFill>
              </a:rPr>
              <a:t>(</a:t>
            </a:r>
            <a:r>
              <a:rPr lang="sv-SE" sz="1450" dirty="0" err="1">
                <a:solidFill>
                  <a:srgbClr val="22313F"/>
                </a:solidFill>
              </a:rPr>
              <a:t>casperkr@kth.se</a:t>
            </a:r>
            <a:r>
              <a:rPr lang="sv-SE" sz="1450" dirty="0">
                <a:solidFill>
                  <a:srgbClr val="22313F"/>
                </a:solidFill>
              </a:rPr>
              <a:t>)</a:t>
            </a:r>
            <a:endParaRPr sz="1450" b="1" dirty="0">
              <a:solidFill>
                <a:srgbClr val="22313F"/>
              </a:solidFill>
            </a:endParaRPr>
          </a:p>
          <a:p>
            <a:pPr>
              <a:spcAft>
                <a:spcPts val="500"/>
              </a:spcAft>
            </a:pPr>
            <a:r>
              <a:rPr sz="1280" b="0" dirty="0">
                <a:solidFill>
                  <a:srgbClr val="22313F"/>
                </a:solidFill>
              </a:rPr>
              <a:t>Master's </a:t>
            </a:r>
            <a:r>
              <a:rPr sz="1280" b="0" dirty="0" err="1">
                <a:solidFill>
                  <a:srgbClr val="22313F"/>
                </a:solidFill>
              </a:rPr>
              <a:t>Programme</a:t>
            </a:r>
            <a:r>
              <a:rPr sz="1280" b="0" dirty="0">
                <a:solidFill>
                  <a:srgbClr val="22313F"/>
                </a:solidFill>
              </a:rPr>
              <a:t> in Computer Science, KTH EECS</a:t>
            </a:r>
            <a:r>
              <a:rPr lang="sv-SE" sz="1280" b="0" dirty="0">
                <a:solidFill>
                  <a:srgbClr val="22313F"/>
                </a:solidFill>
              </a:rPr>
              <a:t>, DA231X</a:t>
            </a:r>
            <a:endParaRPr sz="1280" b="0" dirty="0">
              <a:solidFill>
                <a:srgbClr val="22313F"/>
              </a:solidFill>
            </a:endParaRPr>
          </a:p>
          <a:p>
            <a:pPr>
              <a:spcAft>
                <a:spcPts val="500"/>
              </a:spcAft>
            </a:pPr>
            <a:r>
              <a:rPr sz="1230" b="0" dirty="0">
                <a:solidFill>
                  <a:srgbClr val="22313F"/>
                </a:solidFill>
              </a:rPr>
              <a:t>Supervisors: Sebastian Dalleiger, Ahmet Bahadir Yildiz</a:t>
            </a:r>
          </a:p>
          <a:p>
            <a:pPr>
              <a:spcAft>
                <a:spcPts val="500"/>
              </a:spcAft>
            </a:pPr>
            <a:r>
              <a:rPr sz="1230" b="0" dirty="0">
                <a:solidFill>
                  <a:srgbClr val="22313F"/>
                </a:solidFill>
              </a:rPr>
              <a:t>Examiner: Panagiotis </a:t>
            </a:r>
            <a:r>
              <a:rPr sz="1230" b="0" dirty="0" err="1">
                <a:solidFill>
                  <a:srgbClr val="22313F"/>
                </a:solidFill>
              </a:rPr>
              <a:t>Papadimitratos</a:t>
            </a:r>
            <a:endParaRPr sz="1230" b="0" dirty="0">
              <a:solidFill>
                <a:srgbClr val="22313F"/>
              </a:solidFill>
            </a:endParaRPr>
          </a:p>
        </p:txBody>
      </p:sp>
      <p:sp>
        <p:nvSpPr>
          <p:cNvPr id="5" name="slide_number_label"/>
          <p:cNvSpPr txBox="1"/>
          <p:nvPr/>
        </p:nvSpPr>
        <p:spPr>
          <a:xfrm>
            <a:off x="11411712" y="6428232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5C6773"/>
                </a:solidFill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4293D-5511-23F5-F371-8E9483E1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_number_label">
            <a:extLst>
              <a:ext uri="{FF2B5EF4-FFF2-40B4-BE49-F238E27FC236}">
                <a16:creationId xmlns:a16="http://schemas.microsoft.com/office/drawing/2014/main" id="{5A2CF670-A02B-D8C2-B98A-C393A75EEE90}"/>
              </a:ext>
            </a:extLst>
          </p:cNvPr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dirty="0">
                <a:solidFill>
                  <a:srgbClr val="5C6773"/>
                </a:solidFill>
              </a:rPr>
              <a:t>2</a:t>
            </a:r>
            <a:endParaRPr sz="950" b="0" dirty="0">
              <a:solidFill>
                <a:srgbClr val="5C6773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F0DF4D-F8EE-D063-33FC-7B326E3C0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62" y="0"/>
            <a:ext cx="10884809" cy="6107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C5B854-8D8F-E3F0-20A2-860A97D72D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75" y="1528176"/>
            <a:ext cx="7275151" cy="311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95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 dirty="0">
                <a:solidFill>
                  <a:srgbClr val="22313F"/>
                </a:solidFill>
              </a:rPr>
              <a:t>The storage problem is one dataset with two competing access patterns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3</a:t>
            </a:r>
            <a:endParaRPr sz="950" b="0" dirty="0">
              <a:solidFill>
                <a:srgbClr val="5C677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249424"/>
            <a:ext cx="3246120" cy="133502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>
              <a:spcAft>
                <a:spcPts val="800"/>
              </a:spcAft>
              <a:defRPr sz="1720">
                <a:solidFill>
                  <a:srgbClr val="22313F"/>
                </a:solidFill>
              </a:defRPr>
            </a:pPr>
            <a:r>
              <a:t>One dataset.</a:t>
            </a:r>
          </a:p>
          <a:p>
            <a:pPr>
              <a:spcAft>
                <a:spcPts val="800"/>
              </a:spcAft>
              <a:defRPr sz="1720">
                <a:solidFill>
                  <a:srgbClr val="22313F"/>
                </a:solidFill>
              </a:defRPr>
            </a:pPr>
            <a:r>
              <a:t>Two competing access patterns.</a:t>
            </a:r>
          </a:p>
          <a:p>
            <a:pPr>
              <a:spcAft>
                <a:spcPts val="800"/>
              </a:spcAft>
              <a:defRPr sz="1720">
                <a:solidFill>
                  <a:srgbClr val="22313F"/>
                </a:solidFill>
              </a:defRPr>
            </a:pPr>
            <a:r>
              <a:t>Layout changes latency and request fan-out.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65C1F92-C447-C8DB-D12D-E48FF9CBC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042" y="919462"/>
            <a:ext cx="6411686" cy="48087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257800" y="4957000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40" b="0" dirty="0">
                <a:solidFill>
                  <a:srgbClr val="5C6773"/>
                </a:solidFill>
              </a:rPr>
              <a:t>The same logical dataset creates different object-store behavior.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88264D6-A387-AB54-FCF0-A1D2FB4B1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 dirty="0">
                <a:solidFill>
                  <a:srgbClr val="22313F"/>
                </a:solidFill>
              </a:rPr>
              <a:t>Research question and decision target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4</a:t>
            </a:r>
            <a:endParaRPr sz="950" b="0" dirty="0">
              <a:solidFill>
                <a:srgbClr val="5C677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901952"/>
            <a:ext cx="10058400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20" b="0">
                <a:solidFill>
                  <a:srgbClr val="22313F"/>
                </a:solidFill>
              </a:rPr>
              <a:t>Which backend + codec combinations best support
random single-frame reads and full sequential scans on AWS S3?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07792"/>
            <a:ext cx="4663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10512" y="3127248"/>
            <a:ext cx="34747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20" b="1">
                <a:solidFill>
                  <a:srgbClr val="22313F"/>
                </a:solidFill>
              </a:rPr>
              <a:t>Random single-frame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3511296"/>
            <a:ext cx="3474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20" b="0">
                <a:solidFill>
                  <a:srgbClr val="5C6773"/>
                </a:solidFill>
              </a:rPr>
              <a:t>Interactive inspection of individual detector frames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2907792"/>
            <a:ext cx="4663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8816" y="3127248"/>
            <a:ext cx="34747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20" b="1">
                <a:solidFill>
                  <a:srgbClr val="22313F"/>
                </a:solidFill>
              </a:rPr>
              <a:t>Full sequential scans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511296"/>
            <a:ext cx="3474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20" b="0">
                <a:solidFill>
                  <a:srgbClr val="5C6773"/>
                </a:solidFill>
              </a:rPr>
              <a:t>End-to-end passes over the same logical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90288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60" b="0" dirty="0">
                <a:solidFill>
                  <a:srgbClr val="004791"/>
                </a:solidFill>
              </a:rPr>
              <a:t>Decision target: choose a storage + codec strategy for this bounded AWS/S3 setup.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A992EBC-8E98-074B-AB5B-C5A2536D7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986" y="3216133"/>
            <a:ext cx="538787" cy="5387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6FE486B-C4D2-F671-3FAB-2D0CC8866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00" y="3216133"/>
            <a:ext cx="493004" cy="493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64AC87-4995-3C0B-6B5B-2B820C1044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>
                <a:solidFill>
                  <a:srgbClr val="22313F"/>
                </a:solidFill>
              </a:rPr>
              <a:t>The same detector stack becomes four different S3-facing layouts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5</a:t>
            </a:r>
            <a:endParaRPr sz="950" b="0" dirty="0">
              <a:solidFill>
                <a:srgbClr val="5C6773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64E1710-214D-24FB-355E-81065CB86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085" y="1015176"/>
            <a:ext cx="9731829" cy="54770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A62B1F-A812-C0DF-6678-0BBA5CE24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>
                <a:solidFill>
                  <a:srgbClr val="22313F"/>
                </a:solidFill>
              </a:rPr>
              <a:t>Controlled scope: what was fixed, varied, and not claimed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6</a:t>
            </a:r>
            <a:endParaRPr sz="950" b="0" dirty="0">
              <a:solidFill>
                <a:srgbClr val="5C6773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5274658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5C6773"/>
                </a:solidFill>
              </a:rPr>
              <a:t>CloudWatch request metrics are used as context, not as direct causal proof.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B5976D-49CB-939B-0F8D-83A4B87BE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77" y="940819"/>
            <a:ext cx="10553823" cy="4142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B850F7-4E96-C5EA-D8C3-CB7F7CABF1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>
                <a:solidFill>
                  <a:srgbClr val="22313F"/>
                </a:solidFill>
              </a:rPr>
              <a:t>Methods and reported metrics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7</a:t>
            </a:r>
            <a:endParaRPr sz="950" b="0" dirty="0">
              <a:solidFill>
                <a:srgbClr val="5C6773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2139696"/>
            <a:ext cx="1901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2377440"/>
            <a:ext cx="1755648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50" b="1">
                <a:solidFill>
                  <a:srgbClr val="22313F"/>
                </a:solidFill>
              </a:rPr>
              <a:t>GM slice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761488"/>
            <a:ext cx="1682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80" b="0">
                <a:solidFill>
                  <a:srgbClr val="5C6773"/>
                </a:solidFill>
              </a:rPr>
              <a:t>central read latency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2980944" y="2139696"/>
            <a:ext cx="1901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54096" y="2377440"/>
            <a:ext cx="1755648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50" b="1">
                <a:solidFill>
                  <a:srgbClr val="22313F"/>
                </a:solidFill>
              </a:rPr>
              <a:t>GM full-scan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2761488"/>
            <a:ext cx="1682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80" b="0">
                <a:solidFill>
                  <a:srgbClr val="5C6773"/>
                </a:solidFill>
              </a:rPr>
              <a:t>central scan completion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7488" y="2139696"/>
            <a:ext cx="1901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2377440"/>
            <a:ext cx="1755648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50" b="1">
                <a:solidFill>
                  <a:srgbClr val="22313F"/>
                </a:solidFill>
              </a:rPr>
              <a:t>p95 slice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2761488"/>
            <a:ext cx="1682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80" b="0">
                <a:solidFill>
                  <a:srgbClr val="5C6773"/>
                </a:solidFill>
              </a:rPr>
              <a:t>user-visible tail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4032" y="2139696"/>
            <a:ext cx="1901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2377440"/>
            <a:ext cx="1755648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50" b="1">
                <a:solidFill>
                  <a:srgbClr val="22313F"/>
                </a:solidFill>
              </a:rPr>
              <a:t>GETs/GiB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761488"/>
            <a:ext cx="1682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80" b="0">
                <a:solidFill>
                  <a:srgbClr val="5C6773"/>
                </a:solidFill>
              </a:rPr>
              <a:t>request-intensity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0576" y="2139696"/>
            <a:ext cx="1901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53728" y="2377440"/>
            <a:ext cx="1755648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50" b="1">
                <a:solidFill>
                  <a:srgbClr val="22313F"/>
                </a:solidFill>
              </a:rPr>
              <a:t>Stored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2761488"/>
            <a:ext cx="1682496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80" b="0">
                <a:solidFill>
                  <a:srgbClr val="5C6773"/>
                </a:solidFill>
              </a:rPr>
              <a:t>storage-footprint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977639"/>
            <a:ext cx="10241280" cy="67665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233671"/>
            <a:ext cx="9966960" cy="1645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40" b="0" dirty="0">
                <a:solidFill>
                  <a:srgbClr val="22313F"/>
                </a:solidFill>
              </a:rPr>
              <a:t>n = 50 timed repetitions per cell  |  warm-ups excluded  |  GM on log scale  |  dependence-robust intervals  |  descriptive within-session contrasts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5C6773"/>
                </a:solidFill>
              </a:rPr>
              <a:t>Codec labels are aligned, but implementations remain backend-specific.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AE2626-2A9F-EEA9-DDCE-677FF570A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>
                <a:solidFill>
                  <a:srgbClr val="22313F"/>
                </a:solidFill>
              </a:rPr>
              <a:t>Winner matrix by workload and codec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8</a:t>
            </a:r>
            <a:endParaRPr sz="950" b="0" dirty="0">
              <a:solidFill>
                <a:srgbClr val="5C6773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5986364-4A48-2C7E-5FF0-5D63C5722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871053"/>
            <a:ext cx="7772400" cy="43742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1080" y="1871053"/>
            <a:ext cx="10149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60" b="0" dirty="0">
                <a:solidFill>
                  <a:srgbClr val="004791"/>
                </a:solidFill>
              </a:rPr>
              <a:t>Zarr wins two read conditions; </a:t>
            </a:r>
            <a:r>
              <a:rPr sz="1260" b="0" dirty="0" err="1">
                <a:solidFill>
                  <a:srgbClr val="004791"/>
                </a:solidFill>
              </a:rPr>
              <a:t>TileDB</a:t>
            </a:r>
            <a:r>
              <a:rPr sz="1260" b="0" dirty="0">
                <a:solidFill>
                  <a:srgbClr val="004791"/>
                </a:solidFill>
              </a:rPr>
              <a:t> wins all scans.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C21854D-69DF-5AE0-BF83-94474B79C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>
                <a:solidFill>
                  <a:srgbClr val="22313F"/>
                </a:solidFill>
              </a:rPr>
              <a:t>Random single-frame reads: Zarr wins overall; gzip is the exception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9</a:t>
            </a:r>
            <a:endParaRPr sz="950" b="0" dirty="0">
              <a:solidFill>
                <a:srgbClr val="5C6773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50976" y="1426463"/>
            <a:ext cx="2606040" cy="384048"/>
          </a:xfrm>
          <a:prstGeom prst="rect">
            <a:avLst/>
          </a:prstGeom>
          <a:solidFill>
            <a:srgbClr val="E4EBFB"/>
          </a:solidFill>
          <a:ln w="12700">
            <a:solidFill>
              <a:srgbClr val="E4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" y="1453895"/>
            <a:ext cx="253288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160" b="1" dirty="0">
                <a:solidFill>
                  <a:srgbClr val="1F3C88"/>
                </a:solidFill>
              </a:rPr>
              <a:t>Exception: </a:t>
            </a:r>
            <a:r>
              <a:rPr sz="1160" b="1" dirty="0" err="1">
                <a:solidFill>
                  <a:srgbClr val="1F3C88"/>
                </a:solidFill>
              </a:rPr>
              <a:t>TileDB</a:t>
            </a:r>
            <a:r>
              <a:rPr sz="1160" b="1" dirty="0">
                <a:solidFill>
                  <a:srgbClr val="1F3C88"/>
                </a:solidFill>
              </a:rPr>
              <a:t> wins with </a:t>
            </a:r>
            <a:r>
              <a:rPr sz="1160" b="1" dirty="0" err="1">
                <a:solidFill>
                  <a:srgbClr val="1F3C88"/>
                </a:solidFill>
              </a:rPr>
              <a:t>gzip</a:t>
            </a:r>
            <a:endParaRPr sz="1160" b="1" dirty="0">
              <a:solidFill>
                <a:srgbClr val="1F3C8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5609" y="1399031"/>
            <a:ext cx="2304288" cy="384048"/>
          </a:xfrm>
          <a:prstGeom prst="rect">
            <a:avLst/>
          </a:prstGeom>
          <a:solidFill>
            <a:srgbClr val="FBF2DE"/>
          </a:solidFill>
          <a:ln w="12700">
            <a:solidFill>
              <a:srgbClr val="FBF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3672" y="1421416"/>
            <a:ext cx="2231136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 dirty="0">
                <a:solidFill>
                  <a:srgbClr val="C7902A"/>
                </a:solidFill>
              </a:rPr>
              <a:t>Best overall: Zarr + </a:t>
            </a:r>
            <a:r>
              <a:rPr sz="1200" b="1" dirty="0" err="1">
                <a:solidFill>
                  <a:srgbClr val="C7902A"/>
                </a:solidFill>
              </a:rPr>
              <a:t>zstd</a:t>
            </a:r>
            <a:endParaRPr sz="1200" b="1" dirty="0">
              <a:solidFill>
                <a:srgbClr val="C7902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0976" y="5541263"/>
            <a:ext cx="98755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/>
              <a:t>Bars show GM latency; lower is better.</a:t>
            </a:r>
            <a:endParaRPr sz="1150" b="0" dirty="0">
              <a:solidFill>
                <a:srgbClr val="5C6773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9486D3-B27A-1FBA-CDC7-DB4A77685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76" y="1930400"/>
            <a:ext cx="9875520" cy="3291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41F480-EB83-73AF-848D-19795BE69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>
                <a:solidFill>
                  <a:srgbClr val="22313F"/>
                </a:solidFill>
              </a:rPr>
              <a:t>Full sequential scans: TileDB wins across every tested codec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10</a:t>
            </a:r>
            <a:endParaRPr sz="950" b="0" dirty="0">
              <a:solidFill>
                <a:srgbClr val="5C6773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69663" y="1810512"/>
            <a:ext cx="2816352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0" y="1837943"/>
            <a:ext cx="2743200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120" b="1">
                <a:solidFill>
                  <a:srgbClr val="22313F"/>
                </a:solidFill>
              </a:rPr>
              <a:t>TileDB is 2.2-3.2x faster than Zarr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54112" y="1810512"/>
            <a:ext cx="2560320" cy="384048"/>
          </a:xfrm>
          <a:prstGeom prst="rect">
            <a:avLst/>
          </a:prstGeom>
          <a:solidFill>
            <a:srgbClr val="E4EBFB"/>
          </a:solidFill>
          <a:ln w="12700">
            <a:solidFill>
              <a:srgbClr val="E4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90688" y="1837943"/>
            <a:ext cx="248716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60" b="1">
                <a:solidFill>
                  <a:srgbClr val="1F3C88"/>
                </a:solidFill>
              </a:rPr>
              <a:t>Best scan time: TileDB + zstd (10.4 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525315"/>
            <a:ext cx="9875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C6773"/>
                </a:solidFill>
              </a:rPr>
              <a:t>Same logical dataset in every cell; lower is better.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B9D2FA-F73B-915C-4447-779CB0984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911" y="2314384"/>
            <a:ext cx="9575074" cy="31916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9CA08F-4CE9-4E8B-4740-95929C24B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>
                <a:solidFill>
                  <a:srgbClr val="22313F"/>
                </a:solidFill>
              </a:rPr>
              <a:t>Tail behavior supports the recommendation; Zarr + lz4 is the caution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11</a:t>
            </a:r>
            <a:endParaRPr sz="950" b="0" dirty="0">
              <a:solidFill>
                <a:srgbClr val="5C677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810512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0">
                <a:solidFill>
                  <a:srgbClr val="5C6773"/>
                </a:solidFill>
              </a:rPr>
              <a:t>GM and p95 are shown only for Zarr and TileDB under zstd and lz4.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0C292B-7555-98D5-9F0D-D80381749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56" y="2131504"/>
            <a:ext cx="10711544" cy="3570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914756-4411-5CF5-CF98-AD71CBF7CC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 dirty="0">
                <a:solidFill>
                  <a:srgbClr val="22313F"/>
                </a:solidFill>
              </a:rPr>
              <a:t>GET intensity helps explain latency; ROOT/</a:t>
            </a:r>
            <a:r>
              <a:rPr sz="2200" b="1" dirty="0" err="1">
                <a:solidFill>
                  <a:srgbClr val="22313F"/>
                </a:solidFill>
              </a:rPr>
              <a:t>TTree</a:t>
            </a:r>
            <a:r>
              <a:rPr sz="2200" b="1" dirty="0">
                <a:solidFill>
                  <a:srgbClr val="22313F"/>
                </a:solidFill>
              </a:rPr>
              <a:t> shows request count is not enough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12</a:t>
            </a:r>
            <a:endParaRPr sz="950" b="0" dirty="0">
              <a:solidFill>
                <a:srgbClr val="5C677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810512"/>
            <a:ext cx="100584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80" b="0">
                <a:solidFill>
                  <a:srgbClr val="22313F"/>
                </a:solidFill>
              </a:rPr>
              <a:t>ROOT/TTree is the counterexample: few GETs/GiB, yet poor random single-frame latency.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68112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C6773"/>
                </a:solidFill>
              </a:rPr>
              <a:t>CloudWatch request counts are explanatory context, not direct proof of mechanism.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566845-DAD8-FFCC-7765-77CE9C1350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6AC96C-E16A-8103-A9B9-7602493E45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66836"/>
            <a:ext cx="9138138" cy="3048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>
                <a:solidFill>
                  <a:srgbClr val="22313F"/>
                </a:solidFill>
              </a:rPr>
              <a:t>Negative results reveal structural limits in this setup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13</a:t>
            </a:r>
            <a:endParaRPr sz="950" b="0" dirty="0">
              <a:solidFill>
                <a:srgbClr val="5C6773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3B3EAE-B4DE-9BA3-2686-07A3AB4F1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8EAA04-4A56-D70D-AEE1-08FE39D25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256" y="1326815"/>
            <a:ext cx="10207488" cy="387691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D2B2DA5-3F32-223E-8DC1-13E4A6A3A615}"/>
              </a:ext>
            </a:extLst>
          </p:cNvPr>
          <p:cNvSpPr txBox="1"/>
          <p:nvPr/>
        </p:nvSpPr>
        <p:spPr>
          <a:xfrm>
            <a:off x="1112520" y="5531185"/>
            <a:ext cx="9966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sv-SE" sz="1150" b="0" dirty="0">
                <a:solidFill>
                  <a:srgbClr val="5C6773"/>
                </a:solidFill>
              </a:rPr>
              <a:t>Negative </a:t>
            </a:r>
            <a:r>
              <a:rPr lang="sv-SE" sz="1150" b="0" dirty="0" err="1">
                <a:solidFill>
                  <a:srgbClr val="5C6773"/>
                </a:solidFill>
              </a:rPr>
              <a:t>results</a:t>
            </a:r>
            <a:r>
              <a:rPr lang="sv-SE" sz="1150" b="0" dirty="0">
                <a:solidFill>
                  <a:srgbClr val="5C6773"/>
                </a:solidFill>
              </a:rPr>
              <a:t> </a:t>
            </a:r>
            <a:r>
              <a:rPr lang="sv-SE" sz="1150" b="0" dirty="0" err="1">
                <a:solidFill>
                  <a:srgbClr val="5C6773"/>
                </a:solidFill>
              </a:rPr>
              <a:t>improve</a:t>
            </a:r>
            <a:r>
              <a:rPr lang="sv-SE" sz="1150" b="0" dirty="0">
                <a:solidFill>
                  <a:srgbClr val="5C6773"/>
                </a:solidFill>
              </a:rPr>
              <a:t> the decision </a:t>
            </a:r>
            <a:r>
              <a:rPr lang="sv-SE" sz="1150" b="0" dirty="0" err="1">
                <a:solidFill>
                  <a:srgbClr val="5C6773"/>
                </a:solidFill>
              </a:rPr>
              <a:t>framework</a:t>
            </a:r>
            <a:r>
              <a:rPr lang="sv-SE" sz="1150" b="0" dirty="0">
                <a:solidFill>
                  <a:srgbClr val="5C6773"/>
                </a:solidFill>
              </a:rPr>
              <a:t> by </a:t>
            </a:r>
            <a:r>
              <a:rPr lang="sv-SE" sz="1150" b="0" dirty="0" err="1">
                <a:solidFill>
                  <a:srgbClr val="5C6773"/>
                </a:solidFill>
              </a:rPr>
              <a:t>clarifying</a:t>
            </a:r>
            <a:r>
              <a:rPr lang="sv-SE" sz="1150" b="0" dirty="0">
                <a:solidFill>
                  <a:srgbClr val="5C6773"/>
                </a:solidFill>
              </a:rPr>
              <a:t> </a:t>
            </a:r>
            <a:r>
              <a:rPr lang="sv-SE" sz="1150" b="0" dirty="0" err="1">
                <a:solidFill>
                  <a:srgbClr val="5C6773"/>
                </a:solidFill>
              </a:rPr>
              <a:t>which</a:t>
            </a:r>
            <a:r>
              <a:rPr lang="sv-SE" sz="1150" b="0" dirty="0">
                <a:solidFill>
                  <a:srgbClr val="5C6773"/>
                </a:solidFill>
              </a:rPr>
              <a:t> designs to </a:t>
            </a:r>
            <a:r>
              <a:rPr lang="sv-SE" sz="1150" b="0" dirty="0" err="1">
                <a:solidFill>
                  <a:srgbClr val="5C6773"/>
                </a:solidFill>
              </a:rPr>
              <a:t>avoid</a:t>
            </a:r>
            <a:r>
              <a:rPr lang="sv-SE" sz="1150" b="0" dirty="0">
                <a:solidFill>
                  <a:srgbClr val="5C6773"/>
                </a:solidFill>
              </a:rPr>
              <a:t> for </a:t>
            </a:r>
            <a:r>
              <a:rPr lang="sv-SE" sz="1150" b="0" dirty="0" err="1">
                <a:solidFill>
                  <a:srgbClr val="5C6773"/>
                </a:solidFill>
              </a:rPr>
              <a:t>specific</a:t>
            </a:r>
            <a:r>
              <a:rPr lang="sv-SE" sz="1150" b="0" dirty="0">
                <a:solidFill>
                  <a:srgbClr val="5C6773"/>
                </a:solidFill>
              </a:rPr>
              <a:t> </a:t>
            </a:r>
            <a:r>
              <a:rPr lang="sv-SE" sz="1150" b="0" dirty="0" err="1">
                <a:solidFill>
                  <a:srgbClr val="5C6773"/>
                </a:solidFill>
              </a:rPr>
              <a:t>priorities</a:t>
            </a:r>
            <a:endParaRPr sz="1150" b="0" dirty="0">
              <a:solidFill>
                <a:srgbClr val="5C677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>
                <a:solidFill>
                  <a:srgbClr val="22313F"/>
                </a:solidFill>
              </a:rPr>
              <a:t>Decision guide: choose for the dominant workload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14</a:t>
            </a:r>
            <a:endParaRPr sz="950" b="0" dirty="0">
              <a:solidFill>
                <a:srgbClr val="5C677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951765"/>
            <a:ext cx="102412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dirty="0">
                <a:solidFill>
                  <a:srgbClr val="5C6773"/>
                </a:solidFill>
              </a:rPr>
              <a:t>Bounded </a:t>
            </a:r>
            <a:r>
              <a:rPr lang="sv-SE" sz="1150" b="0" dirty="0">
                <a:solidFill>
                  <a:srgbClr val="5C6773"/>
                </a:solidFill>
              </a:rPr>
              <a:t>by </a:t>
            </a:r>
            <a:r>
              <a:rPr lang="sv-SE" sz="1150" b="0" dirty="0" err="1">
                <a:solidFill>
                  <a:srgbClr val="5C6773"/>
                </a:solidFill>
              </a:rPr>
              <a:t>one</a:t>
            </a:r>
            <a:r>
              <a:rPr lang="sv-SE" sz="1150" b="0" dirty="0">
                <a:solidFill>
                  <a:srgbClr val="5C6773"/>
                </a:solidFill>
              </a:rPr>
              <a:t> </a:t>
            </a:r>
            <a:r>
              <a:rPr lang="sv-SE" sz="1150" b="0" dirty="0" err="1">
                <a:solidFill>
                  <a:srgbClr val="5C6773"/>
                </a:solidFill>
              </a:rPr>
              <a:t>dataset</a:t>
            </a:r>
            <a:r>
              <a:rPr lang="sv-SE" sz="1150" b="0" dirty="0">
                <a:solidFill>
                  <a:srgbClr val="5C6773"/>
                </a:solidFill>
              </a:rPr>
              <a:t>, </a:t>
            </a:r>
            <a:r>
              <a:rPr lang="sv-SE" sz="1150" b="0" dirty="0" err="1">
                <a:solidFill>
                  <a:srgbClr val="5C6773"/>
                </a:solidFill>
              </a:rPr>
              <a:t>one</a:t>
            </a:r>
            <a:r>
              <a:rPr lang="sv-SE" sz="1150" b="0" dirty="0">
                <a:solidFill>
                  <a:srgbClr val="5C6773"/>
                </a:solidFill>
              </a:rPr>
              <a:t> </a:t>
            </a:r>
            <a:r>
              <a:rPr lang="sv-SE" sz="1150" b="0" dirty="0" err="1">
                <a:solidFill>
                  <a:srgbClr val="5C6773"/>
                </a:solidFill>
              </a:rPr>
              <a:t>client</a:t>
            </a:r>
            <a:r>
              <a:rPr lang="sv-SE" sz="1150" b="0" dirty="0">
                <a:solidFill>
                  <a:srgbClr val="5C6773"/>
                </a:solidFill>
              </a:rPr>
              <a:t>, </a:t>
            </a:r>
            <a:r>
              <a:rPr lang="sv-SE" sz="1150" b="0" dirty="0" err="1">
                <a:solidFill>
                  <a:srgbClr val="5C6773"/>
                </a:solidFill>
              </a:rPr>
              <a:t>one</a:t>
            </a:r>
            <a:r>
              <a:rPr lang="sv-SE" sz="1150" b="0" dirty="0">
                <a:solidFill>
                  <a:srgbClr val="5C6773"/>
                </a:solidFill>
              </a:rPr>
              <a:t> AWS region, and </a:t>
            </a:r>
            <a:r>
              <a:rPr lang="sv-SE" sz="1150" b="0" dirty="0" err="1">
                <a:solidFill>
                  <a:srgbClr val="5C6773"/>
                </a:solidFill>
              </a:rPr>
              <a:t>one</a:t>
            </a:r>
            <a:r>
              <a:rPr lang="sv-SE" sz="1150" b="0" dirty="0">
                <a:solidFill>
                  <a:srgbClr val="5C6773"/>
                </a:solidFill>
              </a:rPr>
              <a:t> </a:t>
            </a:r>
            <a:r>
              <a:rPr lang="sv-SE" sz="1150" b="0" dirty="0" err="1">
                <a:solidFill>
                  <a:srgbClr val="5C6773"/>
                </a:solidFill>
              </a:rPr>
              <a:t>tested</a:t>
            </a:r>
            <a:r>
              <a:rPr lang="sv-SE" sz="1150" b="0" dirty="0">
                <a:solidFill>
                  <a:srgbClr val="5C6773"/>
                </a:solidFill>
              </a:rPr>
              <a:t> implementation.</a:t>
            </a:r>
            <a:endParaRPr sz="1150" b="0" dirty="0">
              <a:solidFill>
                <a:srgbClr val="5C6773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7392573-DCD1-8D10-44F5-7E3D86F28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4098A75-9FAA-B2C4-EE34-2A6805E37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922" y="1027906"/>
            <a:ext cx="9432236" cy="39238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>
                <a:solidFill>
                  <a:srgbClr val="22313F"/>
                </a:solidFill>
              </a:rPr>
              <a:t>Contribution, limits, and relevance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15</a:t>
            </a:r>
            <a:endParaRPr sz="950" b="0" dirty="0">
              <a:solidFill>
                <a:srgbClr val="5C6773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8D5CDB6-7D30-E547-B8A2-43E08AA4B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D87D150-4B9F-7395-8231-1E42FBC37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735" y="1690688"/>
            <a:ext cx="9710530" cy="36841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0800" tIns="25400" rIns="50800" bIns="25400" anchor="t"/>
          <a:lstStyle/>
          <a:p>
            <a:r>
              <a:rPr sz="2200" b="1">
                <a:solidFill>
                  <a:srgbClr val="22313F"/>
                </a:solidFill>
              </a:rPr>
              <a:t>Final takeaway: the best storage choice depends on access pattern</a:t>
            </a:r>
          </a:p>
        </p:txBody>
      </p:sp>
      <p:sp>
        <p:nvSpPr>
          <p:cNvPr id="3" name="slide_number_label"/>
          <p:cNvSpPr txBox="1"/>
          <p:nvPr/>
        </p:nvSpPr>
        <p:spPr>
          <a:xfrm>
            <a:off x="11411712" y="6419143"/>
            <a:ext cx="25603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sv-SE" sz="950" b="0" dirty="0">
                <a:solidFill>
                  <a:srgbClr val="5C6773"/>
                </a:solidFill>
              </a:rPr>
              <a:t>16</a:t>
            </a:r>
            <a:endParaRPr sz="950" b="0" dirty="0">
              <a:solidFill>
                <a:srgbClr val="5C677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901952"/>
            <a:ext cx="10058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20" b="1">
                <a:solidFill>
                  <a:srgbClr val="004791"/>
                </a:solidFill>
              </a:rPr>
              <a:t>Remember one decision rule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41648" y="2194560"/>
            <a:ext cx="3986784" cy="0"/>
          </a:xfrm>
          <a:prstGeom prst="line">
            <a:avLst/>
          </a:prstGeom>
          <a:ln w="19050">
            <a:solidFill>
              <a:srgbClr val="B5C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542032"/>
            <a:ext cx="100584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620" b="1">
                <a:solidFill>
                  <a:srgbClr val="C7902A"/>
                </a:solidFill>
              </a:rPr>
              <a:t>Random single-frame reads: Zarr + zstd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36976"/>
            <a:ext cx="100584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620" b="1">
                <a:solidFill>
                  <a:srgbClr val="1F3C88"/>
                </a:solidFill>
              </a:rPr>
              <a:t>Full sequential scans: TileDB + zstd/lz4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75887"/>
            <a:ext cx="10058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80" b="0">
                <a:solidFill>
                  <a:srgbClr val="5C6773"/>
                </a:solidFill>
              </a:rPr>
              <a:t>Bounded to the tested AWS/S3 setup.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4C780C-F83B-0343-E653-2A4836368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6" y="6105917"/>
            <a:ext cx="10824111" cy="322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4593</TotalTime>
  <Words>4014</Words>
  <Application>Microsoft Macintosh PowerPoint</Application>
  <PresentationFormat>Widescreen</PresentationFormat>
  <Paragraphs>456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From Experiment to Insight: A Comparative Study of Storage Approaches for Large-Scale Synchrotron and Neutron Scattering Data on AWS</vt:lpstr>
      <vt:lpstr>PowerPoint Presentation</vt:lpstr>
      <vt:lpstr>The storage problem is one dataset with two competing access patterns</vt:lpstr>
      <vt:lpstr>Research question and decision target</vt:lpstr>
      <vt:lpstr>The same detector stack becomes four different S3-facing layouts</vt:lpstr>
      <vt:lpstr>Controlled scope: what was fixed, varied, and not claimed</vt:lpstr>
      <vt:lpstr>Methods and reported metrics</vt:lpstr>
      <vt:lpstr>Winner matrix by workload and codec</vt:lpstr>
      <vt:lpstr>Random single-frame reads: Zarr wins overall; gzip is the exception</vt:lpstr>
      <vt:lpstr>Full sequential scans: TileDB wins across every tested codec</vt:lpstr>
      <vt:lpstr>Tail behavior supports the recommendation; Zarr + lz4 is the caution</vt:lpstr>
      <vt:lpstr>GET intensity helps explain latency; ROOT/TTree shows request count is not enough</vt:lpstr>
      <vt:lpstr>Negative results reveal structural limits in this setup</vt:lpstr>
      <vt:lpstr>Decision guide: choose for the dominant workload</vt:lpstr>
      <vt:lpstr>Contribution, limits, and relevance</vt:lpstr>
      <vt:lpstr>Final takeaway: the best storage choice depends on access pattern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 Söderkvist</dc:creator>
  <cp:lastModifiedBy>Casper Kristiansson</cp:lastModifiedBy>
  <cp:revision>16</cp:revision>
  <cp:lastPrinted>2026-05-25T07:23:42Z</cp:lastPrinted>
  <dcterms:created xsi:type="dcterms:W3CDTF">2019-02-12T11:55:31Z</dcterms:created>
  <dcterms:modified xsi:type="dcterms:W3CDTF">2026-05-25T12:37:58Z</dcterms:modified>
</cp:coreProperties>
</file>