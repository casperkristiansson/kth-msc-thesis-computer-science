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8" d="100"/>
          <a:sy n="128" d="100"/>
        </p:scale>
        <p:origin x="48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463381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This is not just a thesis summary.
- This is the story of a real product problem we ran into, how we investigated it properly, and what decision that gave us.
- The main point is that the thesis reduced uncertainty around a very real storage question for the company.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Most SaaS systems scale around users and traffic.
- For us, that is not the dominant problem.
- We might have a relatively small number of users and projects, but each project can contain a very large amount of uploaded and generated scientific data.
- That changes the architecture question completely. The storage model matters earlier than it does in a normal SaaS.
- For example, in the ASML case, azimuthal integration generates roughly 1.2 billion data points, and each data point needs to be easily accessible.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When we built the first version, speed of delivery and product flexibility mattered most.
- The basic idea was sound: keep the heavy files in S3, and use DynamoDB for metadata, indexing, and indirection.
- That made it possible to ship, move quickly, and support the workflows we had at the time.
- Large logical payloads that did not fit naturally into the item model were split across JSON objects when needed.
- This is not a story about a bad system. It is a story about a system that reached a different scale regime.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real issue was not just size in S3. It was fan-out in DynamoDB.
- Because of the 400 KB limit, larger logical structures had to be split into multiple JSON-backed items.
- Once a project contains hundreds of thousands of files, and each file can create multiple metadata rows, the total item count grows very quickly.
- At that point, the cost surface, the latency surface, and the operational surface all start following item count rather than logical dataset size.
- That is where the first-generation model becomes the wrong abstraction.
- This is an illustrative scale example, not an audited spend number.
- Using AWS on-demand DynamoDB Standard list pricing as of April 4, 2026, writes are about $0.625 per million write request units and strongly consistent reads are about $0.125 per million read request units.
- If we use 1 million files as the example, and assume the same fan-out pattern as this slide at roughly 4 DynamoDB items per file, that gives about 4 million items.
- Writing those 4 million items once would be roughly 4 times $0.625, so about $2.50, assuming each item is 1 KB or less and we ignore indexes, streams, and backups.
- Reading all 4 million items once would be roughly 4 times $0.125, so about $0.50 with strongly consistent reads, or about $0.25 with eventually consistent reads, assuming each item is 4 KB or less.
- So the point is not that one single sweep is catastrophic by itself. The point is that repeated reads and writes, plus latency and operational overhead, all start scaling with item count instead of logical dataset size.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that point, the question stopped being just an engineering preference.
- We needed a structured way to compare alternatives against our actual access patterns.
- The thesis became a way to turn a product architecture problem into a reproducible benchmark.
- So the value to the company was not just the report itself. It was the decision support that came out of it.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Selection logic
- I was not looking for one storage format in the abstract.
- I wanted candidates that represented genuinely different ways of laying out dense scientific data on object storage.
HDF5 / HSDS
- HDF5 is the traditional scientific reference format, so it was important to include.
- HSDS adds a service layer on top of object storage so HDF5-style access can work in an S3-oriented setup.
- This gave us the industry-standard comparison point many people would expect us to benchmark.
Zarr
- Zarr stores chunked arrays directly as objects, which maps naturally to S3-style storage.
- It has a strong Python and data-science ecosystem, so it is easy to integrate into modern analysis workflows.
- That made it a very relevant product candidate, not just an academic comparison point.
TileDB
- TileDB uses a dense array model with a fragment-based layout.
- The fragment idea matters because writes and updates can be represented as fragments instead of forcing one monolithic object layout.
- That made TileDB interesting both from a performance perspective and from a future workflow perspective.
ROOT / TTree
- ROOT comes from scientific and high-energy physics workflows.
- It gives a very different single-object, range-read oriented access model compared with chunk-per-object approaches.
- It was useful mainly as a contrasting design point in the benchmark.
Parquet
- Parquet was piloted because it is common in data engineering and analytics systems.
- In this setup the single-object path was not practical enough to keep in the timed benchmark.</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setup
- The setup was intentionally simple.
- One dense detector stack, one AWS environment, and two read patterns that map well to our product reality.
- The point was not to benchmark every possible cloud scenario. The point was to compare formats fairly against the tradeoff we actually care about.
Dataset
- The benchmark used one logical detector array of roughly 20 GiB uncompressed payload.
- That corresponds to 1296 frames, so about 1300 frames in round numbers.
- A random single-frame read therefore represents a realistic interactive access unit rather than a toy example.
Environment
- Storage was on AWS S3, and the benchmark client ran on EC2 in the same AWS region.
- We kept the environment consistent across all tested backends so the main variable was the storage layout, not changing infrastructure.
Workloads
- The first workload was random single-frame reads, which stands in for interactive inspection and product-style access.
- The second workload was full sequential scans, which stands in for batch processing and pipeline-style execution.
- Those two patterns capture the tension we actually have: responsiveness for users versus efficient large-scale processing.
Compression
- Each timed backend was also tested with three codec families: gzip, lz4, and zstd.
- That matters because the storage layout and the compression choice interact, so this was not only a format benchmark.
Metrics
- Latency tells us how responsive the interactive case feels.
- Throughput tells us how efficiently we can move through the full dataset.
- GET intensity and stored size give cost posture and help explain why some layouts behave differently.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result
- For the interactive case, Zarr was the strongest result overall.
- The best combination in this benchmark was Zarr plus zstd at roughly 155 milliseconds geometric-mean latency.
- Across tested configurations, the spread in interactive latency was material, about 2.6 times from best to worst.
Why it matters
- This matters because a product like ours often feels good or bad based on these small reads, not on theoretical maximum throughput.
- If the UI is waiting on frame-level access, this result matters more than who wins the full-scan benchmark.
Important caveat
- There was one clear exception: if gzip is a hard requirement, TileDB performed better for interactive reads.
- So the thesis did not say that Zarr is universally best. It said Zarr is the best fit for the latency-first path we care most about.
Supporting detail
- ROOT should be avoided for frame-random reads in this testbed because few GETs did not translate into low latency.
- The chart on the slide shows only the slice-latency half of the full comparison figure to keep the message focused.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result
- If full-scan throughput is the main objective, TileDB was clearly the winner in this benchmark.
- Across codecs, TileDB completed the same logical dataset about 2.2 to 3.2 times faster than Zarr.
- Under zstd, TileDB completed the full scan in about 10.4 seconds, or about 1.06 GiB per second, versus Zarr at about 30.4 seconds and 0.35 GiB per second.
Honest interpretation
- This is important because the thesis did not say Zarr is best at everything.
- It showed that different layouts win for different workloads, which is exactly the kind of evidence we needed internally.
Cost posture
- I call this cost posture rather than exact cost because these are engineering cost drivers, not invoice totals.
- For full scans in this dataset, request intensity varied by about 3 times across layouts, and stored footprint varied by up to about 1.8 times.
- That means storage layout and codec choice affect not only speed, but also how expensive the workflow is likely to feel at scale.
Mechanism
- Layout drives GET behavior, which is why GETs per GiB move mainly with format.
- Codec choice mainly affects stored bytes, which is why zstd and gzip stay compact while lz4 tends to expand stored size.
- ROOT is a useful counterexample: it keeps GET counts low, but it still performs poorly, so few requests do not automatically mean fast reads.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slide exists
- I wanted a dedicated HDF5 slide because that is the format people expect to matter in this domain.
- If I skip this clarification, it is easy for people to hear the benchmark and overgeneralize the conclusion.
What the thesis did say
- HDF5 is still a major industry reference point and an important scientific standard.
- The narrower benchmark conclusion is that HDF5 via HSDS, in this S3-native path, was not the strongest fit for our workload.
- In the benchmark summary, HDF5 or HSDS trailed on slice latency and full-scan throughput, and under lz4 it was also notably storage-heavy compared with Zarr.
What the thesis did not say
- It did not say that HDF5 is irrelevant or obsolete.
- It did not say that native HDF5 on fast local or block-backed storage would perform the same way as HSDS on S3.
Why the distinction matters
- HDF5 on NVMe, EBS, or another high-IOPS block path is a different infrastructure question entirely.
- That future comparison is actually called out in the thesis as a useful next step, because it would separate format behavior from infrastructure effects.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
- This is probably the most important slide in the whole presentation.
- The benchmark winner depends on what you optimize for, and that is exactly why the product decision is not trivial.
Why TileDB matters
- If I only cared about full-scan throughput, TileDB would be very hard to argue against.
- The thesis showed clearly that TileDB dominated the throughput-first path across codecs.
Why we still chose Zarr
- For the product we are building, Zarr was the better overall choice.
- It aligned better with latency-first access, which is closer to how users actually experience the product.
- It also felt more established and more widely used in the surrounding ecosystem, gave us a more direct S3-oriented model, and felt simpler operationally for how the SaaS platform should evolve.
Why the thesis paid off
- This is exactly where the thesis created company value.
- It let us make a product decision with evidence instead of preference, and it made the trade-off explicit instead of hand-wavy.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unlocked
- This is the architectural direction the thesis helps unlock.
- The storage question stops being only about format choice and becomes a cleaner platform design question.
Current pain
- Today, if a user reruns only part of a large generated dataset, we get awkward questions around sorting, merging, and identity.
- For example, if azimuthal integration generates 250 thousand files and the user reruns only part of them, a storage format alone is not enough to solve the bookkeeping.
Proposed structure
- The cleaner design is to let storage be append-oriented, and let a separate manifest or index layer handle logical order, stable IDs, merge state, and batch tracking.
- That means Zarr stores can stay append-only, while the manifest layer becomes the place where we resolve the logical view the user sees.
Why it matters
- We stop forcing the physical layout to also be our business logic.
- That should make partial reruns, merges, and future query behavior much easier to manage without fighting the storage format itself.</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message
- The first-generation architecture did its job. It helped us build and ship.
- The thesis mattered because it gave us a structured answer once the storage question became strategic.
- And the real output is not just a document. It is a better-founded direction for how the platform should evolve from here.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1E8"/>
        </a:solidFill>
        <a:effectLst/>
      </p:bgPr>
    </p:bg>
    <p:spTree>
      <p:nvGrpSpPr>
        <p:cNvPr id="1" name=""/>
        <p:cNvGrpSpPr/>
        <p:nvPr/>
      </p:nvGrpSpPr>
      <p:grpSpPr>
        <a:xfrm>
          <a:off x="0" y="0"/>
          <a:ext cx="0" cy="0"/>
          <a:chOff x="0" y="0"/>
          <a:chExt cx="0" cy="0"/>
        </a:xfrm>
      </p:grpSpPr>
      <p:sp>
        <p:nvSpPr>
          <p:cNvPr id="2" name="Text 0"/>
          <p:cNvSpPr/>
          <p:nvPr/>
        </p:nvSpPr>
        <p:spPr>
          <a:xfrm>
            <a:off x="868680" y="658368"/>
            <a:ext cx="3108960" cy="133350"/>
          </a:xfrm>
          <a:prstGeom prst="rect">
            <a:avLst/>
          </a:prstGeom>
          <a:noFill/>
          <a:ln/>
        </p:spPr>
        <p:txBody>
          <a:bodyPr wrap="square" lIns="0" tIns="0" rIns="0" bIns="0" rtlCol="0" anchor="ctr"/>
          <a:lstStyle/>
          <a:p>
            <a:pPr marL="0" indent="0">
              <a:buNone/>
            </a:pPr>
            <a:r>
              <a:rPr lang="en-US" sz="1050" b="1" dirty="0">
                <a:solidFill>
                  <a:srgbClr val="B8874F"/>
                </a:solidFill>
                <a:latin typeface="Helvetica Neue" pitchFamily="34" charset="0"/>
                <a:ea typeface="Helvetica Neue" pitchFamily="34" charset="-122"/>
                <a:cs typeface="Helvetica Neue" pitchFamily="34" charset="-120"/>
              </a:rPr>
              <a:t>INTERNAL PRESENTATION</a:t>
            </a:r>
            <a:endParaRPr lang="en-US" sz="1050" dirty="0"/>
          </a:p>
        </p:txBody>
      </p:sp>
      <p:sp>
        <p:nvSpPr>
          <p:cNvPr id="3" name="Shape 1"/>
          <p:cNvSpPr/>
          <p:nvPr/>
        </p:nvSpPr>
        <p:spPr>
          <a:xfrm>
            <a:off x="868680" y="978408"/>
            <a:ext cx="1051560" cy="0"/>
          </a:xfrm>
          <a:prstGeom prst="line">
            <a:avLst/>
          </a:prstGeom>
          <a:noFill/>
          <a:ln w="12700">
            <a:solidFill>
              <a:srgbClr val="B8874F"/>
            </a:solidFill>
            <a:prstDash val="solid"/>
          </a:ln>
        </p:spPr>
        <p:txBody>
          <a:bodyPr/>
          <a:lstStyle/>
          <a:p>
            <a:endParaRPr lang="en-US"/>
          </a:p>
        </p:txBody>
      </p:sp>
      <p:sp>
        <p:nvSpPr>
          <p:cNvPr id="4" name="Text 2"/>
          <p:cNvSpPr/>
          <p:nvPr/>
        </p:nvSpPr>
        <p:spPr>
          <a:xfrm>
            <a:off x="868680" y="1152144"/>
            <a:ext cx="5440680" cy="1737360"/>
          </a:xfrm>
          <a:prstGeom prst="rect">
            <a:avLst/>
          </a:prstGeom>
          <a:noFill/>
          <a:ln/>
        </p:spPr>
        <p:txBody>
          <a:bodyPr wrap="square" lIns="0" tIns="0" rIns="0" bIns="0" rtlCol="0" anchor="ctr">
            <a:normAutofit/>
          </a:bodyPr>
          <a:lstStyle/>
          <a:p>
            <a:pPr marL="0" indent="0">
              <a:buNone/>
            </a:pPr>
            <a:r>
              <a:rPr lang="en-US" sz="3097" b="1" dirty="0">
                <a:solidFill>
                  <a:srgbClr val="22313B"/>
                </a:solidFill>
                <a:latin typeface="Georgia" pitchFamily="34" charset="0"/>
                <a:ea typeface="Georgia" pitchFamily="34" charset="-122"/>
                <a:cs typeface="Georgia" pitchFamily="34" charset="-120"/>
              </a:rPr>
              <a:t>From Experiment</a:t>
            </a:r>
            <a:endParaRPr lang="en-US" sz="3097" dirty="0"/>
          </a:p>
          <a:p>
            <a:pPr marL="0" indent="0">
              <a:buNone/>
            </a:pPr>
            <a:r>
              <a:rPr lang="en-US" sz="3097" b="1" dirty="0">
                <a:solidFill>
                  <a:srgbClr val="22313B"/>
                </a:solidFill>
                <a:latin typeface="Georgia" pitchFamily="34" charset="0"/>
                <a:ea typeface="Georgia" pitchFamily="34" charset="-122"/>
                <a:cs typeface="Georgia" pitchFamily="34" charset="-120"/>
              </a:rPr>
              <a:t>to Insight</a:t>
            </a:r>
            <a:endParaRPr lang="en-US" sz="3097" dirty="0"/>
          </a:p>
        </p:txBody>
      </p:sp>
      <p:sp>
        <p:nvSpPr>
          <p:cNvPr id="5" name="Text 3"/>
          <p:cNvSpPr/>
          <p:nvPr/>
        </p:nvSpPr>
        <p:spPr>
          <a:xfrm>
            <a:off x="868680" y="2971800"/>
            <a:ext cx="5074920" cy="555244"/>
          </a:xfrm>
          <a:prstGeom prst="rect">
            <a:avLst/>
          </a:prstGeom>
          <a:noFill/>
          <a:ln/>
        </p:spPr>
        <p:txBody>
          <a:bodyPr wrap="square" lIns="0" tIns="0" rIns="0" bIns="0" rtlCol="0" anchor="t">
            <a:normAutofit/>
          </a:bodyPr>
          <a:lstStyle/>
          <a:p>
            <a:pPr marL="0" indent="0">
              <a:buNone/>
            </a:pPr>
            <a:r>
              <a:rPr lang="en-US" sz="1700" dirty="0">
                <a:solidFill>
                  <a:srgbClr val="53626C"/>
                </a:solidFill>
                <a:latin typeface="Helvetica Neue" pitchFamily="34" charset="0"/>
                <a:ea typeface="Helvetica Neue" pitchFamily="34" charset="-122"/>
                <a:cs typeface="Helvetica Neue" pitchFamily="34" charset="-120"/>
              </a:rPr>
              <a:t>How we de-risked the next generation</a:t>
            </a:r>
            <a:endParaRPr lang="en-US" sz="1700" dirty="0"/>
          </a:p>
          <a:p>
            <a:pPr marL="0" indent="0">
              <a:buNone/>
            </a:pPr>
            <a:r>
              <a:rPr lang="en-US" sz="1700" dirty="0">
                <a:solidFill>
                  <a:srgbClr val="53626C"/>
                </a:solidFill>
                <a:latin typeface="Helvetica Neue" pitchFamily="34" charset="0"/>
                <a:ea typeface="Helvetica Neue" pitchFamily="34" charset="-122"/>
                <a:cs typeface="Helvetica Neue" pitchFamily="34" charset="-120"/>
              </a:rPr>
              <a:t>of Scatterin's data platform</a:t>
            </a:r>
            <a:endParaRPr lang="en-US" sz="1700" dirty="0"/>
          </a:p>
        </p:txBody>
      </p:sp>
      <p:sp>
        <p:nvSpPr>
          <p:cNvPr id="6" name="Shape 4"/>
          <p:cNvSpPr/>
          <p:nvPr/>
        </p:nvSpPr>
        <p:spPr>
          <a:xfrm>
            <a:off x="6995160" y="804672"/>
            <a:ext cx="4160520" cy="5285232"/>
          </a:xfrm>
          <a:prstGeom prst="roundRect">
            <a:avLst>
              <a:gd name="adj" fmla="val 1758"/>
            </a:avLst>
          </a:prstGeom>
          <a:solidFill>
            <a:srgbClr val="FBF7F1"/>
          </a:solidFill>
          <a:ln w="12700">
            <a:solidFill>
              <a:srgbClr val="D9CCBC"/>
            </a:solidFill>
            <a:prstDash val="solid"/>
          </a:ln>
        </p:spPr>
        <p:txBody>
          <a:bodyPr/>
          <a:lstStyle/>
          <a:p>
            <a:endParaRPr lang="en-US"/>
          </a:p>
        </p:txBody>
      </p:sp>
      <p:sp>
        <p:nvSpPr>
          <p:cNvPr id="7" name="Shape 5"/>
          <p:cNvSpPr/>
          <p:nvPr/>
        </p:nvSpPr>
        <p:spPr>
          <a:xfrm>
            <a:off x="10222992" y="1389888"/>
            <a:ext cx="0" cy="3611880"/>
          </a:xfrm>
          <a:prstGeom prst="line">
            <a:avLst/>
          </a:prstGeom>
          <a:noFill/>
          <a:ln w="12700">
            <a:solidFill>
              <a:srgbClr val="C6B29A"/>
            </a:solidFill>
            <a:prstDash val="solid"/>
          </a:ln>
        </p:spPr>
        <p:txBody>
          <a:bodyPr/>
          <a:lstStyle/>
          <a:p>
            <a:endParaRPr lang="en-US"/>
          </a:p>
        </p:txBody>
      </p:sp>
      <p:sp>
        <p:nvSpPr>
          <p:cNvPr id="8" name="Shape 6"/>
          <p:cNvSpPr/>
          <p:nvPr/>
        </p:nvSpPr>
        <p:spPr>
          <a:xfrm>
            <a:off x="7516368" y="1371600"/>
            <a:ext cx="2423160" cy="512064"/>
          </a:xfrm>
          <a:prstGeom prst="roundRect">
            <a:avLst>
              <a:gd name="adj" fmla="val 14286"/>
            </a:avLst>
          </a:prstGeom>
          <a:solidFill>
            <a:srgbClr val="D7E3EB"/>
          </a:solidFill>
          <a:ln w="12700">
            <a:solidFill>
              <a:srgbClr val="D7E3EB">
                <a:alpha val="0"/>
              </a:srgbClr>
            </a:solidFill>
            <a:prstDash val="solid"/>
          </a:ln>
        </p:spPr>
        <p:txBody>
          <a:bodyPr/>
          <a:lstStyle/>
          <a:p>
            <a:endParaRPr lang="en-US"/>
          </a:p>
        </p:txBody>
      </p:sp>
      <p:sp>
        <p:nvSpPr>
          <p:cNvPr id="9" name="Shape 7"/>
          <p:cNvSpPr/>
          <p:nvPr/>
        </p:nvSpPr>
        <p:spPr>
          <a:xfrm>
            <a:off x="8028432" y="2084832"/>
            <a:ext cx="2542032" cy="621792"/>
          </a:xfrm>
          <a:prstGeom prst="roundRect">
            <a:avLst>
              <a:gd name="adj" fmla="val 11765"/>
            </a:avLst>
          </a:prstGeom>
          <a:solidFill>
            <a:srgbClr val="E6D6C4"/>
          </a:solidFill>
          <a:ln w="12700">
            <a:solidFill>
              <a:srgbClr val="E6D6C4">
                <a:alpha val="0"/>
              </a:srgbClr>
            </a:solidFill>
            <a:prstDash val="solid"/>
          </a:ln>
        </p:spPr>
        <p:txBody>
          <a:bodyPr/>
          <a:lstStyle/>
          <a:p>
            <a:endParaRPr lang="en-US"/>
          </a:p>
        </p:txBody>
      </p:sp>
      <p:sp>
        <p:nvSpPr>
          <p:cNvPr id="10" name="Shape 8"/>
          <p:cNvSpPr/>
          <p:nvPr/>
        </p:nvSpPr>
        <p:spPr>
          <a:xfrm>
            <a:off x="7388352" y="2999232"/>
            <a:ext cx="3127248" cy="749808"/>
          </a:xfrm>
          <a:prstGeom prst="roundRect">
            <a:avLst>
              <a:gd name="adj" fmla="val 9756"/>
            </a:avLst>
          </a:prstGeom>
          <a:solidFill>
            <a:srgbClr val="B9CAD7"/>
          </a:solidFill>
          <a:ln w="12700">
            <a:solidFill>
              <a:srgbClr val="B9CAD7">
                <a:alpha val="0"/>
              </a:srgbClr>
            </a:solidFill>
            <a:prstDash val="solid"/>
          </a:ln>
        </p:spPr>
        <p:txBody>
          <a:bodyPr/>
          <a:lstStyle/>
          <a:p>
            <a:endParaRPr lang="en-US"/>
          </a:p>
        </p:txBody>
      </p:sp>
      <p:sp>
        <p:nvSpPr>
          <p:cNvPr id="11" name="Shape 9"/>
          <p:cNvSpPr/>
          <p:nvPr/>
        </p:nvSpPr>
        <p:spPr>
          <a:xfrm>
            <a:off x="7882128" y="4078224"/>
            <a:ext cx="2359152" cy="512064"/>
          </a:xfrm>
          <a:prstGeom prst="roundRect">
            <a:avLst>
              <a:gd name="adj" fmla="val 14286"/>
            </a:avLst>
          </a:prstGeom>
          <a:solidFill>
            <a:srgbClr val="E6D6C4"/>
          </a:solidFill>
          <a:ln w="12700">
            <a:solidFill>
              <a:srgbClr val="E6D6C4">
                <a:alpha val="0"/>
              </a:srgbClr>
            </a:solidFill>
            <a:prstDash val="solid"/>
          </a:ln>
        </p:spPr>
        <p:txBody>
          <a:bodyPr/>
          <a:lstStyle/>
          <a:p>
            <a:endParaRPr lang="en-US"/>
          </a:p>
        </p:txBody>
      </p:sp>
      <p:sp>
        <p:nvSpPr>
          <p:cNvPr id="12" name="Shape 10"/>
          <p:cNvSpPr/>
          <p:nvPr/>
        </p:nvSpPr>
        <p:spPr>
          <a:xfrm>
            <a:off x="10058400" y="1143000"/>
            <a:ext cx="292608" cy="292608"/>
          </a:xfrm>
          <a:prstGeom prst="ellipse">
            <a:avLst/>
          </a:prstGeom>
          <a:solidFill>
            <a:srgbClr val="B8874F"/>
          </a:solidFill>
          <a:ln w="12700">
            <a:solidFill>
              <a:srgbClr val="B8874F">
                <a:alpha val="0"/>
              </a:srgbClr>
            </a:solidFill>
            <a:prstDash val="solid"/>
          </a:ln>
        </p:spPr>
        <p:txBody>
          <a:bodyPr/>
          <a:lstStyle/>
          <a:p>
            <a:endParaRPr lang="en-US"/>
          </a:p>
        </p:txBody>
      </p:sp>
      <p:sp>
        <p:nvSpPr>
          <p:cNvPr id="13" name="Shape 11"/>
          <p:cNvSpPr/>
          <p:nvPr/>
        </p:nvSpPr>
        <p:spPr>
          <a:xfrm>
            <a:off x="10661904" y="2834640"/>
            <a:ext cx="384048" cy="384048"/>
          </a:xfrm>
          <a:prstGeom prst="ellipse">
            <a:avLst/>
          </a:prstGeom>
          <a:solidFill>
            <a:srgbClr val="22313B"/>
          </a:solidFill>
          <a:ln w="12700">
            <a:solidFill>
              <a:srgbClr val="22313B">
                <a:alpha val="0"/>
              </a:srgbClr>
            </a:solidFill>
            <a:prstDash val="solid"/>
          </a:ln>
        </p:spPr>
        <p:txBody>
          <a:bodyPr/>
          <a:lstStyle/>
          <a:p>
            <a:endParaRPr lang="en-US"/>
          </a:p>
        </p:txBody>
      </p:sp>
      <p:sp>
        <p:nvSpPr>
          <p:cNvPr id="14" name="Shape 12"/>
          <p:cNvSpPr/>
          <p:nvPr/>
        </p:nvSpPr>
        <p:spPr>
          <a:xfrm>
            <a:off x="10058400" y="4773168"/>
            <a:ext cx="237744" cy="237744"/>
          </a:xfrm>
          <a:prstGeom prst="ellipse">
            <a:avLst/>
          </a:prstGeom>
          <a:solidFill>
            <a:srgbClr val="B8874F"/>
          </a:solidFill>
          <a:ln w="12700">
            <a:solidFill>
              <a:srgbClr val="B8874F">
                <a:alpha val="0"/>
              </a:srgbClr>
            </a:solidFill>
            <a:prstDash val="solid"/>
          </a:ln>
        </p:spPr>
        <p:txBody>
          <a:bodyPr/>
          <a:lstStyle/>
          <a:p>
            <a:endParaRPr lang="en-US"/>
          </a:p>
        </p:txBody>
      </p:sp>
      <p:sp>
        <p:nvSpPr>
          <p:cNvPr id="15" name="Shape 13"/>
          <p:cNvSpPr/>
          <p:nvPr/>
        </p:nvSpPr>
        <p:spPr>
          <a:xfrm>
            <a:off x="6565392" y="868680"/>
            <a:ext cx="0" cy="5074920"/>
          </a:xfrm>
          <a:prstGeom prst="line">
            <a:avLst/>
          </a:prstGeom>
          <a:noFill/>
          <a:ln w="12700">
            <a:solidFill>
              <a:srgbClr val="D9CCBC">
                <a:alpha val="95000"/>
              </a:srgbClr>
            </a:solidFill>
            <a:prstDash val="solid"/>
          </a:ln>
        </p:spPr>
        <p:txBody>
          <a:bodyPr/>
          <a:lstStyle/>
          <a:p>
            <a:endParaRPr lang="en-US"/>
          </a:p>
        </p:txBody>
      </p:sp>
      <p:sp>
        <p:nvSpPr>
          <p:cNvPr id="16" name="Shape 14"/>
          <p:cNvSpPr/>
          <p:nvPr/>
        </p:nvSpPr>
        <p:spPr>
          <a:xfrm>
            <a:off x="868680" y="5650992"/>
            <a:ext cx="1572768" cy="384048"/>
          </a:xfrm>
          <a:prstGeom prst="roundRect">
            <a:avLst>
              <a:gd name="adj" fmla="val 14286"/>
            </a:avLst>
          </a:prstGeom>
          <a:solidFill>
            <a:srgbClr val="F2E9DE"/>
          </a:solidFill>
          <a:ln w="12700">
            <a:solidFill>
              <a:srgbClr val="D9CCBC"/>
            </a:solidFill>
            <a:prstDash val="solid"/>
          </a:ln>
        </p:spPr>
        <p:txBody>
          <a:bodyPr/>
          <a:lstStyle/>
          <a:p>
            <a:endParaRPr lang="en-US"/>
          </a:p>
        </p:txBody>
      </p:sp>
      <p:sp>
        <p:nvSpPr>
          <p:cNvPr id="17" name="Text 15"/>
          <p:cNvSpPr/>
          <p:nvPr/>
        </p:nvSpPr>
        <p:spPr>
          <a:xfrm>
            <a:off x="868680" y="5733288"/>
            <a:ext cx="1572768" cy="219456"/>
          </a:xfrm>
          <a:prstGeom prst="rect">
            <a:avLst/>
          </a:prstGeom>
          <a:noFill/>
          <a:ln/>
        </p:spPr>
        <p:txBody>
          <a:bodyPr wrap="square" lIns="0" tIns="0" rIns="0" bIns="0" rtlCol="0" anchor="ctr"/>
          <a:lstStyle/>
          <a:p>
            <a:pPr marL="0" indent="0" algn="ctr">
              <a:buNone/>
            </a:pPr>
            <a:r>
              <a:rPr lang="en-US" sz="1050" dirty="0">
                <a:solidFill>
                  <a:srgbClr val="53626C"/>
                </a:solidFill>
                <a:latin typeface="Helvetica Neue" pitchFamily="34" charset="0"/>
                <a:ea typeface="Helvetica Neue" pitchFamily="34" charset="-122"/>
                <a:cs typeface="Helvetica Neue" pitchFamily="34" charset="-120"/>
              </a:rPr>
              <a:t>Casper Ove Kristiansson</a:t>
            </a:r>
            <a:endParaRPr lang="en-US" sz="1050" dirty="0"/>
          </a:p>
        </p:txBody>
      </p:sp>
      <p:sp>
        <p:nvSpPr>
          <p:cNvPr id="18" name="Shape 16"/>
          <p:cNvSpPr/>
          <p:nvPr/>
        </p:nvSpPr>
        <p:spPr>
          <a:xfrm>
            <a:off x="2578608" y="5650992"/>
            <a:ext cx="1572768" cy="384048"/>
          </a:xfrm>
          <a:prstGeom prst="roundRect">
            <a:avLst>
              <a:gd name="adj" fmla="val 14286"/>
            </a:avLst>
          </a:prstGeom>
          <a:solidFill>
            <a:srgbClr val="F2E9DE"/>
          </a:solidFill>
          <a:ln w="12700">
            <a:solidFill>
              <a:srgbClr val="D9CCBC"/>
            </a:solidFill>
            <a:prstDash val="solid"/>
          </a:ln>
        </p:spPr>
        <p:txBody>
          <a:bodyPr/>
          <a:lstStyle/>
          <a:p>
            <a:endParaRPr lang="en-US"/>
          </a:p>
        </p:txBody>
      </p:sp>
      <p:sp>
        <p:nvSpPr>
          <p:cNvPr id="19" name="Text 17"/>
          <p:cNvSpPr/>
          <p:nvPr/>
        </p:nvSpPr>
        <p:spPr>
          <a:xfrm>
            <a:off x="2578608" y="5733288"/>
            <a:ext cx="1572768" cy="219456"/>
          </a:xfrm>
          <a:prstGeom prst="rect">
            <a:avLst/>
          </a:prstGeom>
          <a:noFill/>
          <a:ln/>
        </p:spPr>
        <p:txBody>
          <a:bodyPr wrap="square" lIns="0" tIns="0" rIns="0" bIns="0" rtlCol="0" anchor="ctr"/>
          <a:lstStyle/>
          <a:p>
            <a:pPr marL="0" indent="0" algn="ctr">
              <a:buNone/>
            </a:pPr>
            <a:r>
              <a:rPr lang="en-US" sz="1050" dirty="0">
                <a:solidFill>
                  <a:srgbClr val="53626C"/>
                </a:solidFill>
                <a:latin typeface="Helvetica Neue" pitchFamily="34" charset="0"/>
                <a:ea typeface="Helvetica Neue" pitchFamily="34" charset="-122"/>
                <a:cs typeface="Helvetica Neue" pitchFamily="34" charset="-120"/>
              </a:rPr>
              <a:t>Internal presentation</a:t>
            </a:r>
            <a:endParaRPr lang="en-US" sz="1050" dirty="0"/>
          </a:p>
        </p:txBody>
      </p:sp>
      <p:sp>
        <p:nvSpPr>
          <p:cNvPr id="20" name="Shape 18"/>
          <p:cNvSpPr/>
          <p:nvPr/>
        </p:nvSpPr>
        <p:spPr>
          <a:xfrm>
            <a:off x="4288536" y="5650992"/>
            <a:ext cx="1078992" cy="384048"/>
          </a:xfrm>
          <a:prstGeom prst="roundRect">
            <a:avLst>
              <a:gd name="adj" fmla="val 14286"/>
            </a:avLst>
          </a:prstGeom>
          <a:solidFill>
            <a:srgbClr val="F2E9DE"/>
          </a:solidFill>
          <a:ln w="12700">
            <a:solidFill>
              <a:srgbClr val="D9CCBC"/>
            </a:solidFill>
            <a:prstDash val="solid"/>
          </a:ln>
        </p:spPr>
        <p:txBody>
          <a:bodyPr/>
          <a:lstStyle/>
          <a:p>
            <a:endParaRPr lang="en-US"/>
          </a:p>
        </p:txBody>
      </p:sp>
      <p:sp>
        <p:nvSpPr>
          <p:cNvPr id="21" name="Text 19"/>
          <p:cNvSpPr/>
          <p:nvPr/>
        </p:nvSpPr>
        <p:spPr>
          <a:xfrm>
            <a:off x="4288536" y="5733288"/>
            <a:ext cx="1078992" cy="219456"/>
          </a:xfrm>
          <a:prstGeom prst="rect">
            <a:avLst/>
          </a:prstGeom>
          <a:noFill/>
          <a:ln/>
        </p:spPr>
        <p:txBody>
          <a:bodyPr wrap="square" lIns="0" tIns="0" rIns="0" bIns="0" rtlCol="0" anchor="ctr"/>
          <a:lstStyle/>
          <a:p>
            <a:pPr marL="0" indent="0" algn="ctr">
              <a:buNone/>
            </a:pPr>
            <a:r>
              <a:rPr lang="en-US" sz="1050" dirty="0">
                <a:solidFill>
                  <a:srgbClr val="53626C"/>
                </a:solidFill>
                <a:latin typeface="Helvetica Neue" pitchFamily="34" charset="0"/>
                <a:ea typeface="Helvetica Neue" pitchFamily="34" charset="-122"/>
                <a:cs typeface="Helvetica Neue" pitchFamily="34" charset="-120"/>
              </a:rPr>
              <a:t>Scatterin AB</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1E8"/>
        </a:solidFill>
        <a:effectLst/>
      </p:bgPr>
    </p:bg>
    <p:spTree>
      <p:nvGrpSpPr>
        <p:cNvPr id="1" name=""/>
        <p:cNvGrpSpPr/>
        <p:nvPr/>
      </p:nvGrpSpPr>
      <p:grpSpPr>
        <a:xfrm>
          <a:off x="0" y="0"/>
          <a:ext cx="0" cy="0"/>
          <a:chOff x="0" y="0"/>
          <a:chExt cx="0" cy="0"/>
        </a:xfrm>
      </p:grpSpPr>
      <p:sp>
        <p:nvSpPr>
          <p:cNvPr id="2" name="Text 0"/>
          <p:cNvSpPr/>
          <p:nvPr/>
        </p:nvSpPr>
        <p:spPr>
          <a:xfrm>
            <a:off x="868680" y="502920"/>
            <a:ext cx="2103120" cy="133350"/>
          </a:xfrm>
          <a:prstGeom prst="rect">
            <a:avLst/>
          </a:prstGeom>
          <a:noFill/>
          <a:ln/>
        </p:spPr>
        <p:txBody>
          <a:bodyPr wrap="square" lIns="0" tIns="0" rIns="0" bIns="0" rtlCol="0" anchor="ctr"/>
          <a:lstStyle/>
          <a:p>
            <a:pPr marL="0" indent="0">
              <a:buNone/>
            </a:pPr>
            <a:r>
              <a:rPr lang="en-US" sz="1050" b="1" dirty="0">
                <a:solidFill>
                  <a:srgbClr val="B8874F"/>
                </a:solidFill>
                <a:latin typeface="Helvetica Neue" pitchFamily="34" charset="0"/>
                <a:ea typeface="Helvetica Neue" pitchFamily="34" charset="-122"/>
                <a:cs typeface="Helvetica Neue" pitchFamily="34" charset="-120"/>
              </a:rPr>
              <a:t>SYSTEM SHAPE</a:t>
            </a:r>
            <a:endParaRPr lang="en-US" sz="1050" dirty="0"/>
          </a:p>
        </p:txBody>
      </p:sp>
      <p:sp>
        <p:nvSpPr>
          <p:cNvPr id="3" name="Shape 1"/>
          <p:cNvSpPr/>
          <p:nvPr/>
        </p:nvSpPr>
        <p:spPr>
          <a:xfrm>
            <a:off x="868680" y="822960"/>
            <a:ext cx="960120" cy="0"/>
          </a:xfrm>
          <a:prstGeom prst="line">
            <a:avLst/>
          </a:prstGeom>
          <a:noFill/>
          <a:ln w="12700">
            <a:solidFill>
              <a:srgbClr val="B8874F"/>
            </a:solidFill>
            <a:prstDash val="solid"/>
          </a:ln>
        </p:spPr>
        <p:txBody>
          <a:bodyPr/>
          <a:lstStyle/>
          <a:p>
            <a:endParaRPr lang="en-US"/>
          </a:p>
        </p:txBody>
      </p:sp>
      <p:sp>
        <p:nvSpPr>
          <p:cNvPr id="4" name="Text 2"/>
          <p:cNvSpPr/>
          <p:nvPr/>
        </p:nvSpPr>
        <p:spPr>
          <a:xfrm>
            <a:off x="868680" y="1024128"/>
            <a:ext cx="6217920" cy="658368"/>
          </a:xfrm>
          <a:prstGeom prst="rect">
            <a:avLst/>
          </a:prstGeom>
          <a:noFill/>
          <a:ln/>
        </p:spPr>
        <p:txBody>
          <a:bodyPr wrap="square" lIns="0" tIns="0" rIns="0" bIns="0" rtlCol="0" anchor="ctr">
            <a:normAutofit/>
          </a:bodyPr>
          <a:lstStyle/>
          <a:p>
            <a:pPr marL="0" indent="0">
              <a:buNone/>
            </a:pPr>
            <a:r>
              <a:rPr lang="en-US" sz="2496" b="1" dirty="0">
                <a:solidFill>
                  <a:srgbClr val="22313B"/>
                </a:solidFill>
                <a:latin typeface="Georgia" pitchFamily="34" charset="0"/>
                <a:ea typeface="Georgia" pitchFamily="34" charset="-122"/>
                <a:cs typeface="Georgia" pitchFamily="34" charset="-120"/>
              </a:rPr>
              <a:t>Our SaaS shape is unusual</a:t>
            </a:r>
            <a:endParaRPr lang="en-US" sz="2496" dirty="0"/>
          </a:p>
        </p:txBody>
      </p:sp>
      <p:sp>
        <p:nvSpPr>
          <p:cNvPr id="5" name="Text 3"/>
          <p:cNvSpPr/>
          <p:nvPr/>
        </p:nvSpPr>
        <p:spPr>
          <a:xfrm>
            <a:off x="868680" y="1700784"/>
            <a:ext cx="6035040" cy="384048"/>
          </a:xfrm>
          <a:prstGeom prst="rect">
            <a:avLst/>
          </a:prstGeom>
          <a:noFill/>
          <a:ln/>
        </p:spPr>
        <p:txBody>
          <a:bodyPr wrap="square" lIns="0" tIns="0" rIns="0" bIns="0" rtlCol="0" anchor="ctr"/>
          <a:lstStyle/>
          <a:p>
            <a:pPr marL="0" indent="0">
              <a:buNone/>
            </a:pPr>
            <a:r>
              <a:rPr lang="en-US" sz="1450" dirty="0">
                <a:solidFill>
                  <a:srgbClr val="53626C"/>
                </a:solidFill>
                <a:latin typeface="Helvetica Neue" pitchFamily="34" charset="0"/>
                <a:ea typeface="Helvetica Neue" pitchFamily="34" charset="-122"/>
                <a:cs typeface="Helvetica Neue" pitchFamily="34" charset="-120"/>
              </a:rPr>
              <a:t>Our scaling bottleneck is data shape, not user count.</a:t>
            </a:r>
            <a:endParaRPr lang="en-US" sz="1450" dirty="0"/>
          </a:p>
        </p:txBody>
      </p:sp>
      <p:sp>
        <p:nvSpPr>
          <p:cNvPr id="6" name="Shape 4"/>
          <p:cNvSpPr/>
          <p:nvPr/>
        </p:nvSpPr>
        <p:spPr>
          <a:xfrm>
            <a:off x="868680" y="2240280"/>
            <a:ext cx="10424160" cy="3246120"/>
          </a:xfrm>
          <a:prstGeom prst="roundRect">
            <a:avLst>
              <a:gd name="adj" fmla="val 2254"/>
            </a:avLst>
          </a:prstGeom>
          <a:solidFill>
            <a:srgbClr val="FBF7F1"/>
          </a:solidFill>
          <a:ln w="12700">
            <a:solidFill>
              <a:srgbClr val="D9CCBC"/>
            </a:solidFill>
            <a:prstDash val="solid"/>
          </a:ln>
        </p:spPr>
        <p:txBody>
          <a:bodyPr/>
          <a:lstStyle/>
          <a:p>
            <a:endParaRPr lang="en-US"/>
          </a:p>
        </p:txBody>
      </p:sp>
      <p:sp>
        <p:nvSpPr>
          <p:cNvPr id="7" name="Shape 5"/>
          <p:cNvSpPr/>
          <p:nvPr/>
        </p:nvSpPr>
        <p:spPr>
          <a:xfrm>
            <a:off x="2423160" y="2633472"/>
            <a:ext cx="0" cy="2450592"/>
          </a:xfrm>
          <a:prstGeom prst="line">
            <a:avLst/>
          </a:prstGeom>
          <a:noFill/>
          <a:ln w="12700">
            <a:solidFill>
              <a:srgbClr val="C6B29A">
                <a:alpha val="88000"/>
              </a:srgbClr>
            </a:solidFill>
            <a:prstDash val="solid"/>
          </a:ln>
        </p:spPr>
        <p:txBody>
          <a:bodyPr/>
          <a:lstStyle/>
          <a:p>
            <a:endParaRPr lang="en-US"/>
          </a:p>
        </p:txBody>
      </p:sp>
      <p:sp>
        <p:nvSpPr>
          <p:cNvPr id="8" name="Shape 6"/>
          <p:cNvSpPr/>
          <p:nvPr/>
        </p:nvSpPr>
        <p:spPr>
          <a:xfrm>
            <a:off x="6720840" y="2633472"/>
            <a:ext cx="0" cy="2450592"/>
          </a:xfrm>
          <a:prstGeom prst="line">
            <a:avLst/>
          </a:prstGeom>
          <a:noFill/>
          <a:ln w="12700">
            <a:solidFill>
              <a:srgbClr val="C6B29A">
                <a:alpha val="88000"/>
              </a:srgbClr>
            </a:solidFill>
            <a:prstDash val="solid"/>
          </a:ln>
        </p:spPr>
        <p:txBody>
          <a:bodyPr/>
          <a:lstStyle/>
          <a:p>
            <a:endParaRPr lang="en-US"/>
          </a:p>
        </p:txBody>
      </p:sp>
      <p:sp>
        <p:nvSpPr>
          <p:cNvPr id="9" name="Shape 7"/>
          <p:cNvSpPr/>
          <p:nvPr/>
        </p:nvSpPr>
        <p:spPr>
          <a:xfrm>
            <a:off x="2816352" y="2487168"/>
            <a:ext cx="2651760" cy="438912"/>
          </a:xfrm>
          <a:prstGeom prst="roundRect">
            <a:avLst>
              <a:gd name="adj" fmla="val 16667"/>
            </a:avLst>
          </a:prstGeom>
          <a:solidFill>
            <a:srgbClr val="D7E3EB"/>
          </a:solidFill>
          <a:ln w="12700">
            <a:solidFill>
              <a:srgbClr val="D7E3EB">
                <a:alpha val="0"/>
              </a:srgbClr>
            </a:solidFill>
            <a:prstDash val="solid"/>
          </a:ln>
        </p:spPr>
        <p:txBody>
          <a:bodyPr/>
          <a:lstStyle/>
          <a:p>
            <a:endParaRPr lang="en-US"/>
          </a:p>
        </p:txBody>
      </p:sp>
      <p:sp>
        <p:nvSpPr>
          <p:cNvPr id="10" name="Text 8"/>
          <p:cNvSpPr/>
          <p:nvPr/>
        </p:nvSpPr>
        <p:spPr>
          <a:xfrm>
            <a:off x="2816352" y="2596896"/>
            <a:ext cx="2651760" cy="219456"/>
          </a:xfrm>
          <a:prstGeom prst="rect">
            <a:avLst/>
          </a:prstGeom>
          <a:noFill/>
          <a:ln/>
        </p:spPr>
        <p:txBody>
          <a:bodyPr wrap="square" lIns="0" tIns="0" rIns="0" bIns="0" rtlCol="0" anchor="ctr"/>
          <a:lstStyle/>
          <a:p>
            <a:pPr marL="0" indent="0" algn="ctr">
              <a:buNone/>
            </a:pPr>
            <a:r>
              <a:rPr lang="en-US" sz="1250" b="1" dirty="0">
                <a:solidFill>
                  <a:srgbClr val="22313B"/>
                </a:solidFill>
                <a:latin typeface="Helvetica Neue" pitchFamily="34" charset="0"/>
                <a:ea typeface="Helvetica Neue" pitchFamily="34" charset="-122"/>
                <a:cs typeface="Helvetica Neue" pitchFamily="34" charset="-120"/>
              </a:rPr>
              <a:t>Typical SaaS</a:t>
            </a:r>
            <a:endParaRPr lang="en-US" sz="1250" dirty="0"/>
          </a:p>
        </p:txBody>
      </p:sp>
      <p:sp>
        <p:nvSpPr>
          <p:cNvPr id="11" name="Shape 9"/>
          <p:cNvSpPr/>
          <p:nvPr/>
        </p:nvSpPr>
        <p:spPr>
          <a:xfrm>
            <a:off x="7114032" y="2487168"/>
            <a:ext cx="2651760" cy="438912"/>
          </a:xfrm>
          <a:prstGeom prst="roundRect">
            <a:avLst>
              <a:gd name="adj" fmla="val 16667"/>
            </a:avLst>
          </a:prstGeom>
          <a:solidFill>
            <a:srgbClr val="E6D6C4"/>
          </a:solidFill>
          <a:ln w="12700">
            <a:solidFill>
              <a:srgbClr val="E6D6C4">
                <a:alpha val="0"/>
              </a:srgbClr>
            </a:solidFill>
            <a:prstDash val="solid"/>
          </a:ln>
        </p:spPr>
        <p:txBody>
          <a:bodyPr/>
          <a:lstStyle/>
          <a:p>
            <a:endParaRPr lang="en-US"/>
          </a:p>
        </p:txBody>
      </p:sp>
      <p:sp>
        <p:nvSpPr>
          <p:cNvPr id="12" name="Text 10"/>
          <p:cNvSpPr/>
          <p:nvPr/>
        </p:nvSpPr>
        <p:spPr>
          <a:xfrm>
            <a:off x="7114032" y="2596896"/>
            <a:ext cx="2651760" cy="219456"/>
          </a:xfrm>
          <a:prstGeom prst="rect">
            <a:avLst/>
          </a:prstGeom>
          <a:noFill/>
          <a:ln/>
        </p:spPr>
        <p:txBody>
          <a:bodyPr wrap="square" lIns="0" tIns="0" rIns="0" bIns="0" rtlCol="0" anchor="ctr"/>
          <a:lstStyle/>
          <a:p>
            <a:pPr marL="0" indent="0" algn="ctr">
              <a:buNone/>
            </a:pPr>
            <a:r>
              <a:rPr lang="en-US" sz="1250" b="1" dirty="0">
                <a:solidFill>
                  <a:srgbClr val="22313B"/>
                </a:solidFill>
                <a:latin typeface="Helvetica Neue" pitchFamily="34" charset="0"/>
                <a:ea typeface="Helvetica Neue" pitchFamily="34" charset="-122"/>
                <a:cs typeface="Helvetica Neue" pitchFamily="34" charset="-120"/>
              </a:rPr>
              <a:t>Our platform</a:t>
            </a:r>
            <a:endParaRPr lang="en-US" sz="1250" dirty="0"/>
          </a:p>
        </p:txBody>
      </p:sp>
      <p:sp>
        <p:nvSpPr>
          <p:cNvPr id="13" name="Text 11"/>
          <p:cNvSpPr/>
          <p:nvPr/>
        </p:nvSpPr>
        <p:spPr>
          <a:xfrm>
            <a:off x="1097280" y="3163824"/>
            <a:ext cx="987552" cy="219456"/>
          </a:xfrm>
          <a:prstGeom prst="rect">
            <a:avLst/>
          </a:prstGeom>
          <a:noFill/>
          <a:ln/>
        </p:spPr>
        <p:txBody>
          <a:bodyPr wrap="square" lIns="0" tIns="0" rIns="0" bIns="0" rtlCol="0" anchor="ctr"/>
          <a:lstStyle/>
          <a:p>
            <a:pPr marL="0" indent="0" algn="r">
              <a:buNone/>
            </a:pPr>
            <a:r>
              <a:rPr lang="en-US" sz="1250" dirty="0">
                <a:solidFill>
                  <a:srgbClr val="22313B"/>
                </a:solidFill>
                <a:latin typeface="Helvetica Neue" pitchFamily="34" charset="0"/>
                <a:ea typeface="Helvetica Neue" pitchFamily="34" charset="-122"/>
                <a:cs typeface="Helvetica Neue" pitchFamily="34" charset="-120"/>
              </a:rPr>
              <a:t>Users</a:t>
            </a:r>
            <a:endParaRPr lang="en-US" sz="1250" dirty="0"/>
          </a:p>
        </p:txBody>
      </p:sp>
      <p:sp>
        <p:nvSpPr>
          <p:cNvPr id="14" name="Shape 12"/>
          <p:cNvSpPr/>
          <p:nvPr/>
        </p:nvSpPr>
        <p:spPr>
          <a:xfrm>
            <a:off x="2816352" y="3108960"/>
            <a:ext cx="2697480" cy="329184"/>
          </a:xfrm>
          <a:prstGeom prst="roundRect">
            <a:avLst>
              <a:gd name="adj" fmla="val 22222"/>
            </a:avLst>
          </a:prstGeom>
          <a:solidFill>
            <a:srgbClr val="EEE6DB"/>
          </a:solidFill>
          <a:ln w="12700">
            <a:solidFill>
              <a:srgbClr val="EEE6DB">
                <a:alpha val="0"/>
              </a:srgbClr>
            </a:solidFill>
            <a:prstDash val="solid"/>
          </a:ln>
        </p:spPr>
        <p:txBody>
          <a:bodyPr/>
          <a:lstStyle/>
          <a:p>
            <a:endParaRPr lang="en-US"/>
          </a:p>
        </p:txBody>
      </p:sp>
      <p:sp>
        <p:nvSpPr>
          <p:cNvPr id="15" name="Shape 13"/>
          <p:cNvSpPr/>
          <p:nvPr/>
        </p:nvSpPr>
        <p:spPr>
          <a:xfrm>
            <a:off x="2816352" y="3108960"/>
            <a:ext cx="2487168" cy="329184"/>
          </a:xfrm>
          <a:prstGeom prst="roundRect">
            <a:avLst>
              <a:gd name="adj" fmla="val 22222"/>
            </a:avLst>
          </a:prstGeom>
          <a:solidFill>
            <a:srgbClr val="B9CAD7"/>
          </a:solidFill>
          <a:ln w="12700">
            <a:solidFill>
              <a:srgbClr val="B9CAD7">
                <a:alpha val="0"/>
              </a:srgbClr>
            </a:solidFill>
            <a:prstDash val="solid"/>
          </a:ln>
        </p:spPr>
        <p:txBody>
          <a:bodyPr/>
          <a:lstStyle/>
          <a:p>
            <a:endParaRPr lang="en-US"/>
          </a:p>
        </p:txBody>
      </p:sp>
      <p:sp>
        <p:nvSpPr>
          <p:cNvPr id="16" name="Shape 14"/>
          <p:cNvSpPr/>
          <p:nvPr/>
        </p:nvSpPr>
        <p:spPr>
          <a:xfrm>
            <a:off x="7114032" y="3108960"/>
            <a:ext cx="2697480" cy="329184"/>
          </a:xfrm>
          <a:prstGeom prst="roundRect">
            <a:avLst>
              <a:gd name="adj" fmla="val 22222"/>
            </a:avLst>
          </a:prstGeom>
          <a:solidFill>
            <a:srgbClr val="EEE6DB"/>
          </a:solidFill>
          <a:ln w="12700">
            <a:solidFill>
              <a:srgbClr val="EEE6DB">
                <a:alpha val="0"/>
              </a:srgbClr>
            </a:solidFill>
            <a:prstDash val="solid"/>
          </a:ln>
        </p:spPr>
        <p:txBody>
          <a:bodyPr/>
          <a:lstStyle/>
          <a:p>
            <a:endParaRPr lang="en-US"/>
          </a:p>
        </p:txBody>
      </p:sp>
      <p:sp>
        <p:nvSpPr>
          <p:cNvPr id="17" name="Shape 15"/>
          <p:cNvSpPr/>
          <p:nvPr/>
        </p:nvSpPr>
        <p:spPr>
          <a:xfrm>
            <a:off x="7114032" y="3108960"/>
            <a:ext cx="731520" cy="329184"/>
          </a:xfrm>
          <a:prstGeom prst="roundRect">
            <a:avLst>
              <a:gd name="adj" fmla="val 22222"/>
            </a:avLst>
          </a:prstGeom>
          <a:solidFill>
            <a:srgbClr val="B9CAD7"/>
          </a:solidFill>
          <a:ln w="12700">
            <a:solidFill>
              <a:srgbClr val="B9CAD7">
                <a:alpha val="0"/>
              </a:srgbClr>
            </a:solidFill>
            <a:prstDash val="solid"/>
          </a:ln>
        </p:spPr>
        <p:txBody>
          <a:bodyPr/>
          <a:lstStyle/>
          <a:p>
            <a:endParaRPr lang="en-US"/>
          </a:p>
        </p:txBody>
      </p:sp>
      <p:sp>
        <p:nvSpPr>
          <p:cNvPr id="18" name="Text 16"/>
          <p:cNvSpPr/>
          <p:nvPr/>
        </p:nvSpPr>
        <p:spPr>
          <a:xfrm>
            <a:off x="1097280" y="3913632"/>
            <a:ext cx="987552" cy="219456"/>
          </a:xfrm>
          <a:prstGeom prst="rect">
            <a:avLst/>
          </a:prstGeom>
          <a:noFill/>
          <a:ln/>
        </p:spPr>
        <p:txBody>
          <a:bodyPr wrap="square" lIns="0" tIns="0" rIns="0" bIns="0" rtlCol="0" anchor="ctr"/>
          <a:lstStyle/>
          <a:p>
            <a:pPr marL="0" indent="0" algn="r">
              <a:buNone/>
            </a:pPr>
            <a:r>
              <a:rPr lang="en-US" sz="1250" dirty="0">
                <a:solidFill>
                  <a:srgbClr val="22313B"/>
                </a:solidFill>
                <a:latin typeface="Helvetica Neue" pitchFamily="34" charset="0"/>
                <a:ea typeface="Helvetica Neue" pitchFamily="34" charset="-122"/>
                <a:cs typeface="Helvetica Neue" pitchFamily="34" charset="-120"/>
              </a:rPr>
              <a:t>Projects</a:t>
            </a:r>
            <a:endParaRPr lang="en-US" sz="1250" dirty="0"/>
          </a:p>
        </p:txBody>
      </p:sp>
      <p:sp>
        <p:nvSpPr>
          <p:cNvPr id="19" name="Shape 17"/>
          <p:cNvSpPr/>
          <p:nvPr/>
        </p:nvSpPr>
        <p:spPr>
          <a:xfrm>
            <a:off x="2816352" y="3858768"/>
            <a:ext cx="2697480" cy="329184"/>
          </a:xfrm>
          <a:prstGeom prst="roundRect">
            <a:avLst>
              <a:gd name="adj" fmla="val 22222"/>
            </a:avLst>
          </a:prstGeom>
          <a:solidFill>
            <a:srgbClr val="EEE6DB"/>
          </a:solidFill>
          <a:ln w="12700">
            <a:solidFill>
              <a:srgbClr val="EEE6DB">
                <a:alpha val="0"/>
              </a:srgbClr>
            </a:solidFill>
            <a:prstDash val="solid"/>
          </a:ln>
        </p:spPr>
        <p:txBody>
          <a:bodyPr/>
          <a:lstStyle/>
          <a:p>
            <a:endParaRPr lang="en-US"/>
          </a:p>
        </p:txBody>
      </p:sp>
      <p:sp>
        <p:nvSpPr>
          <p:cNvPr id="20" name="Shape 18"/>
          <p:cNvSpPr/>
          <p:nvPr/>
        </p:nvSpPr>
        <p:spPr>
          <a:xfrm>
            <a:off x="2816352" y="3858768"/>
            <a:ext cx="1691640" cy="329184"/>
          </a:xfrm>
          <a:prstGeom prst="roundRect">
            <a:avLst>
              <a:gd name="adj" fmla="val 22222"/>
            </a:avLst>
          </a:prstGeom>
          <a:solidFill>
            <a:srgbClr val="B8874F"/>
          </a:solidFill>
          <a:ln w="12700">
            <a:solidFill>
              <a:srgbClr val="B8874F">
                <a:alpha val="0"/>
              </a:srgbClr>
            </a:solidFill>
            <a:prstDash val="solid"/>
          </a:ln>
        </p:spPr>
        <p:txBody>
          <a:bodyPr/>
          <a:lstStyle/>
          <a:p>
            <a:endParaRPr lang="en-US"/>
          </a:p>
        </p:txBody>
      </p:sp>
      <p:sp>
        <p:nvSpPr>
          <p:cNvPr id="21" name="Shape 19"/>
          <p:cNvSpPr/>
          <p:nvPr/>
        </p:nvSpPr>
        <p:spPr>
          <a:xfrm>
            <a:off x="7114032" y="3858768"/>
            <a:ext cx="2697480" cy="329184"/>
          </a:xfrm>
          <a:prstGeom prst="roundRect">
            <a:avLst>
              <a:gd name="adj" fmla="val 22222"/>
            </a:avLst>
          </a:prstGeom>
          <a:solidFill>
            <a:srgbClr val="EEE6DB"/>
          </a:solidFill>
          <a:ln w="12700">
            <a:solidFill>
              <a:srgbClr val="EEE6DB">
                <a:alpha val="0"/>
              </a:srgbClr>
            </a:solidFill>
            <a:prstDash val="solid"/>
          </a:ln>
        </p:spPr>
        <p:txBody>
          <a:bodyPr/>
          <a:lstStyle/>
          <a:p>
            <a:endParaRPr lang="en-US"/>
          </a:p>
        </p:txBody>
      </p:sp>
      <p:sp>
        <p:nvSpPr>
          <p:cNvPr id="22" name="Shape 20"/>
          <p:cNvSpPr/>
          <p:nvPr/>
        </p:nvSpPr>
        <p:spPr>
          <a:xfrm>
            <a:off x="7114032" y="3858768"/>
            <a:ext cx="1389888" cy="329184"/>
          </a:xfrm>
          <a:prstGeom prst="roundRect">
            <a:avLst>
              <a:gd name="adj" fmla="val 22222"/>
            </a:avLst>
          </a:prstGeom>
          <a:solidFill>
            <a:srgbClr val="B8874F"/>
          </a:solidFill>
          <a:ln w="12700">
            <a:solidFill>
              <a:srgbClr val="B8874F">
                <a:alpha val="0"/>
              </a:srgbClr>
            </a:solidFill>
            <a:prstDash val="solid"/>
          </a:ln>
        </p:spPr>
        <p:txBody>
          <a:bodyPr/>
          <a:lstStyle/>
          <a:p>
            <a:endParaRPr lang="en-US"/>
          </a:p>
        </p:txBody>
      </p:sp>
      <p:sp>
        <p:nvSpPr>
          <p:cNvPr id="23" name="Text 21"/>
          <p:cNvSpPr/>
          <p:nvPr/>
        </p:nvSpPr>
        <p:spPr>
          <a:xfrm>
            <a:off x="1097280" y="4663440"/>
            <a:ext cx="987552" cy="219456"/>
          </a:xfrm>
          <a:prstGeom prst="rect">
            <a:avLst/>
          </a:prstGeom>
          <a:noFill/>
          <a:ln/>
        </p:spPr>
        <p:txBody>
          <a:bodyPr wrap="square" lIns="0" tIns="0" rIns="0" bIns="0" rtlCol="0" anchor="ctr"/>
          <a:lstStyle/>
          <a:p>
            <a:pPr marL="0" indent="0" algn="r">
              <a:buNone/>
            </a:pPr>
            <a:r>
              <a:rPr lang="en-US" sz="1250" b="1" dirty="0">
                <a:solidFill>
                  <a:srgbClr val="22313B"/>
                </a:solidFill>
                <a:latin typeface="Helvetica Neue" pitchFamily="34" charset="0"/>
                <a:ea typeface="Helvetica Neue" pitchFamily="34" charset="-122"/>
                <a:cs typeface="Helvetica Neue" pitchFamily="34" charset="-120"/>
              </a:rPr>
              <a:t>Data / project</a:t>
            </a:r>
            <a:endParaRPr lang="en-US" sz="1250" dirty="0"/>
          </a:p>
        </p:txBody>
      </p:sp>
      <p:sp>
        <p:nvSpPr>
          <p:cNvPr id="24" name="Shape 22"/>
          <p:cNvSpPr/>
          <p:nvPr/>
        </p:nvSpPr>
        <p:spPr>
          <a:xfrm>
            <a:off x="2816352" y="4608576"/>
            <a:ext cx="2697480" cy="329184"/>
          </a:xfrm>
          <a:prstGeom prst="roundRect">
            <a:avLst>
              <a:gd name="adj" fmla="val 22222"/>
            </a:avLst>
          </a:prstGeom>
          <a:solidFill>
            <a:srgbClr val="EEE6DB"/>
          </a:solidFill>
          <a:ln w="12700">
            <a:solidFill>
              <a:srgbClr val="EEE6DB">
                <a:alpha val="0"/>
              </a:srgbClr>
            </a:solidFill>
            <a:prstDash val="solid"/>
          </a:ln>
        </p:spPr>
        <p:txBody>
          <a:bodyPr/>
          <a:lstStyle/>
          <a:p>
            <a:endParaRPr lang="en-US"/>
          </a:p>
        </p:txBody>
      </p:sp>
      <p:sp>
        <p:nvSpPr>
          <p:cNvPr id="25" name="Shape 23"/>
          <p:cNvSpPr/>
          <p:nvPr/>
        </p:nvSpPr>
        <p:spPr>
          <a:xfrm>
            <a:off x="2816352" y="4608576"/>
            <a:ext cx="1143000" cy="329184"/>
          </a:xfrm>
          <a:prstGeom prst="roundRect">
            <a:avLst>
              <a:gd name="adj" fmla="val 22222"/>
            </a:avLst>
          </a:prstGeom>
          <a:solidFill>
            <a:srgbClr val="22313B"/>
          </a:solidFill>
          <a:ln w="12700">
            <a:solidFill>
              <a:srgbClr val="22313B">
                <a:alpha val="0"/>
              </a:srgbClr>
            </a:solidFill>
            <a:prstDash val="solid"/>
          </a:ln>
        </p:spPr>
        <p:txBody>
          <a:bodyPr/>
          <a:lstStyle/>
          <a:p>
            <a:endParaRPr lang="en-US"/>
          </a:p>
        </p:txBody>
      </p:sp>
      <p:sp>
        <p:nvSpPr>
          <p:cNvPr id="26" name="Shape 24"/>
          <p:cNvSpPr/>
          <p:nvPr/>
        </p:nvSpPr>
        <p:spPr>
          <a:xfrm>
            <a:off x="7114032" y="4608576"/>
            <a:ext cx="2697480" cy="329184"/>
          </a:xfrm>
          <a:prstGeom prst="roundRect">
            <a:avLst>
              <a:gd name="adj" fmla="val 22222"/>
            </a:avLst>
          </a:prstGeom>
          <a:solidFill>
            <a:srgbClr val="EEE6DB"/>
          </a:solidFill>
          <a:ln w="12700">
            <a:solidFill>
              <a:srgbClr val="EEE6DB">
                <a:alpha val="0"/>
              </a:srgbClr>
            </a:solidFill>
            <a:prstDash val="solid"/>
          </a:ln>
        </p:spPr>
        <p:txBody>
          <a:bodyPr/>
          <a:lstStyle/>
          <a:p>
            <a:endParaRPr lang="en-US"/>
          </a:p>
        </p:txBody>
      </p:sp>
      <p:sp>
        <p:nvSpPr>
          <p:cNvPr id="27" name="Shape 25"/>
          <p:cNvSpPr/>
          <p:nvPr/>
        </p:nvSpPr>
        <p:spPr>
          <a:xfrm>
            <a:off x="7114032" y="4608576"/>
            <a:ext cx="2542032" cy="329184"/>
          </a:xfrm>
          <a:prstGeom prst="roundRect">
            <a:avLst>
              <a:gd name="adj" fmla="val 22222"/>
            </a:avLst>
          </a:prstGeom>
          <a:solidFill>
            <a:srgbClr val="22313B"/>
          </a:solidFill>
          <a:ln w="12700">
            <a:solidFill>
              <a:srgbClr val="22313B">
                <a:alpha val="0"/>
              </a:srgbClr>
            </a:solidFill>
            <a:prstDash val="solid"/>
          </a:ln>
        </p:spPr>
        <p:txBody>
          <a:bodyPr/>
          <a:lstStyle/>
          <a:p>
            <a:endParaRPr lang="en-US"/>
          </a:p>
        </p:txBody>
      </p:sp>
      <p:sp>
        <p:nvSpPr>
          <p:cNvPr id="28" name="Text 26"/>
          <p:cNvSpPr/>
          <p:nvPr/>
        </p:nvSpPr>
        <p:spPr>
          <a:xfrm>
            <a:off x="2816352" y="5047488"/>
            <a:ext cx="2880360" cy="237744"/>
          </a:xfrm>
          <a:prstGeom prst="rect">
            <a:avLst/>
          </a:prstGeom>
          <a:noFill/>
          <a:ln/>
        </p:spPr>
        <p:txBody>
          <a:bodyPr wrap="square" lIns="0" tIns="0" rIns="0" bIns="0" rtlCol="0" anchor="ctr"/>
          <a:lstStyle/>
          <a:p>
            <a:pPr marL="0" indent="0" algn="l">
              <a:buNone/>
            </a:pPr>
            <a:r>
              <a:rPr lang="en-US" sz="1050" i="1" dirty="0">
                <a:solidFill>
                  <a:srgbClr val="53626C"/>
                </a:solidFill>
                <a:latin typeface="Helvetica Neue" pitchFamily="34" charset="0"/>
                <a:ea typeface="Helvetica Neue" pitchFamily="34" charset="-122"/>
                <a:cs typeface="Helvetica Neue" pitchFamily="34" charset="-120"/>
              </a:rPr>
              <a:t>Large user base drives scaling pressure</a:t>
            </a:r>
            <a:endParaRPr lang="en-US" sz="1050" dirty="0"/>
          </a:p>
        </p:txBody>
      </p:sp>
      <p:sp>
        <p:nvSpPr>
          <p:cNvPr id="29" name="Text 27"/>
          <p:cNvSpPr/>
          <p:nvPr/>
        </p:nvSpPr>
        <p:spPr>
          <a:xfrm>
            <a:off x="7114032" y="5047488"/>
            <a:ext cx="2971800" cy="237744"/>
          </a:xfrm>
          <a:prstGeom prst="rect">
            <a:avLst/>
          </a:prstGeom>
          <a:noFill/>
          <a:ln/>
        </p:spPr>
        <p:txBody>
          <a:bodyPr wrap="square" lIns="0" tIns="0" rIns="0" bIns="0" rtlCol="0" anchor="ctr"/>
          <a:lstStyle/>
          <a:p>
            <a:pPr marL="0" indent="0" algn="l">
              <a:buNone/>
            </a:pPr>
            <a:r>
              <a:rPr lang="en-US" sz="1050" i="1" dirty="0">
                <a:solidFill>
                  <a:srgbClr val="53626C"/>
                </a:solidFill>
                <a:latin typeface="Helvetica Neue" pitchFamily="34" charset="0"/>
                <a:ea typeface="Helvetica Neue" pitchFamily="34" charset="-122"/>
                <a:cs typeface="Helvetica Neue" pitchFamily="34" charset="-120"/>
              </a:rPr>
              <a:t>Extreme dataset size changes the architecture</a:t>
            </a:r>
            <a:endParaRPr lang="en-US" sz="1050" dirty="0"/>
          </a:p>
        </p:txBody>
      </p:sp>
      <p:sp>
        <p:nvSpPr>
          <p:cNvPr id="30" name="Shape 28"/>
          <p:cNvSpPr/>
          <p:nvPr/>
        </p:nvSpPr>
        <p:spPr>
          <a:xfrm>
            <a:off x="868680" y="5687568"/>
            <a:ext cx="10424160" cy="493776"/>
          </a:xfrm>
          <a:prstGeom prst="roundRect">
            <a:avLst>
              <a:gd name="adj" fmla="val 14815"/>
            </a:avLst>
          </a:prstGeom>
          <a:solidFill>
            <a:srgbClr val="F2E9DE"/>
          </a:solidFill>
          <a:ln w="12700">
            <a:solidFill>
              <a:srgbClr val="D9CCBC"/>
            </a:solidFill>
            <a:prstDash val="solid"/>
          </a:ln>
        </p:spPr>
        <p:txBody>
          <a:bodyPr/>
          <a:lstStyle/>
          <a:p>
            <a:endParaRPr lang="en-US"/>
          </a:p>
        </p:txBody>
      </p:sp>
      <p:sp>
        <p:nvSpPr>
          <p:cNvPr id="31" name="Text 29"/>
          <p:cNvSpPr/>
          <p:nvPr/>
        </p:nvSpPr>
        <p:spPr>
          <a:xfrm>
            <a:off x="1051560" y="5833872"/>
            <a:ext cx="10012680" cy="201168"/>
          </a:xfrm>
          <a:prstGeom prst="rect">
            <a:avLst/>
          </a:prstGeom>
          <a:noFill/>
          <a:ln/>
        </p:spPr>
        <p:txBody>
          <a:bodyPr wrap="square" lIns="0" tIns="0" rIns="0" bIns="0" rtlCol="0" anchor="ctr"/>
          <a:lstStyle/>
          <a:p>
            <a:pPr marL="0" indent="0" algn="ctr">
              <a:buNone/>
            </a:pPr>
            <a:r>
              <a:rPr lang="en-US" sz="1150" b="1" dirty="0">
                <a:solidFill>
                  <a:srgbClr val="22313B"/>
                </a:solidFill>
                <a:latin typeface="Helvetica Neue" pitchFamily="34" charset="0"/>
                <a:ea typeface="Helvetica Neue" pitchFamily="34" charset="-122"/>
                <a:cs typeface="Helvetica Neue" pitchFamily="34" charset="-120"/>
              </a:rPr>
              <a:t>This is why storage architecture becomes a product decision much earlier for us.</a:t>
            </a:r>
            <a:endParaRPr lang="en-US" sz="1150" dirty="0"/>
          </a:p>
        </p:txBody>
      </p:sp>
      <p:sp>
        <p:nvSpPr>
          <p:cNvPr id="32" name="Shape 30"/>
          <p:cNvSpPr/>
          <p:nvPr/>
        </p:nvSpPr>
        <p:spPr>
          <a:xfrm>
            <a:off x="8887968" y="530352"/>
            <a:ext cx="932688" cy="365760"/>
          </a:xfrm>
          <a:prstGeom prst="roundRect">
            <a:avLst>
              <a:gd name="adj" fmla="val 15000"/>
            </a:avLst>
          </a:prstGeom>
          <a:solidFill>
            <a:srgbClr val="F2E9DE"/>
          </a:solidFill>
          <a:ln w="12700">
            <a:solidFill>
              <a:srgbClr val="D9CCBC"/>
            </a:solidFill>
            <a:prstDash val="solid"/>
          </a:ln>
        </p:spPr>
        <p:txBody>
          <a:bodyPr/>
          <a:lstStyle/>
          <a:p>
            <a:endParaRPr lang="en-US"/>
          </a:p>
        </p:txBody>
      </p:sp>
      <p:sp>
        <p:nvSpPr>
          <p:cNvPr id="33" name="Text 31"/>
          <p:cNvSpPr/>
          <p:nvPr/>
        </p:nvSpPr>
        <p:spPr>
          <a:xfrm>
            <a:off x="8887968" y="603504"/>
            <a:ext cx="932688" cy="219456"/>
          </a:xfrm>
          <a:prstGeom prst="rect">
            <a:avLst/>
          </a:prstGeom>
          <a:noFill/>
          <a:ln/>
        </p:spPr>
        <p:txBody>
          <a:bodyPr wrap="square" lIns="0" tIns="0" rIns="0" bIns="0" rtlCol="0" anchor="ctr"/>
          <a:lstStyle/>
          <a:p>
            <a:pPr marL="0" indent="0" algn="ctr">
              <a:buNone/>
            </a:pPr>
            <a:r>
              <a:rPr lang="en-US" sz="1050" dirty="0">
                <a:solidFill>
                  <a:srgbClr val="53626C"/>
                </a:solidFill>
                <a:latin typeface="Helvetica Neue" pitchFamily="34" charset="0"/>
                <a:ea typeface="Helvetica Neue" pitchFamily="34" charset="-122"/>
                <a:cs typeface="Helvetica Neue" pitchFamily="34" charset="-120"/>
              </a:rPr>
              <a:t>Slide 2</a:t>
            </a:r>
            <a:endParaRPr lang="en-US" sz="1050" dirty="0"/>
          </a:p>
        </p:txBody>
      </p:sp>
      <p:sp>
        <p:nvSpPr>
          <p:cNvPr id="34" name="Shape 32"/>
          <p:cNvSpPr/>
          <p:nvPr/>
        </p:nvSpPr>
        <p:spPr>
          <a:xfrm>
            <a:off x="9948672" y="530352"/>
            <a:ext cx="1335024" cy="365760"/>
          </a:xfrm>
          <a:prstGeom prst="roundRect">
            <a:avLst>
              <a:gd name="adj" fmla="val 15000"/>
            </a:avLst>
          </a:prstGeom>
          <a:solidFill>
            <a:srgbClr val="F2E9DE"/>
          </a:solidFill>
          <a:ln w="12700">
            <a:solidFill>
              <a:srgbClr val="D9CCBC"/>
            </a:solidFill>
            <a:prstDash val="solid"/>
          </a:ln>
        </p:spPr>
        <p:txBody>
          <a:bodyPr/>
          <a:lstStyle/>
          <a:p>
            <a:endParaRPr lang="en-US"/>
          </a:p>
        </p:txBody>
      </p:sp>
      <p:sp>
        <p:nvSpPr>
          <p:cNvPr id="35" name="Text 33"/>
          <p:cNvSpPr/>
          <p:nvPr/>
        </p:nvSpPr>
        <p:spPr>
          <a:xfrm>
            <a:off x="9948672" y="603504"/>
            <a:ext cx="1335024" cy="219456"/>
          </a:xfrm>
          <a:prstGeom prst="rect">
            <a:avLst/>
          </a:prstGeom>
          <a:noFill/>
          <a:ln/>
        </p:spPr>
        <p:txBody>
          <a:bodyPr wrap="square" lIns="0" tIns="0" rIns="0" bIns="0" rtlCol="0" anchor="ctr"/>
          <a:lstStyle/>
          <a:p>
            <a:pPr marL="0" indent="0" algn="ctr">
              <a:buNone/>
            </a:pPr>
            <a:r>
              <a:rPr lang="en-US" sz="1050" dirty="0">
                <a:solidFill>
                  <a:srgbClr val="53626C"/>
                </a:solidFill>
                <a:latin typeface="Helvetica Neue" pitchFamily="34" charset="0"/>
                <a:ea typeface="Helvetica Neue" pitchFamily="34" charset="-122"/>
                <a:cs typeface="Helvetica Neue" pitchFamily="34" charset="-120"/>
              </a:rPr>
              <a:t>Relative scale</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1E8"/>
        </a:solidFill>
        <a:effectLst/>
      </p:bgPr>
    </p:bg>
    <p:spTree>
      <p:nvGrpSpPr>
        <p:cNvPr id="1" name=""/>
        <p:cNvGrpSpPr/>
        <p:nvPr/>
      </p:nvGrpSpPr>
      <p:grpSpPr>
        <a:xfrm>
          <a:off x="0" y="0"/>
          <a:ext cx="0" cy="0"/>
          <a:chOff x="0" y="0"/>
          <a:chExt cx="0" cy="0"/>
        </a:xfrm>
      </p:grpSpPr>
      <p:sp>
        <p:nvSpPr>
          <p:cNvPr id="2" name="Text 0"/>
          <p:cNvSpPr/>
          <p:nvPr/>
        </p:nvSpPr>
        <p:spPr>
          <a:xfrm>
            <a:off x="868680" y="502920"/>
            <a:ext cx="3840480" cy="133350"/>
          </a:xfrm>
          <a:prstGeom prst="rect">
            <a:avLst/>
          </a:prstGeom>
          <a:noFill/>
          <a:ln/>
        </p:spPr>
        <p:txBody>
          <a:bodyPr wrap="square" lIns="0" tIns="0" rIns="0" bIns="0" rtlCol="0" anchor="ctr"/>
          <a:lstStyle/>
          <a:p>
            <a:pPr marL="0" indent="0">
              <a:buNone/>
            </a:pPr>
            <a:r>
              <a:rPr lang="en-US" sz="1050" b="1" dirty="0">
                <a:solidFill>
                  <a:srgbClr val="B8874F"/>
                </a:solidFill>
                <a:latin typeface="Helvetica Neue" pitchFamily="34" charset="0"/>
                <a:ea typeface="Helvetica Neue" pitchFamily="34" charset="-122"/>
                <a:cs typeface="Helvetica Neue" pitchFamily="34" charset="-120"/>
              </a:rPr>
              <a:t>FIRST-GENERATION ARCHITECTURE</a:t>
            </a:r>
            <a:endParaRPr lang="en-US" sz="1050" dirty="0"/>
          </a:p>
        </p:txBody>
      </p:sp>
      <p:sp>
        <p:nvSpPr>
          <p:cNvPr id="3" name="Shape 1"/>
          <p:cNvSpPr/>
          <p:nvPr/>
        </p:nvSpPr>
        <p:spPr>
          <a:xfrm>
            <a:off x="868680" y="822960"/>
            <a:ext cx="1097280" cy="0"/>
          </a:xfrm>
          <a:prstGeom prst="line">
            <a:avLst/>
          </a:prstGeom>
          <a:noFill/>
          <a:ln w="12700">
            <a:solidFill>
              <a:srgbClr val="B8874F"/>
            </a:solidFill>
            <a:prstDash val="solid"/>
          </a:ln>
        </p:spPr>
        <p:txBody>
          <a:bodyPr/>
          <a:lstStyle/>
          <a:p>
            <a:endParaRPr lang="en-US"/>
          </a:p>
        </p:txBody>
      </p:sp>
      <p:sp>
        <p:nvSpPr>
          <p:cNvPr id="4" name="Text 2"/>
          <p:cNvSpPr/>
          <p:nvPr/>
        </p:nvSpPr>
        <p:spPr>
          <a:xfrm>
            <a:off x="868680" y="1024128"/>
            <a:ext cx="6492240" cy="658368"/>
          </a:xfrm>
          <a:prstGeom prst="rect">
            <a:avLst/>
          </a:prstGeom>
          <a:noFill/>
          <a:ln/>
        </p:spPr>
        <p:txBody>
          <a:bodyPr wrap="square" lIns="0" tIns="0" rIns="0" bIns="0" rtlCol="0" anchor="ctr">
            <a:normAutofit/>
          </a:bodyPr>
          <a:lstStyle/>
          <a:p>
            <a:pPr marL="0" indent="0">
              <a:buNone/>
            </a:pPr>
            <a:r>
              <a:rPr lang="en-US" sz="2496" b="1" dirty="0">
                <a:solidFill>
                  <a:srgbClr val="22313B"/>
                </a:solidFill>
                <a:latin typeface="Georgia" pitchFamily="34" charset="0"/>
                <a:ea typeface="Georgia" pitchFamily="34" charset="-122"/>
                <a:cs typeface="Georgia" pitchFamily="34" charset="-120"/>
              </a:rPr>
              <a:t>First-generation architecture</a:t>
            </a:r>
            <a:endParaRPr lang="en-US" sz="2496" dirty="0"/>
          </a:p>
        </p:txBody>
      </p:sp>
      <p:sp>
        <p:nvSpPr>
          <p:cNvPr id="5" name="Text 3"/>
          <p:cNvSpPr/>
          <p:nvPr/>
        </p:nvSpPr>
        <p:spPr>
          <a:xfrm>
            <a:off x="868680" y="1700784"/>
            <a:ext cx="6355080" cy="384048"/>
          </a:xfrm>
          <a:prstGeom prst="rect">
            <a:avLst/>
          </a:prstGeom>
          <a:noFill/>
          <a:ln/>
        </p:spPr>
        <p:txBody>
          <a:bodyPr wrap="square" lIns="0" tIns="0" rIns="0" bIns="0" rtlCol="0" anchor="ctr"/>
          <a:lstStyle/>
          <a:p>
            <a:pPr marL="0" indent="0">
              <a:buNone/>
            </a:pPr>
            <a:r>
              <a:rPr lang="en-US" sz="1450" dirty="0">
                <a:solidFill>
                  <a:srgbClr val="53626C"/>
                </a:solidFill>
                <a:latin typeface="Helvetica Neue" pitchFamily="34" charset="0"/>
                <a:ea typeface="Helvetica Neue" pitchFamily="34" charset="-122"/>
                <a:cs typeface="Helvetica Neue" pitchFamily="34" charset="-120"/>
              </a:rPr>
              <a:t>Heavy files in S3. Metadata and pointers in DynamoDB.</a:t>
            </a:r>
            <a:endParaRPr lang="en-US" sz="1450" dirty="0"/>
          </a:p>
        </p:txBody>
      </p:sp>
      <p:sp>
        <p:nvSpPr>
          <p:cNvPr id="6" name="Shape 4"/>
          <p:cNvSpPr/>
          <p:nvPr/>
        </p:nvSpPr>
        <p:spPr>
          <a:xfrm>
            <a:off x="868680" y="2240280"/>
            <a:ext cx="10424160" cy="3246120"/>
          </a:xfrm>
          <a:prstGeom prst="roundRect">
            <a:avLst>
              <a:gd name="adj" fmla="val 2254"/>
            </a:avLst>
          </a:prstGeom>
          <a:solidFill>
            <a:srgbClr val="FBF7F1"/>
          </a:solidFill>
          <a:ln w="12700">
            <a:solidFill>
              <a:srgbClr val="D9CCBC"/>
            </a:solidFill>
            <a:prstDash val="solid"/>
          </a:ln>
        </p:spPr>
        <p:txBody>
          <a:bodyPr/>
          <a:lstStyle/>
          <a:p>
            <a:endParaRPr lang="en-US"/>
          </a:p>
        </p:txBody>
      </p:sp>
      <p:sp>
        <p:nvSpPr>
          <p:cNvPr id="7" name="Shape 5"/>
          <p:cNvSpPr/>
          <p:nvPr/>
        </p:nvSpPr>
        <p:spPr>
          <a:xfrm>
            <a:off x="1188720" y="2761488"/>
            <a:ext cx="1920240" cy="694944"/>
          </a:xfrm>
          <a:prstGeom prst="roundRect">
            <a:avLst>
              <a:gd name="adj" fmla="val 10526"/>
            </a:avLst>
          </a:prstGeom>
          <a:solidFill>
            <a:srgbClr val="D7E3EB"/>
          </a:solidFill>
          <a:ln w="12700">
            <a:solidFill>
              <a:srgbClr val="D7E3EB"/>
            </a:solidFill>
            <a:prstDash val="solid"/>
          </a:ln>
        </p:spPr>
        <p:txBody>
          <a:bodyPr/>
          <a:lstStyle/>
          <a:p>
            <a:endParaRPr lang="en-US"/>
          </a:p>
        </p:txBody>
      </p:sp>
      <p:sp>
        <p:nvSpPr>
          <p:cNvPr id="8" name="Text 6"/>
          <p:cNvSpPr/>
          <p:nvPr/>
        </p:nvSpPr>
        <p:spPr>
          <a:xfrm>
            <a:off x="1335024" y="2980944"/>
            <a:ext cx="1627632" cy="256032"/>
          </a:xfrm>
          <a:prstGeom prst="rect">
            <a:avLst/>
          </a:prstGeom>
          <a:noFill/>
          <a:ln/>
        </p:spPr>
        <p:txBody>
          <a:bodyPr wrap="square" lIns="0" tIns="0" rIns="0" bIns="0" rtlCol="0" anchor="ctr"/>
          <a:lstStyle/>
          <a:p>
            <a:pPr marL="0" indent="0" algn="ctr">
              <a:buNone/>
            </a:pPr>
            <a:r>
              <a:rPr lang="en-US" sz="1320" b="1" dirty="0">
                <a:solidFill>
                  <a:srgbClr val="22313B"/>
                </a:solidFill>
                <a:latin typeface="Helvetica Neue" pitchFamily="34" charset="0"/>
                <a:ea typeface="Helvetica Neue" pitchFamily="34" charset="-122"/>
                <a:cs typeface="Helvetica Neue" pitchFamily="34" charset="-120"/>
              </a:rPr>
              <a:t>User uploads</a:t>
            </a:r>
            <a:endParaRPr lang="en-US" sz="1320" dirty="0"/>
          </a:p>
        </p:txBody>
      </p:sp>
      <p:sp>
        <p:nvSpPr>
          <p:cNvPr id="9" name="Shape 7"/>
          <p:cNvSpPr/>
          <p:nvPr/>
        </p:nvSpPr>
        <p:spPr>
          <a:xfrm>
            <a:off x="1188720" y="3822192"/>
            <a:ext cx="1920240" cy="694944"/>
          </a:xfrm>
          <a:prstGeom prst="roundRect">
            <a:avLst>
              <a:gd name="adj" fmla="val 10526"/>
            </a:avLst>
          </a:prstGeom>
          <a:solidFill>
            <a:srgbClr val="E6D6C4"/>
          </a:solidFill>
          <a:ln w="12700">
            <a:solidFill>
              <a:srgbClr val="E6D6C4"/>
            </a:solidFill>
            <a:prstDash val="solid"/>
          </a:ln>
        </p:spPr>
        <p:txBody>
          <a:bodyPr/>
          <a:lstStyle/>
          <a:p>
            <a:endParaRPr lang="en-US"/>
          </a:p>
        </p:txBody>
      </p:sp>
      <p:sp>
        <p:nvSpPr>
          <p:cNvPr id="10" name="Text 8"/>
          <p:cNvSpPr/>
          <p:nvPr/>
        </p:nvSpPr>
        <p:spPr>
          <a:xfrm>
            <a:off x="1335024" y="4041648"/>
            <a:ext cx="1627632" cy="256032"/>
          </a:xfrm>
          <a:prstGeom prst="rect">
            <a:avLst/>
          </a:prstGeom>
          <a:noFill/>
          <a:ln/>
        </p:spPr>
        <p:txBody>
          <a:bodyPr wrap="square" lIns="0" tIns="0" rIns="0" bIns="0" rtlCol="0" anchor="ctr"/>
          <a:lstStyle/>
          <a:p>
            <a:pPr marL="0" indent="0" algn="ctr">
              <a:buNone/>
            </a:pPr>
            <a:r>
              <a:rPr lang="en-US" sz="1280" b="1" dirty="0">
                <a:solidFill>
                  <a:srgbClr val="22313B"/>
                </a:solidFill>
                <a:latin typeface="Helvetica Neue" pitchFamily="34" charset="0"/>
                <a:ea typeface="Helvetica Neue" pitchFamily="34" charset="-122"/>
                <a:cs typeface="Helvetica Neue" pitchFamily="34" charset="-120"/>
              </a:rPr>
              <a:t>Generated outputs</a:t>
            </a:r>
            <a:endParaRPr lang="en-US" sz="1280" dirty="0"/>
          </a:p>
        </p:txBody>
      </p:sp>
      <p:sp>
        <p:nvSpPr>
          <p:cNvPr id="11" name="Shape 9"/>
          <p:cNvSpPr/>
          <p:nvPr/>
        </p:nvSpPr>
        <p:spPr>
          <a:xfrm>
            <a:off x="3913632" y="3145536"/>
            <a:ext cx="2084832" cy="987552"/>
          </a:xfrm>
          <a:prstGeom prst="roundRect">
            <a:avLst>
              <a:gd name="adj" fmla="val 7407"/>
            </a:avLst>
          </a:prstGeom>
          <a:solidFill>
            <a:srgbClr val="22313B"/>
          </a:solidFill>
          <a:ln w="12700">
            <a:solidFill>
              <a:srgbClr val="22313B"/>
            </a:solidFill>
            <a:prstDash val="solid"/>
          </a:ln>
        </p:spPr>
        <p:txBody>
          <a:bodyPr/>
          <a:lstStyle/>
          <a:p>
            <a:endParaRPr lang="en-US"/>
          </a:p>
        </p:txBody>
      </p:sp>
      <p:sp>
        <p:nvSpPr>
          <p:cNvPr id="12" name="Text 10"/>
          <p:cNvSpPr/>
          <p:nvPr/>
        </p:nvSpPr>
        <p:spPr>
          <a:xfrm>
            <a:off x="4059936" y="3502152"/>
            <a:ext cx="1792224" cy="256032"/>
          </a:xfrm>
          <a:prstGeom prst="rect">
            <a:avLst/>
          </a:prstGeom>
          <a:noFill/>
          <a:ln/>
        </p:spPr>
        <p:txBody>
          <a:bodyPr wrap="square" lIns="0" tIns="0" rIns="0" bIns="0" rtlCol="0" anchor="ctr"/>
          <a:lstStyle/>
          <a:p>
            <a:pPr marL="0" indent="0" algn="ctr">
              <a:buNone/>
            </a:pPr>
            <a:r>
              <a:rPr lang="en-US" sz="1550" b="1" dirty="0">
                <a:solidFill>
                  <a:srgbClr val="FFFFFF"/>
                </a:solidFill>
                <a:latin typeface="Helvetica Neue" pitchFamily="34" charset="0"/>
                <a:ea typeface="Helvetica Neue" pitchFamily="34" charset="-122"/>
                <a:cs typeface="Helvetica Neue" pitchFamily="34" charset="-120"/>
              </a:rPr>
              <a:t>Scatterin app</a:t>
            </a:r>
            <a:endParaRPr lang="en-US" sz="1550" dirty="0"/>
          </a:p>
        </p:txBody>
      </p:sp>
      <p:sp>
        <p:nvSpPr>
          <p:cNvPr id="13" name="Shape 11"/>
          <p:cNvSpPr/>
          <p:nvPr/>
        </p:nvSpPr>
        <p:spPr>
          <a:xfrm>
            <a:off x="6675120" y="2651760"/>
            <a:ext cx="2834640" cy="1024128"/>
          </a:xfrm>
          <a:prstGeom prst="roundRect">
            <a:avLst>
              <a:gd name="adj" fmla="val 7143"/>
            </a:avLst>
          </a:prstGeom>
          <a:solidFill>
            <a:srgbClr val="B9CAD7"/>
          </a:solidFill>
          <a:ln w="12700">
            <a:solidFill>
              <a:srgbClr val="B9CAD7"/>
            </a:solidFill>
            <a:prstDash val="solid"/>
          </a:ln>
        </p:spPr>
        <p:txBody>
          <a:bodyPr/>
          <a:lstStyle/>
          <a:p>
            <a:endParaRPr lang="en-US"/>
          </a:p>
        </p:txBody>
      </p:sp>
      <p:sp>
        <p:nvSpPr>
          <p:cNvPr id="14" name="Text 12"/>
          <p:cNvSpPr/>
          <p:nvPr/>
        </p:nvSpPr>
        <p:spPr>
          <a:xfrm>
            <a:off x="6821424" y="2816352"/>
            <a:ext cx="2542032" cy="256032"/>
          </a:xfrm>
          <a:prstGeom prst="rect">
            <a:avLst/>
          </a:prstGeom>
          <a:noFill/>
          <a:ln/>
        </p:spPr>
        <p:txBody>
          <a:bodyPr wrap="square" lIns="0" tIns="0" rIns="0" bIns="0" rtlCol="0" anchor="ctr"/>
          <a:lstStyle/>
          <a:p>
            <a:pPr marL="0" indent="0" algn="ctr">
              <a:buNone/>
            </a:pPr>
            <a:r>
              <a:rPr lang="en-US" sz="1600" b="1" dirty="0">
                <a:solidFill>
                  <a:srgbClr val="22313B"/>
                </a:solidFill>
                <a:latin typeface="Helvetica Neue" pitchFamily="34" charset="0"/>
                <a:ea typeface="Helvetica Neue" pitchFamily="34" charset="-122"/>
                <a:cs typeface="Helvetica Neue" pitchFamily="34" charset="-120"/>
              </a:rPr>
              <a:t>S3</a:t>
            </a:r>
            <a:endParaRPr lang="en-US" sz="1600" dirty="0"/>
          </a:p>
        </p:txBody>
      </p:sp>
      <p:sp>
        <p:nvSpPr>
          <p:cNvPr id="15" name="Shape 13"/>
          <p:cNvSpPr/>
          <p:nvPr/>
        </p:nvSpPr>
        <p:spPr>
          <a:xfrm>
            <a:off x="6931152" y="3236976"/>
            <a:ext cx="1042416" cy="310896"/>
          </a:xfrm>
          <a:prstGeom prst="roundRect">
            <a:avLst>
              <a:gd name="adj" fmla="val 17647"/>
            </a:avLst>
          </a:prstGeom>
          <a:solidFill>
            <a:srgbClr val="FBF7F1"/>
          </a:solidFill>
          <a:ln w="12700">
            <a:solidFill>
              <a:srgbClr val="D9CCBC"/>
            </a:solidFill>
            <a:prstDash val="solid"/>
          </a:ln>
        </p:spPr>
        <p:txBody>
          <a:bodyPr/>
          <a:lstStyle/>
          <a:p>
            <a:endParaRPr lang="en-US"/>
          </a:p>
        </p:txBody>
      </p:sp>
      <p:sp>
        <p:nvSpPr>
          <p:cNvPr id="16" name="Text 14"/>
          <p:cNvSpPr/>
          <p:nvPr/>
        </p:nvSpPr>
        <p:spPr>
          <a:xfrm>
            <a:off x="6931152" y="3282696"/>
            <a:ext cx="1042416" cy="219456"/>
          </a:xfrm>
          <a:prstGeom prst="rect">
            <a:avLst/>
          </a:prstGeom>
          <a:noFill/>
          <a:ln/>
        </p:spPr>
        <p:txBody>
          <a:bodyPr wrap="square" lIns="0" tIns="0" rIns="0" bIns="0" rtlCol="0" anchor="ctr"/>
          <a:lstStyle/>
          <a:p>
            <a:pPr marL="0" indent="0" algn="ctr">
              <a:buNone/>
            </a:pPr>
            <a:r>
              <a:rPr lang="en-US" sz="880" dirty="0">
                <a:solidFill>
                  <a:srgbClr val="53626C"/>
                </a:solidFill>
                <a:latin typeface="Helvetica Neue" pitchFamily="34" charset="0"/>
                <a:ea typeface="Helvetica Neue" pitchFamily="34" charset="-122"/>
                <a:cs typeface="Helvetica Neue" pitchFamily="34" charset="-120"/>
              </a:rPr>
              <a:t>raw uploads</a:t>
            </a:r>
            <a:endParaRPr lang="en-US" sz="880" dirty="0"/>
          </a:p>
        </p:txBody>
      </p:sp>
      <p:sp>
        <p:nvSpPr>
          <p:cNvPr id="17" name="Shape 15"/>
          <p:cNvSpPr/>
          <p:nvPr/>
        </p:nvSpPr>
        <p:spPr>
          <a:xfrm>
            <a:off x="8065008" y="3236976"/>
            <a:ext cx="1133856" cy="310896"/>
          </a:xfrm>
          <a:prstGeom prst="roundRect">
            <a:avLst>
              <a:gd name="adj" fmla="val 17647"/>
            </a:avLst>
          </a:prstGeom>
          <a:solidFill>
            <a:srgbClr val="FBF7F1"/>
          </a:solidFill>
          <a:ln w="12700">
            <a:solidFill>
              <a:srgbClr val="D9CCBC"/>
            </a:solidFill>
            <a:prstDash val="solid"/>
          </a:ln>
        </p:spPr>
        <p:txBody>
          <a:bodyPr/>
          <a:lstStyle/>
          <a:p>
            <a:endParaRPr lang="en-US"/>
          </a:p>
        </p:txBody>
      </p:sp>
      <p:sp>
        <p:nvSpPr>
          <p:cNvPr id="18" name="Text 16"/>
          <p:cNvSpPr/>
          <p:nvPr/>
        </p:nvSpPr>
        <p:spPr>
          <a:xfrm>
            <a:off x="8065008" y="3282696"/>
            <a:ext cx="1133856" cy="219456"/>
          </a:xfrm>
          <a:prstGeom prst="rect">
            <a:avLst/>
          </a:prstGeom>
          <a:noFill/>
          <a:ln/>
        </p:spPr>
        <p:txBody>
          <a:bodyPr wrap="square" lIns="0" tIns="0" rIns="0" bIns="0" rtlCol="0" anchor="ctr"/>
          <a:lstStyle/>
          <a:p>
            <a:pPr marL="0" indent="0" algn="ctr">
              <a:buNone/>
            </a:pPr>
            <a:r>
              <a:rPr lang="en-US" sz="860" dirty="0">
                <a:solidFill>
                  <a:srgbClr val="53626C"/>
                </a:solidFill>
                <a:latin typeface="Helvetica Neue" pitchFamily="34" charset="0"/>
                <a:ea typeface="Helvetica Neue" pitchFamily="34" charset="-122"/>
                <a:cs typeface="Helvetica Neue" pitchFamily="34" charset="-120"/>
              </a:rPr>
              <a:t>generated files</a:t>
            </a:r>
            <a:endParaRPr lang="en-US" sz="860" dirty="0"/>
          </a:p>
        </p:txBody>
      </p:sp>
      <p:sp>
        <p:nvSpPr>
          <p:cNvPr id="19" name="Shape 17"/>
          <p:cNvSpPr/>
          <p:nvPr/>
        </p:nvSpPr>
        <p:spPr>
          <a:xfrm>
            <a:off x="6675120" y="3913632"/>
            <a:ext cx="2834640" cy="1024128"/>
          </a:xfrm>
          <a:prstGeom prst="roundRect">
            <a:avLst>
              <a:gd name="adj" fmla="val 7143"/>
            </a:avLst>
          </a:prstGeom>
          <a:solidFill>
            <a:srgbClr val="E6D6C4"/>
          </a:solidFill>
          <a:ln w="12700">
            <a:solidFill>
              <a:srgbClr val="E6D6C4"/>
            </a:solidFill>
            <a:prstDash val="solid"/>
          </a:ln>
        </p:spPr>
        <p:txBody>
          <a:bodyPr/>
          <a:lstStyle/>
          <a:p>
            <a:endParaRPr lang="en-US"/>
          </a:p>
        </p:txBody>
      </p:sp>
      <p:sp>
        <p:nvSpPr>
          <p:cNvPr id="20" name="Text 18"/>
          <p:cNvSpPr/>
          <p:nvPr/>
        </p:nvSpPr>
        <p:spPr>
          <a:xfrm>
            <a:off x="6821424" y="4078224"/>
            <a:ext cx="2542032" cy="256032"/>
          </a:xfrm>
          <a:prstGeom prst="rect">
            <a:avLst/>
          </a:prstGeom>
          <a:noFill/>
          <a:ln/>
        </p:spPr>
        <p:txBody>
          <a:bodyPr wrap="square" lIns="0" tIns="0" rIns="0" bIns="0" rtlCol="0" anchor="ctr"/>
          <a:lstStyle/>
          <a:p>
            <a:pPr marL="0" indent="0" algn="ctr">
              <a:buNone/>
            </a:pPr>
            <a:r>
              <a:rPr lang="en-US" sz="1520" b="1" dirty="0">
                <a:solidFill>
                  <a:srgbClr val="22313B"/>
                </a:solidFill>
                <a:latin typeface="Helvetica Neue" pitchFamily="34" charset="0"/>
                <a:ea typeface="Helvetica Neue" pitchFamily="34" charset="-122"/>
                <a:cs typeface="Helvetica Neue" pitchFamily="34" charset="-120"/>
              </a:rPr>
              <a:t>DynamoDB</a:t>
            </a:r>
            <a:endParaRPr lang="en-US" sz="1520" dirty="0"/>
          </a:p>
        </p:txBody>
      </p:sp>
      <p:sp>
        <p:nvSpPr>
          <p:cNvPr id="21" name="Shape 19"/>
          <p:cNvSpPr/>
          <p:nvPr/>
        </p:nvSpPr>
        <p:spPr>
          <a:xfrm>
            <a:off x="6949440" y="4498848"/>
            <a:ext cx="932688" cy="310896"/>
          </a:xfrm>
          <a:prstGeom prst="roundRect">
            <a:avLst>
              <a:gd name="adj" fmla="val 17647"/>
            </a:avLst>
          </a:prstGeom>
          <a:solidFill>
            <a:srgbClr val="FBF7F1"/>
          </a:solidFill>
          <a:ln w="12700">
            <a:solidFill>
              <a:srgbClr val="D9CCBC"/>
            </a:solidFill>
            <a:prstDash val="solid"/>
          </a:ln>
        </p:spPr>
        <p:txBody>
          <a:bodyPr/>
          <a:lstStyle/>
          <a:p>
            <a:endParaRPr lang="en-US"/>
          </a:p>
        </p:txBody>
      </p:sp>
      <p:sp>
        <p:nvSpPr>
          <p:cNvPr id="22" name="Text 20"/>
          <p:cNvSpPr/>
          <p:nvPr/>
        </p:nvSpPr>
        <p:spPr>
          <a:xfrm>
            <a:off x="6949440" y="4544568"/>
            <a:ext cx="932688" cy="219456"/>
          </a:xfrm>
          <a:prstGeom prst="rect">
            <a:avLst/>
          </a:prstGeom>
          <a:noFill/>
          <a:ln/>
        </p:spPr>
        <p:txBody>
          <a:bodyPr wrap="square" lIns="0" tIns="0" rIns="0" bIns="0" rtlCol="0" anchor="ctr"/>
          <a:lstStyle/>
          <a:p>
            <a:pPr marL="0" indent="0" algn="ctr">
              <a:buNone/>
            </a:pPr>
            <a:r>
              <a:rPr lang="en-US" sz="890" dirty="0">
                <a:solidFill>
                  <a:srgbClr val="53626C"/>
                </a:solidFill>
                <a:latin typeface="Helvetica Neue" pitchFamily="34" charset="0"/>
                <a:ea typeface="Helvetica Neue" pitchFamily="34" charset="-122"/>
                <a:cs typeface="Helvetica Neue" pitchFamily="34" charset="-120"/>
              </a:rPr>
              <a:t>metadata</a:t>
            </a:r>
            <a:endParaRPr lang="en-US" sz="890" dirty="0"/>
          </a:p>
        </p:txBody>
      </p:sp>
      <p:sp>
        <p:nvSpPr>
          <p:cNvPr id="23" name="Shape 21"/>
          <p:cNvSpPr/>
          <p:nvPr/>
        </p:nvSpPr>
        <p:spPr>
          <a:xfrm>
            <a:off x="7991856" y="4498848"/>
            <a:ext cx="877824" cy="310896"/>
          </a:xfrm>
          <a:prstGeom prst="roundRect">
            <a:avLst>
              <a:gd name="adj" fmla="val 17647"/>
            </a:avLst>
          </a:prstGeom>
          <a:solidFill>
            <a:srgbClr val="FBF7F1"/>
          </a:solidFill>
          <a:ln w="12700">
            <a:solidFill>
              <a:srgbClr val="D9CCBC"/>
            </a:solidFill>
            <a:prstDash val="solid"/>
          </a:ln>
        </p:spPr>
        <p:txBody>
          <a:bodyPr/>
          <a:lstStyle/>
          <a:p>
            <a:endParaRPr lang="en-US"/>
          </a:p>
        </p:txBody>
      </p:sp>
      <p:sp>
        <p:nvSpPr>
          <p:cNvPr id="24" name="Text 22"/>
          <p:cNvSpPr/>
          <p:nvPr/>
        </p:nvSpPr>
        <p:spPr>
          <a:xfrm>
            <a:off x="7991856" y="4544568"/>
            <a:ext cx="877824" cy="219456"/>
          </a:xfrm>
          <a:prstGeom prst="rect">
            <a:avLst/>
          </a:prstGeom>
          <a:noFill/>
          <a:ln/>
        </p:spPr>
        <p:txBody>
          <a:bodyPr wrap="square" lIns="0" tIns="0" rIns="0" bIns="0" rtlCol="0" anchor="ctr"/>
          <a:lstStyle/>
          <a:p>
            <a:pPr marL="0" indent="0" algn="ctr">
              <a:buNone/>
            </a:pPr>
            <a:r>
              <a:rPr lang="en-US" sz="890" dirty="0">
                <a:solidFill>
                  <a:srgbClr val="53626C"/>
                </a:solidFill>
                <a:latin typeface="Helvetica Neue" pitchFamily="34" charset="0"/>
                <a:ea typeface="Helvetica Neue" pitchFamily="34" charset="-122"/>
                <a:cs typeface="Helvetica Neue" pitchFamily="34" charset="-120"/>
              </a:rPr>
              <a:t>pointers</a:t>
            </a:r>
            <a:endParaRPr lang="en-US" sz="890" dirty="0"/>
          </a:p>
        </p:txBody>
      </p:sp>
      <p:sp>
        <p:nvSpPr>
          <p:cNvPr id="25" name="Shape 23"/>
          <p:cNvSpPr/>
          <p:nvPr/>
        </p:nvSpPr>
        <p:spPr>
          <a:xfrm>
            <a:off x="3127248" y="3108960"/>
            <a:ext cx="786384" cy="393192"/>
          </a:xfrm>
          <a:prstGeom prst="line">
            <a:avLst/>
          </a:prstGeom>
          <a:noFill/>
          <a:ln w="12700">
            <a:solidFill>
              <a:srgbClr val="C6B29A"/>
            </a:solidFill>
            <a:prstDash val="solid"/>
            <a:headEnd type="none"/>
            <a:tailEnd type="triangle"/>
          </a:ln>
        </p:spPr>
        <p:txBody>
          <a:bodyPr/>
          <a:lstStyle/>
          <a:p>
            <a:endParaRPr lang="en-US"/>
          </a:p>
        </p:txBody>
      </p:sp>
      <p:sp>
        <p:nvSpPr>
          <p:cNvPr id="26" name="Shape 24"/>
          <p:cNvSpPr/>
          <p:nvPr/>
        </p:nvSpPr>
        <p:spPr>
          <a:xfrm flipV="1">
            <a:off x="3127248" y="3822192"/>
            <a:ext cx="768096" cy="310896"/>
          </a:xfrm>
          <a:prstGeom prst="line">
            <a:avLst/>
          </a:prstGeom>
          <a:noFill/>
          <a:ln w="12700">
            <a:solidFill>
              <a:srgbClr val="C6B29A"/>
            </a:solidFill>
            <a:prstDash val="solid"/>
            <a:headEnd type="none"/>
            <a:tailEnd type="triangle"/>
          </a:ln>
        </p:spPr>
        <p:txBody>
          <a:bodyPr/>
          <a:lstStyle/>
          <a:p>
            <a:endParaRPr lang="en-US"/>
          </a:p>
        </p:txBody>
      </p:sp>
      <p:sp>
        <p:nvSpPr>
          <p:cNvPr id="27" name="Shape 25"/>
          <p:cNvSpPr/>
          <p:nvPr/>
        </p:nvSpPr>
        <p:spPr>
          <a:xfrm flipV="1">
            <a:off x="5998464" y="3090672"/>
            <a:ext cx="658368" cy="411480"/>
          </a:xfrm>
          <a:prstGeom prst="line">
            <a:avLst/>
          </a:prstGeom>
          <a:noFill/>
          <a:ln w="12700">
            <a:solidFill>
              <a:srgbClr val="C6B29A"/>
            </a:solidFill>
            <a:prstDash val="solid"/>
            <a:headEnd type="none"/>
            <a:tailEnd type="triangle"/>
          </a:ln>
        </p:spPr>
        <p:txBody>
          <a:bodyPr/>
          <a:lstStyle/>
          <a:p>
            <a:endParaRPr lang="en-US"/>
          </a:p>
        </p:txBody>
      </p:sp>
      <p:sp>
        <p:nvSpPr>
          <p:cNvPr id="28" name="Shape 26"/>
          <p:cNvSpPr/>
          <p:nvPr/>
        </p:nvSpPr>
        <p:spPr>
          <a:xfrm>
            <a:off x="6007608" y="3767328"/>
            <a:ext cx="649224" cy="658368"/>
          </a:xfrm>
          <a:prstGeom prst="line">
            <a:avLst/>
          </a:prstGeom>
          <a:noFill/>
          <a:ln w="12700">
            <a:solidFill>
              <a:srgbClr val="C6B29A"/>
            </a:solidFill>
            <a:prstDash val="solid"/>
            <a:headEnd type="none"/>
            <a:tailEnd type="triangle"/>
          </a:ln>
        </p:spPr>
        <p:txBody>
          <a:bodyPr/>
          <a:lstStyle/>
          <a:p>
            <a:endParaRPr lang="en-US"/>
          </a:p>
        </p:txBody>
      </p:sp>
      <p:sp>
        <p:nvSpPr>
          <p:cNvPr id="29" name="Shape 27"/>
          <p:cNvSpPr/>
          <p:nvPr/>
        </p:nvSpPr>
        <p:spPr>
          <a:xfrm>
            <a:off x="9948672" y="3913632"/>
            <a:ext cx="868680" cy="950976"/>
          </a:xfrm>
          <a:prstGeom prst="roundRect">
            <a:avLst>
              <a:gd name="adj" fmla="val 8421"/>
            </a:avLst>
          </a:prstGeom>
          <a:solidFill>
            <a:srgbClr val="F2E9DE"/>
          </a:solidFill>
          <a:ln w="12700">
            <a:solidFill>
              <a:srgbClr val="D9CCBC"/>
            </a:solidFill>
            <a:prstDash val="solid"/>
          </a:ln>
        </p:spPr>
        <p:txBody>
          <a:bodyPr/>
          <a:lstStyle/>
          <a:p>
            <a:endParaRPr lang="en-US"/>
          </a:p>
        </p:txBody>
      </p:sp>
      <p:sp>
        <p:nvSpPr>
          <p:cNvPr id="30" name="Text 28"/>
          <p:cNvSpPr/>
          <p:nvPr/>
        </p:nvSpPr>
        <p:spPr>
          <a:xfrm>
            <a:off x="10044684" y="4130345"/>
            <a:ext cx="676656" cy="493776"/>
          </a:xfrm>
          <a:prstGeom prst="rect">
            <a:avLst/>
          </a:prstGeom>
          <a:noFill/>
          <a:ln/>
        </p:spPr>
        <p:txBody>
          <a:bodyPr wrap="square" lIns="0" tIns="0" rIns="0" bIns="0" rtlCol="0" anchor="ctr"/>
          <a:lstStyle/>
          <a:p>
            <a:pPr marL="0" indent="0" algn="ctr">
              <a:buNone/>
            </a:pPr>
            <a:r>
              <a:rPr lang="en-US" sz="900" i="1" dirty="0">
                <a:solidFill>
                  <a:srgbClr val="53626C"/>
                </a:solidFill>
                <a:latin typeface="Helvetica Neue" pitchFamily="34" charset="0"/>
                <a:ea typeface="Helvetica Neue" pitchFamily="34" charset="-122"/>
                <a:cs typeface="Helvetica Neue" pitchFamily="34" charset="-120"/>
              </a:rPr>
              <a:t>Large logical</a:t>
            </a:r>
            <a:endParaRPr lang="en-US" sz="900" dirty="0"/>
          </a:p>
          <a:p>
            <a:pPr marL="0" indent="0" algn="ctr">
              <a:buNone/>
            </a:pPr>
            <a:r>
              <a:rPr lang="en-US" sz="900" i="1" dirty="0">
                <a:solidFill>
                  <a:srgbClr val="53626C"/>
                </a:solidFill>
                <a:latin typeface="Helvetica Neue" pitchFamily="34" charset="0"/>
                <a:ea typeface="Helvetica Neue" pitchFamily="34" charset="-122"/>
                <a:cs typeface="Helvetica Neue" pitchFamily="34" charset="-120"/>
              </a:rPr>
              <a:t>payloads split</a:t>
            </a:r>
            <a:endParaRPr lang="en-US" sz="900" dirty="0"/>
          </a:p>
          <a:p>
            <a:pPr marL="0" indent="0" algn="ctr">
              <a:buNone/>
            </a:pPr>
            <a:r>
              <a:rPr lang="en-US" sz="900" i="1" dirty="0">
                <a:solidFill>
                  <a:srgbClr val="53626C"/>
                </a:solidFill>
                <a:latin typeface="Helvetica Neue" pitchFamily="34" charset="0"/>
                <a:ea typeface="Helvetica Neue" pitchFamily="34" charset="-122"/>
                <a:cs typeface="Helvetica Neue" pitchFamily="34" charset="-120"/>
              </a:rPr>
              <a:t>across JSON</a:t>
            </a:r>
            <a:endParaRPr lang="en-US" sz="900" dirty="0"/>
          </a:p>
          <a:p>
            <a:pPr marL="0" indent="0" algn="ctr">
              <a:buNone/>
            </a:pPr>
            <a:r>
              <a:rPr lang="en-US" sz="900" i="1" dirty="0">
                <a:solidFill>
                  <a:srgbClr val="53626C"/>
                </a:solidFill>
                <a:latin typeface="Helvetica Neue" pitchFamily="34" charset="0"/>
                <a:ea typeface="Helvetica Neue" pitchFamily="34" charset="-122"/>
                <a:cs typeface="Helvetica Neue" pitchFamily="34" charset="-120"/>
              </a:rPr>
              <a:t>objects</a:t>
            </a:r>
            <a:endParaRPr lang="en-US" sz="900" dirty="0"/>
          </a:p>
        </p:txBody>
      </p:sp>
      <p:sp>
        <p:nvSpPr>
          <p:cNvPr id="31" name="Shape 29"/>
          <p:cNvSpPr/>
          <p:nvPr/>
        </p:nvSpPr>
        <p:spPr>
          <a:xfrm>
            <a:off x="9528048" y="4407408"/>
            <a:ext cx="420624" cy="0"/>
          </a:xfrm>
          <a:prstGeom prst="line">
            <a:avLst/>
          </a:prstGeom>
          <a:noFill/>
          <a:ln w="12700">
            <a:solidFill>
              <a:srgbClr val="C6B29A"/>
            </a:solidFill>
            <a:prstDash val="solid"/>
          </a:ln>
        </p:spPr>
        <p:txBody>
          <a:bodyPr/>
          <a:lstStyle/>
          <a:p>
            <a:endParaRPr lang="en-US"/>
          </a:p>
        </p:txBody>
      </p:sp>
      <p:sp>
        <p:nvSpPr>
          <p:cNvPr id="32" name="Shape 30"/>
          <p:cNvSpPr/>
          <p:nvPr/>
        </p:nvSpPr>
        <p:spPr>
          <a:xfrm>
            <a:off x="868680" y="5687568"/>
            <a:ext cx="10424160" cy="493776"/>
          </a:xfrm>
          <a:prstGeom prst="roundRect">
            <a:avLst>
              <a:gd name="adj" fmla="val 14815"/>
            </a:avLst>
          </a:prstGeom>
          <a:solidFill>
            <a:srgbClr val="F2E9DE"/>
          </a:solidFill>
          <a:ln w="12700">
            <a:solidFill>
              <a:srgbClr val="D9CCBC"/>
            </a:solidFill>
            <a:prstDash val="solid"/>
          </a:ln>
        </p:spPr>
        <p:txBody>
          <a:bodyPr/>
          <a:lstStyle/>
          <a:p>
            <a:endParaRPr lang="en-US"/>
          </a:p>
        </p:txBody>
      </p:sp>
      <p:sp>
        <p:nvSpPr>
          <p:cNvPr id="33" name="Text 31"/>
          <p:cNvSpPr/>
          <p:nvPr/>
        </p:nvSpPr>
        <p:spPr>
          <a:xfrm>
            <a:off x="1051560" y="5833872"/>
            <a:ext cx="10012680" cy="201168"/>
          </a:xfrm>
          <a:prstGeom prst="rect">
            <a:avLst/>
          </a:prstGeom>
          <a:noFill/>
          <a:ln/>
        </p:spPr>
        <p:txBody>
          <a:bodyPr wrap="square" lIns="0" tIns="0" rIns="0" bIns="0" rtlCol="0" anchor="ctr"/>
          <a:lstStyle/>
          <a:p>
            <a:pPr marL="0" indent="0" algn="ctr">
              <a:buNone/>
            </a:pPr>
            <a:r>
              <a:rPr lang="en-US" sz="1150" b="1" dirty="0">
                <a:solidFill>
                  <a:srgbClr val="22313B"/>
                </a:solidFill>
                <a:latin typeface="Helvetica Neue" pitchFamily="34" charset="0"/>
                <a:ea typeface="Helvetica Neue" pitchFamily="34" charset="-122"/>
                <a:cs typeface="Helvetica Neue" pitchFamily="34" charset="-120"/>
              </a:rPr>
              <a:t>This was the right architecture to ship v1.</a:t>
            </a:r>
            <a:endParaRPr lang="en-US" sz="1150" dirty="0"/>
          </a:p>
        </p:txBody>
      </p:sp>
      <p:sp>
        <p:nvSpPr>
          <p:cNvPr id="34" name="Shape 32"/>
          <p:cNvSpPr/>
          <p:nvPr/>
        </p:nvSpPr>
        <p:spPr>
          <a:xfrm>
            <a:off x="8887968" y="530352"/>
            <a:ext cx="932688" cy="365760"/>
          </a:xfrm>
          <a:prstGeom prst="roundRect">
            <a:avLst>
              <a:gd name="adj" fmla="val 15000"/>
            </a:avLst>
          </a:prstGeom>
          <a:solidFill>
            <a:srgbClr val="F2E9DE"/>
          </a:solidFill>
          <a:ln w="12700">
            <a:solidFill>
              <a:srgbClr val="D9CCBC"/>
            </a:solidFill>
            <a:prstDash val="solid"/>
          </a:ln>
        </p:spPr>
        <p:txBody>
          <a:bodyPr/>
          <a:lstStyle/>
          <a:p>
            <a:endParaRPr lang="en-US"/>
          </a:p>
        </p:txBody>
      </p:sp>
      <p:sp>
        <p:nvSpPr>
          <p:cNvPr id="35" name="Text 33"/>
          <p:cNvSpPr/>
          <p:nvPr/>
        </p:nvSpPr>
        <p:spPr>
          <a:xfrm>
            <a:off x="8887968" y="603504"/>
            <a:ext cx="932688" cy="219456"/>
          </a:xfrm>
          <a:prstGeom prst="rect">
            <a:avLst/>
          </a:prstGeom>
          <a:noFill/>
          <a:ln/>
        </p:spPr>
        <p:txBody>
          <a:bodyPr wrap="square" lIns="0" tIns="0" rIns="0" bIns="0" rtlCol="0" anchor="ctr"/>
          <a:lstStyle/>
          <a:p>
            <a:pPr marL="0" indent="0" algn="ctr">
              <a:buNone/>
            </a:pPr>
            <a:r>
              <a:rPr lang="en-US" sz="1050" dirty="0">
                <a:solidFill>
                  <a:srgbClr val="53626C"/>
                </a:solidFill>
                <a:latin typeface="Helvetica Neue" pitchFamily="34" charset="0"/>
                <a:ea typeface="Helvetica Neue" pitchFamily="34" charset="-122"/>
                <a:cs typeface="Helvetica Neue" pitchFamily="34" charset="-120"/>
              </a:rPr>
              <a:t>Slide 3</a:t>
            </a:r>
            <a:endParaRPr lang="en-US" sz="1050" dirty="0"/>
          </a:p>
        </p:txBody>
      </p:sp>
      <p:sp>
        <p:nvSpPr>
          <p:cNvPr id="36" name="Shape 34"/>
          <p:cNvSpPr/>
          <p:nvPr/>
        </p:nvSpPr>
        <p:spPr>
          <a:xfrm>
            <a:off x="9948672" y="530352"/>
            <a:ext cx="1335024" cy="365760"/>
          </a:xfrm>
          <a:prstGeom prst="roundRect">
            <a:avLst>
              <a:gd name="adj" fmla="val 15000"/>
            </a:avLst>
          </a:prstGeom>
          <a:solidFill>
            <a:srgbClr val="F2E9DE"/>
          </a:solidFill>
          <a:ln w="12700">
            <a:solidFill>
              <a:srgbClr val="D9CCBC"/>
            </a:solidFill>
            <a:prstDash val="solid"/>
          </a:ln>
        </p:spPr>
        <p:txBody>
          <a:bodyPr/>
          <a:lstStyle/>
          <a:p>
            <a:endParaRPr lang="en-US"/>
          </a:p>
        </p:txBody>
      </p:sp>
      <p:sp>
        <p:nvSpPr>
          <p:cNvPr id="37" name="Text 35"/>
          <p:cNvSpPr/>
          <p:nvPr/>
        </p:nvSpPr>
        <p:spPr>
          <a:xfrm>
            <a:off x="9948672" y="603504"/>
            <a:ext cx="1335024" cy="219456"/>
          </a:xfrm>
          <a:prstGeom prst="rect">
            <a:avLst/>
          </a:prstGeom>
          <a:noFill/>
          <a:ln/>
        </p:spPr>
        <p:txBody>
          <a:bodyPr wrap="square" lIns="0" tIns="0" rIns="0" bIns="0" rtlCol="0" anchor="ctr"/>
          <a:lstStyle/>
          <a:p>
            <a:pPr marL="0" indent="0" algn="ctr">
              <a:buNone/>
            </a:pPr>
            <a:r>
              <a:rPr lang="en-US" sz="1050" dirty="0">
                <a:solidFill>
                  <a:srgbClr val="53626C"/>
                </a:solidFill>
                <a:latin typeface="Helvetica Neue" pitchFamily="34" charset="0"/>
                <a:ea typeface="Helvetica Neue" pitchFamily="34" charset="-122"/>
                <a:cs typeface="Helvetica Neue" pitchFamily="34" charset="-120"/>
              </a:rPr>
              <a:t>Architecture</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1E8"/>
        </a:solidFill>
        <a:effectLst/>
      </p:bgPr>
    </p:bg>
    <p:spTree>
      <p:nvGrpSpPr>
        <p:cNvPr id="1" name=""/>
        <p:cNvGrpSpPr/>
        <p:nvPr/>
      </p:nvGrpSpPr>
      <p:grpSpPr>
        <a:xfrm>
          <a:off x="0" y="0"/>
          <a:ext cx="0" cy="0"/>
          <a:chOff x="0" y="0"/>
          <a:chExt cx="0" cy="0"/>
        </a:xfrm>
      </p:grpSpPr>
      <p:sp>
        <p:nvSpPr>
          <p:cNvPr id="2" name="Text 0"/>
          <p:cNvSpPr/>
          <p:nvPr/>
        </p:nvSpPr>
        <p:spPr>
          <a:xfrm>
            <a:off x="868680" y="502920"/>
            <a:ext cx="2560320" cy="133350"/>
          </a:xfrm>
          <a:prstGeom prst="rect">
            <a:avLst/>
          </a:prstGeom>
          <a:noFill/>
          <a:ln/>
        </p:spPr>
        <p:txBody>
          <a:bodyPr wrap="square" lIns="0" tIns="0" rIns="0" bIns="0" rtlCol="0" anchor="ctr"/>
          <a:lstStyle/>
          <a:p>
            <a:pPr marL="0" indent="0">
              <a:buNone/>
            </a:pPr>
            <a:r>
              <a:rPr lang="en-US" sz="1050" b="1" dirty="0">
                <a:solidFill>
                  <a:srgbClr val="B8874F"/>
                </a:solidFill>
                <a:latin typeface="Helvetica Neue" pitchFamily="34" charset="0"/>
                <a:ea typeface="Helvetica Neue" pitchFamily="34" charset="-122"/>
                <a:cs typeface="Helvetica Neue" pitchFamily="34" charset="-120"/>
              </a:rPr>
              <a:t>WHERE IT BREAKS</a:t>
            </a:r>
            <a:endParaRPr lang="en-US" sz="1050" dirty="0"/>
          </a:p>
        </p:txBody>
      </p:sp>
      <p:sp>
        <p:nvSpPr>
          <p:cNvPr id="3" name="Shape 1"/>
          <p:cNvSpPr/>
          <p:nvPr/>
        </p:nvSpPr>
        <p:spPr>
          <a:xfrm>
            <a:off x="868680" y="822960"/>
            <a:ext cx="1005840" cy="0"/>
          </a:xfrm>
          <a:prstGeom prst="line">
            <a:avLst/>
          </a:prstGeom>
          <a:noFill/>
          <a:ln w="12700">
            <a:solidFill>
              <a:srgbClr val="B8874F"/>
            </a:solidFill>
            <a:prstDash val="solid"/>
          </a:ln>
        </p:spPr>
        <p:txBody>
          <a:bodyPr/>
          <a:lstStyle/>
          <a:p>
            <a:endParaRPr lang="en-US"/>
          </a:p>
        </p:txBody>
      </p:sp>
      <p:sp>
        <p:nvSpPr>
          <p:cNvPr id="4" name="Text 2"/>
          <p:cNvSpPr/>
          <p:nvPr/>
        </p:nvSpPr>
        <p:spPr>
          <a:xfrm>
            <a:off x="868680" y="1024128"/>
            <a:ext cx="6126480" cy="658368"/>
          </a:xfrm>
          <a:prstGeom prst="rect">
            <a:avLst/>
          </a:prstGeom>
          <a:noFill/>
          <a:ln/>
        </p:spPr>
        <p:txBody>
          <a:bodyPr wrap="square" lIns="0" tIns="0" rIns="0" bIns="0" rtlCol="0" anchor="ctr">
            <a:normAutofit/>
          </a:bodyPr>
          <a:lstStyle/>
          <a:p>
            <a:pPr marL="0" indent="0">
              <a:buNone/>
            </a:pPr>
            <a:r>
              <a:rPr lang="en-US" sz="2496" b="1" dirty="0">
                <a:solidFill>
                  <a:srgbClr val="22313B"/>
                </a:solidFill>
                <a:latin typeface="Georgia" pitchFamily="34" charset="0"/>
                <a:ea typeface="Georgia" pitchFamily="34" charset="-122"/>
                <a:cs typeface="Georgia" pitchFamily="34" charset="-120"/>
              </a:rPr>
              <a:t>Where it starts to break</a:t>
            </a:r>
            <a:endParaRPr lang="en-US" sz="2496" dirty="0"/>
          </a:p>
        </p:txBody>
      </p:sp>
      <p:sp>
        <p:nvSpPr>
          <p:cNvPr id="5" name="Text 3"/>
          <p:cNvSpPr/>
          <p:nvPr/>
        </p:nvSpPr>
        <p:spPr>
          <a:xfrm>
            <a:off x="868680" y="1700784"/>
            <a:ext cx="6446520" cy="384048"/>
          </a:xfrm>
          <a:prstGeom prst="rect">
            <a:avLst/>
          </a:prstGeom>
          <a:noFill/>
          <a:ln/>
        </p:spPr>
        <p:txBody>
          <a:bodyPr wrap="square" lIns="0" tIns="0" rIns="0" bIns="0" rtlCol="0" anchor="ctr"/>
          <a:lstStyle/>
          <a:p>
            <a:pPr marL="0" indent="0">
              <a:buNone/>
            </a:pPr>
            <a:r>
              <a:rPr lang="en-US" sz="1450" dirty="0">
                <a:solidFill>
                  <a:srgbClr val="53626C"/>
                </a:solidFill>
                <a:latin typeface="Helvetica Neue" pitchFamily="34" charset="0"/>
                <a:ea typeface="Helvetica Neue" pitchFamily="34" charset="-122"/>
                <a:cs typeface="Helvetica Neue" pitchFamily="34" charset="-120"/>
              </a:rPr>
              <a:t>The real problem is DynamoDB fan-out, not raw bytes in S3.</a:t>
            </a:r>
            <a:endParaRPr lang="en-US" sz="1450" dirty="0"/>
          </a:p>
        </p:txBody>
      </p:sp>
      <p:sp>
        <p:nvSpPr>
          <p:cNvPr id="6" name="Shape 4"/>
          <p:cNvSpPr/>
          <p:nvPr/>
        </p:nvSpPr>
        <p:spPr>
          <a:xfrm>
            <a:off x="868680" y="2240280"/>
            <a:ext cx="10424160" cy="3401568"/>
          </a:xfrm>
          <a:prstGeom prst="roundRect">
            <a:avLst>
              <a:gd name="adj" fmla="val 2151"/>
            </a:avLst>
          </a:prstGeom>
          <a:solidFill>
            <a:srgbClr val="FBF7F1"/>
          </a:solidFill>
          <a:ln w="12700">
            <a:solidFill>
              <a:srgbClr val="D9CCBC"/>
            </a:solidFill>
            <a:prstDash val="solid"/>
          </a:ln>
        </p:spPr>
        <p:txBody>
          <a:bodyPr/>
          <a:lstStyle/>
          <a:p>
            <a:endParaRPr lang="en-US"/>
          </a:p>
        </p:txBody>
      </p:sp>
      <p:sp>
        <p:nvSpPr>
          <p:cNvPr id="7" name="Shape 5"/>
          <p:cNvSpPr/>
          <p:nvPr/>
        </p:nvSpPr>
        <p:spPr>
          <a:xfrm>
            <a:off x="7114032" y="2633472"/>
            <a:ext cx="0" cy="2651760"/>
          </a:xfrm>
          <a:prstGeom prst="line">
            <a:avLst/>
          </a:prstGeom>
          <a:noFill/>
          <a:ln w="12700">
            <a:solidFill>
              <a:srgbClr val="C6B29A">
                <a:alpha val="88000"/>
              </a:srgbClr>
            </a:solidFill>
            <a:prstDash val="solid"/>
          </a:ln>
        </p:spPr>
        <p:txBody>
          <a:bodyPr/>
          <a:lstStyle/>
          <a:p>
            <a:endParaRPr lang="en-US"/>
          </a:p>
        </p:txBody>
      </p:sp>
      <p:sp>
        <p:nvSpPr>
          <p:cNvPr id="8" name="Text 6"/>
          <p:cNvSpPr/>
          <p:nvPr/>
        </p:nvSpPr>
        <p:spPr>
          <a:xfrm>
            <a:off x="1143000" y="2542032"/>
            <a:ext cx="3749040" cy="219456"/>
          </a:xfrm>
          <a:prstGeom prst="rect">
            <a:avLst/>
          </a:prstGeom>
          <a:noFill/>
          <a:ln/>
        </p:spPr>
        <p:txBody>
          <a:bodyPr wrap="square" lIns="0" tIns="0" rIns="0" bIns="0" rtlCol="0" anchor="ctr"/>
          <a:lstStyle/>
          <a:p>
            <a:pPr marL="0" indent="0">
              <a:buNone/>
            </a:pPr>
            <a:r>
              <a:rPr lang="en-US" sz="1080" i="1" dirty="0">
                <a:solidFill>
                  <a:srgbClr val="53626C"/>
                </a:solidFill>
                <a:latin typeface="Helvetica Neue" pitchFamily="34" charset="0"/>
                <a:ea typeface="Helvetica Neue" pitchFamily="34" charset="-122"/>
                <a:cs typeface="Helvetica Neue" pitchFamily="34" charset="-120"/>
              </a:rPr>
              <a:t>One logical project can explode into many DynamoDB rows.</a:t>
            </a:r>
            <a:endParaRPr lang="en-US" sz="1080" dirty="0"/>
          </a:p>
        </p:txBody>
      </p:sp>
      <p:sp>
        <p:nvSpPr>
          <p:cNvPr id="9" name="Shape 7"/>
          <p:cNvSpPr/>
          <p:nvPr/>
        </p:nvSpPr>
        <p:spPr>
          <a:xfrm>
            <a:off x="1188720" y="3364992"/>
            <a:ext cx="1152144" cy="658368"/>
          </a:xfrm>
          <a:prstGeom prst="roundRect">
            <a:avLst>
              <a:gd name="adj" fmla="val 11111"/>
            </a:avLst>
          </a:prstGeom>
          <a:solidFill>
            <a:srgbClr val="22313B"/>
          </a:solidFill>
          <a:ln w="12700">
            <a:solidFill>
              <a:srgbClr val="22313B"/>
            </a:solidFill>
            <a:prstDash val="solid"/>
          </a:ln>
        </p:spPr>
        <p:txBody>
          <a:bodyPr/>
          <a:lstStyle/>
          <a:p>
            <a:endParaRPr lang="en-US"/>
          </a:p>
        </p:txBody>
      </p:sp>
      <p:sp>
        <p:nvSpPr>
          <p:cNvPr id="10" name="Text 8"/>
          <p:cNvSpPr/>
          <p:nvPr/>
        </p:nvSpPr>
        <p:spPr>
          <a:xfrm>
            <a:off x="1335024" y="3566160"/>
            <a:ext cx="859536" cy="256032"/>
          </a:xfrm>
          <a:prstGeom prst="rect">
            <a:avLst/>
          </a:prstGeom>
          <a:noFill/>
          <a:ln/>
        </p:spPr>
        <p:txBody>
          <a:bodyPr wrap="square" lIns="0" tIns="0" rIns="0" bIns="0" rtlCol="0" anchor="ctr"/>
          <a:lstStyle/>
          <a:p>
            <a:pPr marL="0" indent="0" algn="ctr">
              <a:buNone/>
            </a:pPr>
            <a:r>
              <a:rPr lang="en-US" sz="1340" b="1" dirty="0">
                <a:solidFill>
                  <a:srgbClr val="FFFFFF"/>
                </a:solidFill>
                <a:latin typeface="Helvetica Neue" pitchFamily="34" charset="0"/>
                <a:ea typeface="Helvetica Neue" pitchFamily="34" charset="-122"/>
                <a:cs typeface="Helvetica Neue" pitchFamily="34" charset="-120"/>
              </a:rPr>
              <a:t>1 project</a:t>
            </a:r>
            <a:endParaRPr lang="en-US" sz="1340" dirty="0"/>
          </a:p>
        </p:txBody>
      </p:sp>
      <p:sp>
        <p:nvSpPr>
          <p:cNvPr id="11" name="Shape 9"/>
          <p:cNvSpPr/>
          <p:nvPr/>
        </p:nvSpPr>
        <p:spPr>
          <a:xfrm>
            <a:off x="2359152" y="3685032"/>
            <a:ext cx="512064" cy="0"/>
          </a:xfrm>
          <a:prstGeom prst="line">
            <a:avLst/>
          </a:prstGeom>
          <a:noFill/>
          <a:ln w="12700">
            <a:solidFill>
              <a:srgbClr val="C6B29A"/>
            </a:solidFill>
            <a:prstDash val="solid"/>
            <a:headEnd type="none"/>
            <a:tailEnd type="triangle"/>
          </a:ln>
        </p:spPr>
        <p:txBody>
          <a:bodyPr/>
          <a:lstStyle/>
          <a:p>
            <a:endParaRPr lang="en-US"/>
          </a:p>
        </p:txBody>
      </p:sp>
      <p:sp>
        <p:nvSpPr>
          <p:cNvPr id="12" name="Text 10"/>
          <p:cNvSpPr/>
          <p:nvPr/>
        </p:nvSpPr>
        <p:spPr>
          <a:xfrm>
            <a:off x="2537460" y="2907792"/>
            <a:ext cx="1783080" cy="201168"/>
          </a:xfrm>
          <a:prstGeom prst="rect">
            <a:avLst/>
          </a:prstGeom>
          <a:noFill/>
          <a:ln/>
        </p:spPr>
        <p:txBody>
          <a:bodyPr wrap="square" lIns="0" tIns="0" rIns="0" bIns="0" rtlCol="0" anchor="ctr"/>
          <a:lstStyle/>
          <a:p>
            <a:pPr marL="0" indent="0" algn="ctr">
              <a:buNone/>
            </a:pPr>
            <a:r>
              <a:rPr lang="en-US" sz="1060" b="1" dirty="0">
                <a:solidFill>
                  <a:srgbClr val="22313B"/>
                </a:solidFill>
                <a:latin typeface="Helvetica Neue" pitchFamily="34" charset="0"/>
                <a:ea typeface="Helvetica Neue" pitchFamily="34" charset="-122"/>
                <a:cs typeface="Helvetica Neue" pitchFamily="34" charset="-120"/>
              </a:rPr>
              <a:t>~250k generated files</a:t>
            </a:r>
            <a:endParaRPr lang="en-US" sz="1060" dirty="0"/>
          </a:p>
        </p:txBody>
      </p:sp>
      <p:sp>
        <p:nvSpPr>
          <p:cNvPr id="13" name="Shape 11"/>
          <p:cNvSpPr/>
          <p:nvPr/>
        </p:nvSpPr>
        <p:spPr>
          <a:xfrm>
            <a:off x="2871216" y="3383280"/>
            <a:ext cx="329184" cy="548640"/>
          </a:xfrm>
          <a:prstGeom prst="roundRect">
            <a:avLst>
              <a:gd name="adj" fmla="val 22222"/>
            </a:avLst>
          </a:prstGeom>
          <a:solidFill>
            <a:srgbClr val="D7E3EB"/>
          </a:solidFill>
          <a:ln w="12700">
            <a:solidFill>
              <a:srgbClr val="D9CCBC"/>
            </a:solidFill>
            <a:prstDash val="solid"/>
          </a:ln>
        </p:spPr>
        <p:txBody>
          <a:bodyPr/>
          <a:lstStyle/>
          <a:p>
            <a:endParaRPr lang="en-US"/>
          </a:p>
        </p:txBody>
      </p:sp>
      <p:sp>
        <p:nvSpPr>
          <p:cNvPr id="14" name="Shape 12"/>
          <p:cNvSpPr/>
          <p:nvPr/>
        </p:nvSpPr>
        <p:spPr>
          <a:xfrm>
            <a:off x="3273552" y="3273552"/>
            <a:ext cx="329184" cy="658368"/>
          </a:xfrm>
          <a:prstGeom prst="roundRect">
            <a:avLst>
              <a:gd name="adj" fmla="val 22222"/>
            </a:avLst>
          </a:prstGeom>
          <a:solidFill>
            <a:srgbClr val="B9CAD7"/>
          </a:solidFill>
          <a:ln w="12700">
            <a:solidFill>
              <a:srgbClr val="D9CCBC"/>
            </a:solidFill>
            <a:prstDash val="solid"/>
          </a:ln>
        </p:spPr>
        <p:txBody>
          <a:bodyPr/>
          <a:lstStyle/>
          <a:p>
            <a:endParaRPr lang="en-US"/>
          </a:p>
        </p:txBody>
      </p:sp>
      <p:sp>
        <p:nvSpPr>
          <p:cNvPr id="15" name="Shape 13"/>
          <p:cNvSpPr/>
          <p:nvPr/>
        </p:nvSpPr>
        <p:spPr>
          <a:xfrm>
            <a:off x="3675888" y="3383280"/>
            <a:ext cx="329184" cy="548640"/>
          </a:xfrm>
          <a:prstGeom prst="roundRect">
            <a:avLst>
              <a:gd name="adj" fmla="val 22222"/>
            </a:avLst>
          </a:prstGeom>
          <a:solidFill>
            <a:srgbClr val="D7E3EB"/>
          </a:solidFill>
          <a:ln w="12700">
            <a:solidFill>
              <a:srgbClr val="D9CCBC"/>
            </a:solidFill>
            <a:prstDash val="solid"/>
          </a:ln>
        </p:spPr>
        <p:txBody>
          <a:bodyPr/>
          <a:lstStyle/>
          <a:p>
            <a:endParaRPr lang="en-US"/>
          </a:p>
        </p:txBody>
      </p:sp>
      <p:sp>
        <p:nvSpPr>
          <p:cNvPr id="16" name="Shape 14"/>
          <p:cNvSpPr/>
          <p:nvPr/>
        </p:nvSpPr>
        <p:spPr>
          <a:xfrm>
            <a:off x="4005072" y="3696919"/>
            <a:ext cx="804672" cy="0"/>
          </a:xfrm>
          <a:prstGeom prst="line">
            <a:avLst/>
          </a:prstGeom>
          <a:noFill/>
          <a:ln w="12700">
            <a:solidFill>
              <a:srgbClr val="C6B29A"/>
            </a:solidFill>
            <a:prstDash val="solid"/>
            <a:headEnd type="none"/>
            <a:tailEnd type="triangle"/>
          </a:ln>
        </p:spPr>
        <p:txBody>
          <a:bodyPr/>
          <a:lstStyle/>
          <a:p>
            <a:endParaRPr lang="en-US"/>
          </a:p>
        </p:txBody>
      </p:sp>
      <p:sp>
        <p:nvSpPr>
          <p:cNvPr id="17" name="Text 15"/>
          <p:cNvSpPr/>
          <p:nvPr/>
        </p:nvSpPr>
        <p:spPr>
          <a:xfrm>
            <a:off x="4839005" y="2865730"/>
            <a:ext cx="1417320" cy="420624"/>
          </a:xfrm>
          <a:prstGeom prst="rect">
            <a:avLst/>
          </a:prstGeom>
          <a:noFill/>
          <a:ln/>
        </p:spPr>
        <p:txBody>
          <a:bodyPr wrap="square" lIns="0" tIns="0" rIns="0" bIns="0" rtlCol="0" anchor="ctr"/>
          <a:lstStyle/>
          <a:p>
            <a:pPr marL="0" indent="0" algn="ctr">
              <a:buNone/>
            </a:pPr>
            <a:r>
              <a:rPr lang="en-US" sz="970" dirty="0">
                <a:solidFill>
                  <a:srgbClr val="22313B"/>
                </a:solidFill>
                <a:latin typeface="Helvetica Neue" pitchFamily="34" charset="0"/>
                <a:ea typeface="Helvetica Neue" pitchFamily="34" charset="-122"/>
                <a:cs typeface="Helvetica Neue" pitchFamily="34" charset="-120"/>
              </a:rPr>
              <a:t>multiple metadata rows</a:t>
            </a:r>
            <a:endParaRPr lang="en-US" sz="970" dirty="0"/>
          </a:p>
          <a:p>
            <a:pPr marL="0" indent="0" algn="ctr">
              <a:buNone/>
            </a:pPr>
            <a:r>
              <a:rPr lang="en-US" sz="970" dirty="0">
                <a:solidFill>
                  <a:srgbClr val="22313B"/>
                </a:solidFill>
                <a:latin typeface="Helvetica Neue" pitchFamily="34" charset="0"/>
                <a:ea typeface="Helvetica Neue" pitchFamily="34" charset="-122"/>
                <a:cs typeface="Helvetica Neue" pitchFamily="34" charset="-120"/>
              </a:rPr>
              <a:t>or JSON chunks per file</a:t>
            </a:r>
            <a:endParaRPr lang="en-US" sz="970" dirty="0"/>
          </a:p>
        </p:txBody>
      </p:sp>
      <p:sp>
        <p:nvSpPr>
          <p:cNvPr id="18" name="Shape 16"/>
          <p:cNvSpPr/>
          <p:nvPr/>
        </p:nvSpPr>
        <p:spPr>
          <a:xfrm>
            <a:off x="4809744" y="3339389"/>
            <a:ext cx="658368" cy="310896"/>
          </a:xfrm>
          <a:prstGeom prst="roundRect">
            <a:avLst>
              <a:gd name="adj" fmla="val 17647"/>
            </a:avLst>
          </a:prstGeom>
          <a:solidFill>
            <a:srgbClr val="E6D6C4"/>
          </a:solidFill>
          <a:ln w="12700">
            <a:solidFill>
              <a:srgbClr val="D9CCBC"/>
            </a:solidFill>
            <a:prstDash val="solid"/>
          </a:ln>
        </p:spPr>
        <p:txBody>
          <a:bodyPr/>
          <a:lstStyle/>
          <a:p>
            <a:endParaRPr lang="en-US"/>
          </a:p>
        </p:txBody>
      </p:sp>
      <p:sp>
        <p:nvSpPr>
          <p:cNvPr id="19" name="Text 17"/>
          <p:cNvSpPr/>
          <p:nvPr/>
        </p:nvSpPr>
        <p:spPr>
          <a:xfrm>
            <a:off x="4809744" y="3385109"/>
            <a:ext cx="658368" cy="201168"/>
          </a:xfrm>
          <a:prstGeom prst="rect">
            <a:avLst/>
          </a:prstGeom>
          <a:noFill/>
          <a:ln/>
        </p:spPr>
        <p:txBody>
          <a:bodyPr wrap="square" lIns="0" tIns="0" rIns="0" bIns="0" rtlCol="0" anchor="ctr"/>
          <a:lstStyle/>
          <a:p>
            <a:pPr marL="0" indent="0" algn="ctr">
              <a:buNone/>
            </a:pPr>
            <a:r>
              <a:rPr lang="en-US" sz="880" dirty="0">
                <a:solidFill>
                  <a:srgbClr val="22313B"/>
                </a:solidFill>
                <a:latin typeface="Helvetica Neue" pitchFamily="34" charset="0"/>
                <a:ea typeface="Helvetica Neue" pitchFamily="34" charset="-122"/>
                <a:cs typeface="Helvetica Neue" pitchFamily="34" charset="-120"/>
              </a:rPr>
              <a:t>meta</a:t>
            </a:r>
            <a:endParaRPr lang="en-US" sz="880" dirty="0"/>
          </a:p>
        </p:txBody>
      </p:sp>
      <p:sp>
        <p:nvSpPr>
          <p:cNvPr id="20" name="Shape 18"/>
          <p:cNvSpPr/>
          <p:nvPr/>
        </p:nvSpPr>
        <p:spPr>
          <a:xfrm>
            <a:off x="5596128" y="3339389"/>
            <a:ext cx="658368" cy="310896"/>
          </a:xfrm>
          <a:prstGeom prst="roundRect">
            <a:avLst>
              <a:gd name="adj" fmla="val 17647"/>
            </a:avLst>
          </a:prstGeom>
          <a:solidFill>
            <a:srgbClr val="F2E9DE"/>
          </a:solidFill>
          <a:ln w="12700">
            <a:solidFill>
              <a:srgbClr val="D9CCBC"/>
            </a:solidFill>
            <a:prstDash val="solid"/>
          </a:ln>
        </p:spPr>
        <p:txBody>
          <a:bodyPr/>
          <a:lstStyle/>
          <a:p>
            <a:endParaRPr lang="en-US"/>
          </a:p>
        </p:txBody>
      </p:sp>
      <p:sp>
        <p:nvSpPr>
          <p:cNvPr id="21" name="Text 19"/>
          <p:cNvSpPr/>
          <p:nvPr/>
        </p:nvSpPr>
        <p:spPr>
          <a:xfrm>
            <a:off x="5596128" y="3385109"/>
            <a:ext cx="658368" cy="201168"/>
          </a:xfrm>
          <a:prstGeom prst="rect">
            <a:avLst/>
          </a:prstGeom>
          <a:noFill/>
          <a:ln/>
        </p:spPr>
        <p:txBody>
          <a:bodyPr wrap="square" lIns="0" tIns="0" rIns="0" bIns="0" rtlCol="0" anchor="ctr"/>
          <a:lstStyle/>
          <a:p>
            <a:pPr marL="0" indent="0" algn="ctr">
              <a:buNone/>
            </a:pPr>
            <a:r>
              <a:rPr lang="en-US" sz="880" dirty="0">
                <a:solidFill>
                  <a:srgbClr val="22313B"/>
                </a:solidFill>
                <a:latin typeface="Helvetica Neue" pitchFamily="34" charset="0"/>
                <a:ea typeface="Helvetica Neue" pitchFamily="34" charset="-122"/>
                <a:cs typeface="Helvetica Neue" pitchFamily="34" charset="-120"/>
              </a:rPr>
              <a:t>json 1</a:t>
            </a:r>
            <a:endParaRPr lang="en-US" sz="880" dirty="0"/>
          </a:p>
        </p:txBody>
      </p:sp>
      <p:sp>
        <p:nvSpPr>
          <p:cNvPr id="22" name="Shape 20"/>
          <p:cNvSpPr/>
          <p:nvPr/>
        </p:nvSpPr>
        <p:spPr>
          <a:xfrm>
            <a:off x="4809744" y="3741725"/>
            <a:ext cx="658368" cy="310896"/>
          </a:xfrm>
          <a:prstGeom prst="roundRect">
            <a:avLst>
              <a:gd name="adj" fmla="val 17647"/>
            </a:avLst>
          </a:prstGeom>
          <a:solidFill>
            <a:srgbClr val="F2E9DE"/>
          </a:solidFill>
          <a:ln w="12700">
            <a:solidFill>
              <a:srgbClr val="D9CCBC"/>
            </a:solidFill>
            <a:prstDash val="solid"/>
          </a:ln>
        </p:spPr>
        <p:txBody>
          <a:bodyPr/>
          <a:lstStyle/>
          <a:p>
            <a:endParaRPr lang="en-US"/>
          </a:p>
        </p:txBody>
      </p:sp>
      <p:sp>
        <p:nvSpPr>
          <p:cNvPr id="23" name="Text 21"/>
          <p:cNvSpPr/>
          <p:nvPr/>
        </p:nvSpPr>
        <p:spPr>
          <a:xfrm>
            <a:off x="4809744" y="3787445"/>
            <a:ext cx="658368" cy="201168"/>
          </a:xfrm>
          <a:prstGeom prst="rect">
            <a:avLst/>
          </a:prstGeom>
          <a:noFill/>
          <a:ln/>
        </p:spPr>
        <p:txBody>
          <a:bodyPr wrap="square" lIns="0" tIns="0" rIns="0" bIns="0" rtlCol="0" anchor="ctr"/>
          <a:lstStyle/>
          <a:p>
            <a:pPr marL="0" indent="0" algn="ctr">
              <a:buNone/>
            </a:pPr>
            <a:r>
              <a:rPr lang="en-US" sz="880" dirty="0">
                <a:solidFill>
                  <a:srgbClr val="22313B"/>
                </a:solidFill>
                <a:latin typeface="Helvetica Neue" pitchFamily="34" charset="0"/>
                <a:ea typeface="Helvetica Neue" pitchFamily="34" charset="-122"/>
                <a:cs typeface="Helvetica Neue" pitchFamily="34" charset="-120"/>
              </a:rPr>
              <a:t>json 2</a:t>
            </a:r>
            <a:endParaRPr lang="en-US" sz="880" dirty="0"/>
          </a:p>
        </p:txBody>
      </p:sp>
      <p:sp>
        <p:nvSpPr>
          <p:cNvPr id="24" name="Shape 22"/>
          <p:cNvSpPr/>
          <p:nvPr/>
        </p:nvSpPr>
        <p:spPr>
          <a:xfrm>
            <a:off x="5596128" y="3741725"/>
            <a:ext cx="658368" cy="310896"/>
          </a:xfrm>
          <a:prstGeom prst="roundRect">
            <a:avLst>
              <a:gd name="adj" fmla="val 17647"/>
            </a:avLst>
          </a:prstGeom>
          <a:solidFill>
            <a:srgbClr val="E6D6C4"/>
          </a:solidFill>
          <a:ln w="12700">
            <a:solidFill>
              <a:srgbClr val="D9CCBC"/>
            </a:solidFill>
            <a:prstDash val="solid"/>
          </a:ln>
        </p:spPr>
        <p:txBody>
          <a:bodyPr/>
          <a:lstStyle/>
          <a:p>
            <a:endParaRPr lang="en-US"/>
          </a:p>
        </p:txBody>
      </p:sp>
      <p:sp>
        <p:nvSpPr>
          <p:cNvPr id="25" name="Text 23"/>
          <p:cNvSpPr/>
          <p:nvPr/>
        </p:nvSpPr>
        <p:spPr>
          <a:xfrm>
            <a:off x="5596128" y="3787445"/>
            <a:ext cx="658368" cy="201168"/>
          </a:xfrm>
          <a:prstGeom prst="rect">
            <a:avLst/>
          </a:prstGeom>
          <a:noFill/>
          <a:ln/>
        </p:spPr>
        <p:txBody>
          <a:bodyPr wrap="square" lIns="0" tIns="0" rIns="0" bIns="0" rtlCol="0" anchor="ctr"/>
          <a:lstStyle/>
          <a:p>
            <a:pPr marL="0" indent="0" algn="ctr">
              <a:buNone/>
            </a:pPr>
            <a:r>
              <a:rPr lang="en-US" sz="880" dirty="0">
                <a:solidFill>
                  <a:srgbClr val="22313B"/>
                </a:solidFill>
                <a:latin typeface="Helvetica Neue" pitchFamily="34" charset="0"/>
                <a:ea typeface="Helvetica Neue" pitchFamily="34" charset="-122"/>
                <a:cs typeface="Helvetica Neue" pitchFamily="34" charset="-120"/>
              </a:rPr>
              <a:t>json n</a:t>
            </a:r>
            <a:endParaRPr lang="en-US" sz="880" dirty="0"/>
          </a:p>
        </p:txBody>
      </p:sp>
      <p:sp>
        <p:nvSpPr>
          <p:cNvPr id="26" name="Text 24"/>
          <p:cNvSpPr/>
          <p:nvPr/>
        </p:nvSpPr>
        <p:spPr>
          <a:xfrm>
            <a:off x="6358738" y="3997757"/>
            <a:ext cx="566928" cy="164592"/>
          </a:xfrm>
          <a:prstGeom prst="rect">
            <a:avLst/>
          </a:prstGeom>
          <a:noFill/>
          <a:ln/>
        </p:spPr>
        <p:txBody>
          <a:bodyPr wrap="square" lIns="0" tIns="0" rIns="0" bIns="0" rtlCol="0" anchor="ctr"/>
          <a:lstStyle/>
          <a:p>
            <a:pPr marL="0" indent="0" algn="ctr">
              <a:buNone/>
            </a:pPr>
            <a:r>
              <a:rPr lang="en-US" sz="880" i="1" dirty="0">
                <a:solidFill>
                  <a:srgbClr val="53626C"/>
                </a:solidFill>
                <a:latin typeface="Helvetica Neue" pitchFamily="34" charset="0"/>
                <a:ea typeface="Helvetica Neue" pitchFamily="34" charset="-122"/>
                <a:cs typeface="Helvetica Neue" pitchFamily="34" charset="-120"/>
              </a:rPr>
              <a:t>x ~250k</a:t>
            </a:r>
            <a:endParaRPr lang="en-US" sz="880" dirty="0"/>
          </a:p>
        </p:txBody>
      </p:sp>
      <p:sp>
        <p:nvSpPr>
          <p:cNvPr id="27" name="Shape 25"/>
          <p:cNvSpPr/>
          <p:nvPr/>
        </p:nvSpPr>
        <p:spPr>
          <a:xfrm>
            <a:off x="6400800" y="3145536"/>
            <a:ext cx="128016" cy="128016"/>
          </a:xfrm>
          <a:prstGeom prst="roundRect">
            <a:avLst>
              <a:gd name="adj" fmla="val 28571"/>
            </a:avLst>
          </a:prstGeom>
          <a:solidFill>
            <a:srgbClr val="22313B"/>
          </a:solidFill>
          <a:ln w="12700">
            <a:solidFill>
              <a:srgbClr val="22313B">
                <a:alpha val="0"/>
              </a:srgbClr>
            </a:solidFill>
            <a:prstDash val="solid"/>
          </a:ln>
        </p:spPr>
        <p:txBody>
          <a:bodyPr/>
          <a:lstStyle/>
          <a:p>
            <a:endParaRPr lang="en-US"/>
          </a:p>
        </p:txBody>
      </p:sp>
      <p:sp>
        <p:nvSpPr>
          <p:cNvPr id="28" name="Shape 26"/>
          <p:cNvSpPr/>
          <p:nvPr/>
        </p:nvSpPr>
        <p:spPr>
          <a:xfrm>
            <a:off x="6656832" y="3273552"/>
            <a:ext cx="128016" cy="128016"/>
          </a:xfrm>
          <a:prstGeom prst="roundRect">
            <a:avLst>
              <a:gd name="adj" fmla="val 28571"/>
            </a:avLst>
          </a:prstGeom>
          <a:solidFill>
            <a:srgbClr val="B8874F"/>
          </a:solidFill>
          <a:ln w="12700">
            <a:solidFill>
              <a:srgbClr val="B8874F">
                <a:alpha val="0"/>
              </a:srgbClr>
            </a:solidFill>
            <a:prstDash val="solid"/>
          </a:ln>
        </p:spPr>
        <p:txBody>
          <a:bodyPr/>
          <a:lstStyle/>
          <a:p>
            <a:endParaRPr lang="en-US"/>
          </a:p>
        </p:txBody>
      </p:sp>
      <p:sp>
        <p:nvSpPr>
          <p:cNvPr id="29" name="Shape 27"/>
          <p:cNvSpPr/>
          <p:nvPr/>
        </p:nvSpPr>
        <p:spPr>
          <a:xfrm>
            <a:off x="6364224" y="3474720"/>
            <a:ext cx="128016" cy="128016"/>
          </a:xfrm>
          <a:prstGeom prst="roundRect">
            <a:avLst>
              <a:gd name="adj" fmla="val 28571"/>
            </a:avLst>
          </a:prstGeom>
          <a:solidFill>
            <a:srgbClr val="B9CAD7"/>
          </a:solidFill>
          <a:ln w="12700">
            <a:solidFill>
              <a:srgbClr val="B9CAD7">
                <a:alpha val="0"/>
              </a:srgbClr>
            </a:solidFill>
            <a:prstDash val="solid"/>
          </a:ln>
        </p:spPr>
        <p:txBody>
          <a:bodyPr/>
          <a:lstStyle/>
          <a:p>
            <a:endParaRPr lang="en-US"/>
          </a:p>
        </p:txBody>
      </p:sp>
      <p:sp>
        <p:nvSpPr>
          <p:cNvPr id="30" name="Shape 28"/>
          <p:cNvSpPr/>
          <p:nvPr/>
        </p:nvSpPr>
        <p:spPr>
          <a:xfrm>
            <a:off x="6620256" y="3584448"/>
            <a:ext cx="128016" cy="128016"/>
          </a:xfrm>
          <a:prstGeom prst="roundRect">
            <a:avLst>
              <a:gd name="adj" fmla="val 28571"/>
            </a:avLst>
          </a:prstGeom>
          <a:solidFill>
            <a:srgbClr val="F2E9DE"/>
          </a:solidFill>
          <a:ln w="12700">
            <a:solidFill>
              <a:srgbClr val="F2E9DE">
                <a:alpha val="0"/>
              </a:srgbClr>
            </a:solidFill>
            <a:prstDash val="solid"/>
          </a:ln>
        </p:spPr>
        <p:txBody>
          <a:bodyPr/>
          <a:lstStyle/>
          <a:p>
            <a:endParaRPr lang="en-US"/>
          </a:p>
        </p:txBody>
      </p:sp>
      <p:sp>
        <p:nvSpPr>
          <p:cNvPr id="31" name="Shape 29"/>
          <p:cNvSpPr/>
          <p:nvPr/>
        </p:nvSpPr>
        <p:spPr>
          <a:xfrm>
            <a:off x="6876288" y="3182112"/>
            <a:ext cx="128016" cy="128016"/>
          </a:xfrm>
          <a:prstGeom prst="roundRect">
            <a:avLst>
              <a:gd name="adj" fmla="val 28571"/>
            </a:avLst>
          </a:prstGeom>
          <a:solidFill>
            <a:srgbClr val="E6D6C4"/>
          </a:solidFill>
          <a:ln w="12700">
            <a:solidFill>
              <a:srgbClr val="E6D6C4">
                <a:alpha val="0"/>
              </a:srgbClr>
            </a:solidFill>
            <a:prstDash val="solid"/>
          </a:ln>
        </p:spPr>
        <p:txBody>
          <a:bodyPr/>
          <a:lstStyle/>
          <a:p>
            <a:endParaRPr lang="en-US"/>
          </a:p>
        </p:txBody>
      </p:sp>
      <p:sp>
        <p:nvSpPr>
          <p:cNvPr id="32" name="Shape 30"/>
          <p:cNvSpPr/>
          <p:nvPr/>
        </p:nvSpPr>
        <p:spPr>
          <a:xfrm>
            <a:off x="6858000" y="3456432"/>
            <a:ext cx="128016" cy="128016"/>
          </a:xfrm>
          <a:prstGeom prst="roundRect">
            <a:avLst>
              <a:gd name="adj" fmla="val 28571"/>
            </a:avLst>
          </a:prstGeom>
          <a:solidFill>
            <a:srgbClr val="22313B"/>
          </a:solidFill>
          <a:ln w="12700">
            <a:solidFill>
              <a:srgbClr val="22313B">
                <a:alpha val="0"/>
              </a:srgbClr>
            </a:solidFill>
            <a:prstDash val="solid"/>
          </a:ln>
        </p:spPr>
        <p:txBody>
          <a:bodyPr/>
          <a:lstStyle/>
          <a:p>
            <a:endParaRPr lang="en-US"/>
          </a:p>
        </p:txBody>
      </p:sp>
      <p:sp>
        <p:nvSpPr>
          <p:cNvPr id="33" name="Shape 31"/>
          <p:cNvSpPr/>
          <p:nvPr/>
        </p:nvSpPr>
        <p:spPr>
          <a:xfrm>
            <a:off x="6492240" y="3785616"/>
            <a:ext cx="128016" cy="128016"/>
          </a:xfrm>
          <a:prstGeom prst="roundRect">
            <a:avLst>
              <a:gd name="adj" fmla="val 28571"/>
            </a:avLst>
          </a:prstGeom>
          <a:solidFill>
            <a:srgbClr val="E6D6C4"/>
          </a:solidFill>
          <a:ln w="12700">
            <a:solidFill>
              <a:srgbClr val="E6D6C4">
                <a:alpha val="0"/>
              </a:srgbClr>
            </a:solidFill>
            <a:prstDash val="solid"/>
          </a:ln>
        </p:spPr>
        <p:txBody>
          <a:bodyPr/>
          <a:lstStyle/>
          <a:p>
            <a:endParaRPr lang="en-US"/>
          </a:p>
        </p:txBody>
      </p:sp>
      <p:sp>
        <p:nvSpPr>
          <p:cNvPr id="34" name="Shape 32"/>
          <p:cNvSpPr/>
          <p:nvPr/>
        </p:nvSpPr>
        <p:spPr>
          <a:xfrm>
            <a:off x="6766560" y="3749040"/>
            <a:ext cx="128016" cy="128016"/>
          </a:xfrm>
          <a:prstGeom prst="roundRect">
            <a:avLst>
              <a:gd name="adj" fmla="val 28571"/>
            </a:avLst>
          </a:prstGeom>
          <a:solidFill>
            <a:srgbClr val="D7E3EB"/>
          </a:solidFill>
          <a:ln w="12700">
            <a:solidFill>
              <a:srgbClr val="D7E3EB">
                <a:alpha val="0"/>
              </a:srgbClr>
            </a:solidFill>
            <a:prstDash val="solid"/>
          </a:ln>
        </p:spPr>
        <p:txBody>
          <a:bodyPr/>
          <a:lstStyle/>
          <a:p>
            <a:endParaRPr lang="en-US"/>
          </a:p>
        </p:txBody>
      </p:sp>
      <p:sp>
        <p:nvSpPr>
          <p:cNvPr id="35" name="Shape 33"/>
          <p:cNvSpPr/>
          <p:nvPr/>
        </p:nvSpPr>
        <p:spPr>
          <a:xfrm>
            <a:off x="6912864" y="3621024"/>
            <a:ext cx="128016" cy="128016"/>
          </a:xfrm>
          <a:prstGeom prst="roundRect">
            <a:avLst>
              <a:gd name="adj" fmla="val 28571"/>
            </a:avLst>
          </a:prstGeom>
          <a:solidFill>
            <a:srgbClr val="22313B"/>
          </a:solidFill>
          <a:ln w="12700">
            <a:solidFill>
              <a:srgbClr val="22313B">
                <a:alpha val="0"/>
              </a:srgbClr>
            </a:solidFill>
            <a:prstDash val="solid"/>
          </a:ln>
        </p:spPr>
        <p:txBody>
          <a:bodyPr/>
          <a:lstStyle/>
          <a:p>
            <a:endParaRPr lang="en-US"/>
          </a:p>
        </p:txBody>
      </p:sp>
      <p:sp>
        <p:nvSpPr>
          <p:cNvPr id="36" name="Text 34"/>
          <p:cNvSpPr/>
          <p:nvPr/>
        </p:nvSpPr>
        <p:spPr>
          <a:xfrm>
            <a:off x="6135624" y="4256532"/>
            <a:ext cx="1097280" cy="201168"/>
          </a:xfrm>
          <a:prstGeom prst="rect">
            <a:avLst/>
          </a:prstGeom>
          <a:noFill/>
          <a:ln/>
        </p:spPr>
        <p:txBody>
          <a:bodyPr wrap="square" lIns="0" tIns="0" rIns="0" bIns="0" rtlCol="0" anchor="ctr"/>
          <a:lstStyle/>
          <a:p>
            <a:pPr marL="0" indent="0" algn="ctr">
              <a:buNone/>
            </a:pPr>
            <a:r>
              <a:rPr lang="en-US" sz="1020" b="1" dirty="0">
                <a:solidFill>
                  <a:srgbClr val="22313B"/>
                </a:solidFill>
                <a:latin typeface="Helvetica Neue" pitchFamily="34" charset="0"/>
                <a:ea typeface="Helvetica Neue" pitchFamily="34" charset="-122"/>
                <a:cs typeface="Helvetica Neue" pitchFamily="34" charset="-120"/>
              </a:rPr>
              <a:t>fan-out in DynamoDB</a:t>
            </a:r>
            <a:endParaRPr lang="en-US" sz="1020" dirty="0"/>
          </a:p>
        </p:txBody>
      </p:sp>
      <p:sp>
        <p:nvSpPr>
          <p:cNvPr id="37" name="Shape 35"/>
          <p:cNvSpPr/>
          <p:nvPr/>
        </p:nvSpPr>
        <p:spPr>
          <a:xfrm>
            <a:off x="7479792" y="2798064"/>
            <a:ext cx="1554480" cy="932688"/>
          </a:xfrm>
          <a:prstGeom prst="roundRect">
            <a:avLst>
              <a:gd name="adj" fmla="val 7843"/>
            </a:avLst>
          </a:prstGeom>
          <a:solidFill>
            <a:srgbClr val="E6D6C4"/>
          </a:solidFill>
          <a:ln w="12700">
            <a:solidFill>
              <a:srgbClr val="E6D6C4"/>
            </a:solidFill>
            <a:prstDash val="solid"/>
          </a:ln>
        </p:spPr>
        <p:txBody>
          <a:bodyPr/>
          <a:lstStyle/>
          <a:p>
            <a:endParaRPr lang="en-US"/>
          </a:p>
        </p:txBody>
      </p:sp>
      <p:sp>
        <p:nvSpPr>
          <p:cNvPr id="38" name="Text 36"/>
          <p:cNvSpPr/>
          <p:nvPr/>
        </p:nvSpPr>
        <p:spPr>
          <a:xfrm>
            <a:off x="7571232" y="2944368"/>
            <a:ext cx="1371600" cy="256032"/>
          </a:xfrm>
          <a:prstGeom prst="rect">
            <a:avLst/>
          </a:prstGeom>
          <a:noFill/>
          <a:ln/>
        </p:spPr>
        <p:txBody>
          <a:bodyPr wrap="square" lIns="0" tIns="0" rIns="0" bIns="0" rtlCol="0" anchor="ctr"/>
          <a:lstStyle/>
          <a:p>
            <a:pPr marL="0" indent="0" algn="ctr">
              <a:buNone/>
            </a:pPr>
            <a:r>
              <a:rPr lang="en-US" sz="1950" b="1" dirty="0">
                <a:solidFill>
                  <a:srgbClr val="22313B"/>
                </a:solidFill>
                <a:latin typeface="Helvetica Neue" pitchFamily="34" charset="0"/>
                <a:ea typeface="Helvetica Neue" pitchFamily="34" charset="-122"/>
                <a:cs typeface="Helvetica Neue" pitchFamily="34" charset="-120"/>
              </a:rPr>
              <a:t>400 KB</a:t>
            </a:r>
            <a:endParaRPr lang="en-US" sz="1950" dirty="0"/>
          </a:p>
        </p:txBody>
      </p:sp>
      <p:sp>
        <p:nvSpPr>
          <p:cNvPr id="39" name="Text 37"/>
          <p:cNvSpPr/>
          <p:nvPr/>
        </p:nvSpPr>
        <p:spPr>
          <a:xfrm>
            <a:off x="7607808" y="3328416"/>
            <a:ext cx="1298448" cy="256032"/>
          </a:xfrm>
          <a:prstGeom prst="rect">
            <a:avLst/>
          </a:prstGeom>
          <a:noFill/>
          <a:ln/>
        </p:spPr>
        <p:txBody>
          <a:bodyPr wrap="square" lIns="0" tIns="0" rIns="0" bIns="0" rtlCol="0" anchor="ctr"/>
          <a:lstStyle/>
          <a:p>
            <a:pPr marL="0" indent="0" algn="ctr">
              <a:buNone/>
            </a:pPr>
            <a:r>
              <a:rPr lang="en-US" sz="960" dirty="0">
                <a:solidFill>
                  <a:srgbClr val="53626C"/>
                </a:solidFill>
                <a:latin typeface="Helvetica Neue" pitchFamily="34" charset="0"/>
                <a:ea typeface="Helvetica Neue" pitchFamily="34" charset="-122"/>
                <a:cs typeface="Helvetica Neue" pitchFamily="34" charset="-120"/>
              </a:rPr>
              <a:t>DynamoDB item limit</a:t>
            </a:r>
            <a:endParaRPr lang="en-US" sz="960" dirty="0"/>
          </a:p>
        </p:txBody>
      </p:sp>
      <p:sp>
        <p:nvSpPr>
          <p:cNvPr id="40" name="Shape 38"/>
          <p:cNvSpPr/>
          <p:nvPr/>
        </p:nvSpPr>
        <p:spPr>
          <a:xfrm>
            <a:off x="9144000" y="2798064"/>
            <a:ext cx="1554480" cy="932688"/>
          </a:xfrm>
          <a:prstGeom prst="roundRect">
            <a:avLst>
              <a:gd name="adj" fmla="val 7843"/>
            </a:avLst>
          </a:prstGeom>
          <a:solidFill>
            <a:srgbClr val="D7E3EB"/>
          </a:solidFill>
          <a:ln w="12700">
            <a:solidFill>
              <a:srgbClr val="D7E3EB"/>
            </a:solidFill>
            <a:prstDash val="solid"/>
          </a:ln>
        </p:spPr>
        <p:txBody>
          <a:bodyPr/>
          <a:lstStyle/>
          <a:p>
            <a:endParaRPr lang="en-US"/>
          </a:p>
        </p:txBody>
      </p:sp>
      <p:sp>
        <p:nvSpPr>
          <p:cNvPr id="41" name="Text 39"/>
          <p:cNvSpPr/>
          <p:nvPr/>
        </p:nvSpPr>
        <p:spPr>
          <a:xfrm>
            <a:off x="9235440" y="2944368"/>
            <a:ext cx="1371600" cy="256032"/>
          </a:xfrm>
          <a:prstGeom prst="rect">
            <a:avLst/>
          </a:prstGeom>
          <a:noFill/>
          <a:ln/>
        </p:spPr>
        <p:txBody>
          <a:bodyPr wrap="square" lIns="0" tIns="0" rIns="0" bIns="0" rtlCol="0" anchor="ctr"/>
          <a:lstStyle/>
          <a:p>
            <a:pPr marL="0" indent="0" algn="ctr">
              <a:buNone/>
            </a:pPr>
            <a:r>
              <a:rPr lang="en-US" sz="1950" b="1" dirty="0">
                <a:solidFill>
                  <a:srgbClr val="22313B"/>
                </a:solidFill>
                <a:latin typeface="Helvetica Neue" pitchFamily="34" charset="0"/>
                <a:ea typeface="Helvetica Neue" pitchFamily="34" charset="-122"/>
                <a:cs typeface="Helvetica Neue" pitchFamily="34" charset="-120"/>
              </a:rPr>
              <a:t>~250k</a:t>
            </a:r>
            <a:endParaRPr lang="en-US" sz="1950" dirty="0"/>
          </a:p>
        </p:txBody>
      </p:sp>
      <p:sp>
        <p:nvSpPr>
          <p:cNvPr id="42" name="Text 40"/>
          <p:cNvSpPr/>
          <p:nvPr/>
        </p:nvSpPr>
        <p:spPr>
          <a:xfrm>
            <a:off x="9272016" y="3328416"/>
            <a:ext cx="1298448" cy="256032"/>
          </a:xfrm>
          <a:prstGeom prst="rect">
            <a:avLst/>
          </a:prstGeom>
          <a:noFill/>
          <a:ln/>
        </p:spPr>
        <p:txBody>
          <a:bodyPr wrap="square" lIns="0" tIns="0" rIns="0" bIns="0" rtlCol="0" anchor="ctr"/>
          <a:lstStyle/>
          <a:p>
            <a:pPr marL="0" indent="0" algn="ctr">
              <a:buNone/>
            </a:pPr>
            <a:r>
              <a:rPr lang="en-US" sz="960" dirty="0">
                <a:solidFill>
                  <a:srgbClr val="53626C"/>
                </a:solidFill>
                <a:latin typeface="Helvetica Neue" pitchFamily="34" charset="0"/>
                <a:ea typeface="Helvetica Neue" pitchFamily="34" charset="-122"/>
                <a:cs typeface="Helvetica Neue" pitchFamily="34" charset="-120"/>
              </a:rPr>
              <a:t>generated files</a:t>
            </a:r>
            <a:endParaRPr lang="en-US" sz="960" dirty="0"/>
          </a:p>
        </p:txBody>
      </p:sp>
      <p:sp>
        <p:nvSpPr>
          <p:cNvPr id="43" name="Shape 41"/>
          <p:cNvSpPr/>
          <p:nvPr/>
        </p:nvSpPr>
        <p:spPr>
          <a:xfrm>
            <a:off x="7479792" y="3877056"/>
            <a:ext cx="1554480" cy="932688"/>
          </a:xfrm>
          <a:prstGeom prst="roundRect">
            <a:avLst>
              <a:gd name="adj" fmla="val 7843"/>
            </a:avLst>
          </a:prstGeom>
          <a:solidFill>
            <a:srgbClr val="22313B"/>
          </a:solidFill>
          <a:ln w="12700">
            <a:solidFill>
              <a:srgbClr val="22313B"/>
            </a:solidFill>
            <a:prstDash val="solid"/>
          </a:ln>
        </p:spPr>
        <p:txBody>
          <a:bodyPr/>
          <a:lstStyle/>
          <a:p>
            <a:endParaRPr lang="en-US"/>
          </a:p>
        </p:txBody>
      </p:sp>
      <p:sp>
        <p:nvSpPr>
          <p:cNvPr id="44" name="Text 42"/>
          <p:cNvSpPr/>
          <p:nvPr/>
        </p:nvSpPr>
        <p:spPr>
          <a:xfrm>
            <a:off x="7571232" y="4023360"/>
            <a:ext cx="1371600" cy="256032"/>
          </a:xfrm>
          <a:prstGeom prst="rect">
            <a:avLst/>
          </a:prstGeom>
          <a:noFill/>
          <a:ln/>
        </p:spPr>
        <p:txBody>
          <a:bodyPr wrap="square" lIns="0" tIns="0" rIns="0" bIns="0" rtlCol="0" anchor="ctr"/>
          <a:lstStyle/>
          <a:p>
            <a:pPr marL="0" indent="0" algn="ctr">
              <a:buNone/>
            </a:pPr>
            <a:r>
              <a:rPr lang="en-US" sz="1950" b="1" dirty="0">
                <a:solidFill>
                  <a:srgbClr val="FFFFFF"/>
                </a:solidFill>
                <a:latin typeface="Helvetica Neue" pitchFamily="34" charset="0"/>
                <a:ea typeface="Helvetica Neue" pitchFamily="34" charset="-122"/>
                <a:cs typeface="Helvetica Neue" pitchFamily="34" charset="-120"/>
              </a:rPr>
              <a:t>&gt;1M</a:t>
            </a:r>
            <a:endParaRPr lang="en-US" sz="1950" dirty="0"/>
          </a:p>
        </p:txBody>
      </p:sp>
      <p:sp>
        <p:nvSpPr>
          <p:cNvPr id="45" name="Text 43"/>
          <p:cNvSpPr/>
          <p:nvPr/>
        </p:nvSpPr>
        <p:spPr>
          <a:xfrm>
            <a:off x="7607808" y="4407408"/>
            <a:ext cx="1298448" cy="256032"/>
          </a:xfrm>
          <a:prstGeom prst="rect">
            <a:avLst/>
          </a:prstGeom>
          <a:noFill/>
          <a:ln/>
        </p:spPr>
        <p:txBody>
          <a:bodyPr wrap="square" lIns="0" tIns="0" rIns="0" bIns="0" rtlCol="0" anchor="ctr"/>
          <a:lstStyle/>
          <a:p>
            <a:pPr marL="0" indent="0" algn="ctr">
              <a:buNone/>
            </a:pPr>
            <a:r>
              <a:rPr lang="en-US" sz="960" dirty="0">
                <a:solidFill>
                  <a:srgbClr val="F6F1E8"/>
                </a:solidFill>
                <a:latin typeface="Helvetica Neue" pitchFamily="34" charset="0"/>
                <a:ea typeface="Helvetica Neue" pitchFamily="34" charset="-122"/>
                <a:cs typeface="Helvetica Neue" pitchFamily="34" charset="-120"/>
              </a:rPr>
              <a:t>DynamoDB items</a:t>
            </a:r>
            <a:endParaRPr lang="en-US" sz="960" dirty="0"/>
          </a:p>
        </p:txBody>
      </p:sp>
      <p:sp>
        <p:nvSpPr>
          <p:cNvPr id="46" name="Shape 44"/>
          <p:cNvSpPr/>
          <p:nvPr/>
        </p:nvSpPr>
        <p:spPr>
          <a:xfrm>
            <a:off x="9144000" y="3877056"/>
            <a:ext cx="1554480" cy="932688"/>
          </a:xfrm>
          <a:prstGeom prst="roundRect">
            <a:avLst>
              <a:gd name="adj" fmla="val 7843"/>
            </a:avLst>
          </a:prstGeom>
          <a:solidFill>
            <a:srgbClr val="F2E9DE"/>
          </a:solidFill>
          <a:ln w="12700">
            <a:solidFill>
              <a:srgbClr val="D9CCBC"/>
            </a:solidFill>
            <a:prstDash val="solid"/>
          </a:ln>
        </p:spPr>
        <p:txBody>
          <a:bodyPr/>
          <a:lstStyle/>
          <a:p>
            <a:endParaRPr lang="en-US"/>
          </a:p>
        </p:txBody>
      </p:sp>
      <p:sp>
        <p:nvSpPr>
          <p:cNvPr id="47" name="Text 45"/>
          <p:cNvSpPr/>
          <p:nvPr/>
        </p:nvSpPr>
        <p:spPr>
          <a:xfrm>
            <a:off x="9235440" y="4023360"/>
            <a:ext cx="1371600" cy="256032"/>
          </a:xfrm>
          <a:prstGeom prst="rect">
            <a:avLst/>
          </a:prstGeom>
          <a:noFill/>
          <a:ln/>
        </p:spPr>
        <p:txBody>
          <a:bodyPr wrap="square" lIns="0" tIns="0" rIns="0" bIns="0" rtlCol="0" anchor="ctr"/>
          <a:lstStyle/>
          <a:p>
            <a:pPr marL="0" indent="0" algn="ctr">
              <a:buNone/>
            </a:pPr>
            <a:r>
              <a:rPr lang="en-US" sz="1950" b="1" dirty="0">
                <a:solidFill>
                  <a:srgbClr val="22313B"/>
                </a:solidFill>
                <a:latin typeface="Helvetica Neue" pitchFamily="34" charset="0"/>
                <a:ea typeface="Helvetica Neue" pitchFamily="34" charset="-122"/>
                <a:cs typeface="Helvetica Neue" pitchFamily="34" charset="-120"/>
              </a:rPr>
              <a:t>&gt;1M</a:t>
            </a:r>
            <a:endParaRPr lang="en-US" sz="1950" dirty="0"/>
          </a:p>
        </p:txBody>
      </p:sp>
      <p:sp>
        <p:nvSpPr>
          <p:cNvPr id="48" name="Text 46"/>
          <p:cNvSpPr/>
          <p:nvPr/>
        </p:nvSpPr>
        <p:spPr>
          <a:xfrm>
            <a:off x="9272016" y="4407408"/>
            <a:ext cx="1298448" cy="256032"/>
          </a:xfrm>
          <a:prstGeom prst="rect">
            <a:avLst/>
          </a:prstGeom>
          <a:noFill/>
          <a:ln/>
        </p:spPr>
        <p:txBody>
          <a:bodyPr wrap="square" lIns="0" tIns="0" rIns="0" bIns="0" rtlCol="0" anchor="ctr"/>
          <a:lstStyle/>
          <a:p>
            <a:pPr marL="0" indent="0" algn="ctr">
              <a:buNone/>
            </a:pPr>
            <a:r>
              <a:rPr lang="en-US" sz="960" dirty="0">
                <a:solidFill>
                  <a:srgbClr val="53626C"/>
                </a:solidFill>
                <a:latin typeface="Helvetica Neue" pitchFamily="34" charset="0"/>
                <a:ea typeface="Helvetica Neue" pitchFamily="34" charset="-122"/>
                <a:cs typeface="Helvetica Neue" pitchFamily="34" charset="-120"/>
              </a:rPr>
              <a:t>item reads for</a:t>
            </a:r>
            <a:endParaRPr lang="en-US" sz="960" dirty="0"/>
          </a:p>
          <a:p>
            <a:pPr marL="0" indent="0" algn="ctr">
              <a:buNone/>
            </a:pPr>
            <a:r>
              <a:rPr lang="en-US" sz="960" dirty="0">
                <a:solidFill>
                  <a:srgbClr val="53626C"/>
                </a:solidFill>
                <a:latin typeface="Helvetica Neue" pitchFamily="34" charset="0"/>
                <a:ea typeface="Helvetica Neue" pitchFamily="34" charset="-122"/>
                <a:cs typeface="Helvetica Neue" pitchFamily="34" charset="-120"/>
              </a:rPr>
              <a:t>one full sweep</a:t>
            </a:r>
            <a:endParaRPr lang="en-US" sz="960" dirty="0"/>
          </a:p>
        </p:txBody>
      </p:sp>
      <p:sp>
        <p:nvSpPr>
          <p:cNvPr id="49" name="Text 47"/>
          <p:cNvSpPr/>
          <p:nvPr/>
        </p:nvSpPr>
        <p:spPr>
          <a:xfrm>
            <a:off x="7534656" y="5084064"/>
            <a:ext cx="3200400" cy="164592"/>
          </a:xfrm>
          <a:prstGeom prst="rect">
            <a:avLst/>
          </a:prstGeom>
          <a:noFill/>
          <a:ln/>
        </p:spPr>
        <p:txBody>
          <a:bodyPr wrap="square" lIns="0" tIns="0" rIns="0" bIns="0" rtlCol="0" anchor="ctr"/>
          <a:lstStyle/>
          <a:p>
            <a:pPr marL="0" indent="0" algn="ctr">
              <a:buNone/>
            </a:pPr>
            <a:r>
              <a:rPr lang="en-US" sz="920" i="1" dirty="0">
                <a:solidFill>
                  <a:srgbClr val="53626C"/>
                </a:solidFill>
                <a:latin typeface="Helvetica Neue" pitchFamily="34" charset="0"/>
                <a:ea typeface="Helvetica Neue" pitchFamily="34" charset="-122"/>
                <a:cs typeface="Helvetica Neue" pitchFamily="34" charset="-120"/>
              </a:rPr>
              <a:t>Illustrative scale example, not audited spend</a:t>
            </a:r>
            <a:endParaRPr lang="en-US" sz="920" dirty="0"/>
          </a:p>
        </p:txBody>
      </p:sp>
      <p:sp>
        <p:nvSpPr>
          <p:cNvPr id="50" name="Shape 48"/>
          <p:cNvSpPr/>
          <p:nvPr/>
        </p:nvSpPr>
        <p:spPr>
          <a:xfrm>
            <a:off x="8887968" y="530352"/>
            <a:ext cx="932688" cy="365760"/>
          </a:xfrm>
          <a:prstGeom prst="roundRect">
            <a:avLst>
              <a:gd name="adj" fmla="val 15000"/>
            </a:avLst>
          </a:prstGeom>
          <a:solidFill>
            <a:srgbClr val="F2E9DE"/>
          </a:solidFill>
          <a:ln w="12700">
            <a:solidFill>
              <a:srgbClr val="D9CCBC"/>
            </a:solidFill>
            <a:prstDash val="solid"/>
          </a:ln>
        </p:spPr>
        <p:txBody>
          <a:bodyPr/>
          <a:lstStyle/>
          <a:p>
            <a:endParaRPr lang="en-US"/>
          </a:p>
        </p:txBody>
      </p:sp>
      <p:sp>
        <p:nvSpPr>
          <p:cNvPr id="51" name="Text 49"/>
          <p:cNvSpPr/>
          <p:nvPr/>
        </p:nvSpPr>
        <p:spPr>
          <a:xfrm>
            <a:off x="8887968" y="603504"/>
            <a:ext cx="932688" cy="219456"/>
          </a:xfrm>
          <a:prstGeom prst="rect">
            <a:avLst/>
          </a:prstGeom>
          <a:noFill/>
          <a:ln/>
        </p:spPr>
        <p:txBody>
          <a:bodyPr wrap="square" lIns="0" tIns="0" rIns="0" bIns="0" rtlCol="0" anchor="ctr"/>
          <a:lstStyle/>
          <a:p>
            <a:pPr marL="0" indent="0" algn="ctr">
              <a:buNone/>
            </a:pPr>
            <a:r>
              <a:rPr lang="en-US" sz="1050" dirty="0">
                <a:solidFill>
                  <a:srgbClr val="53626C"/>
                </a:solidFill>
                <a:latin typeface="Helvetica Neue" pitchFamily="34" charset="0"/>
                <a:ea typeface="Helvetica Neue" pitchFamily="34" charset="-122"/>
                <a:cs typeface="Helvetica Neue" pitchFamily="34" charset="-120"/>
              </a:rPr>
              <a:t>Slide 4</a:t>
            </a:r>
            <a:endParaRPr lang="en-US" sz="1050" dirty="0"/>
          </a:p>
        </p:txBody>
      </p:sp>
      <p:sp>
        <p:nvSpPr>
          <p:cNvPr id="52" name="Shape 50"/>
          <p:cNvSpPr/>
          <p:nvPr/>
        </p:nvSpPr>
        <p:spPr>
          <a:xfrm>
            <a:off x="9948672" y="530352"/>
            <a:ext cx="1335024" cy="365760"/>
          </a:xfrm>
          <a:prstGeom prst="roundRect">
            <a:avLst>
              <a:gd name="adj" fmla="val 15000"/>
            </a:avLst>
          </a:prstGeom>
          <a:solidFill>
            <a:srgbClr val="F2E9DE"/>
          </a:solidFill>
          <a:ln w="12700">
            <a:solidFill>
              <a:srgbClr val="D9CCBC"/>
            </a:solidFill>
            <a:prstDash val="solid"/>
          </a:ln>
        </p:spPr>
        <p:txBody>
          <a:bodyPr/>
          <a:lstStyle/>
          <a:p>
            <a:endParaRPr lang="en-US"/>
          </a:p>
        </p:txBody>
      </p:sp>
      <p:sp>
        <p:nvSpPr>
          <p:cNvPr id="53" name="Text 51"/>
          <p:cNvSpPr/>
          <p:nvPr/>
        </p:nvSpPr>
        <p:spPr>
          <a:xfrm>
            <a:off x="9948672" y="603504"/>
            <a:ext cx="1335024" cy="219456"/>
          </a:xfrm>
          <a:prstGeom prst="rect">
            <a:avLst/>
          </a:prstGeom>
          <a:noFill/>
          <a:ln/>
        </p:spPr>
        <p:txBody>
          <a:bodyPr wrap="square" lIns="0" tIns="0" rIns="0" bIns="0" rtlCol="0" anchor="ctr"/>
          <a:lstStyle/>
          <a:p>
            <a:pPr marL="0" indent="0" algn="ctr">
              <a:buNone/>
            </a:pPr>
            <a:r>
              <a:rPr lang="en-US" sz="1050" dirty="0">
                <a:solidFill>
                  <a:srgbClr val="53626C"/>
                </a:solidFill>
                <a:latin typeface="Helvetica Neue" pitchFamily="34" charset="0"/>
                <a:ea typeface="Helvetica Neue" pitchFamily="34" charset="-122"/>
                <a:cs typeface="Helvetica Neue" pitchFamily="34" charset="-120"/>
              </a:rPr>
              <a:t>Fan-out</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1E8"/>
        </a:solidFill>
        <a:effectLst/>
      </p:bgPr>
    </p:bg>
    <p:spTree>
      <p:nvGrpSpPr>
        <p:cNvPr id="1" name=""/>
        <p:cNvGrpSpPr/>
        <p:nvPr/>
      </p:nvGrpSpPr>
      <p:grpSpPr>
        <a:xfrm>
          <a:off x="0" y="0"/>
          <a:ext cx="0" cy="0"/>
          <a:chOff x="0" y="0"/>
          <a:chExt cx="0" cy="0"/>
        </a:xfrm>
      </p:grpSpPr>
      <p:sp>
        <p:nvSpPr>
          <p:cNvPr id="2" name="Text 0"/>
          <p:cNvSpPr/>
          <p:nvPr/>
        </p:nvSpPr>
        <p:spPr>
          <a:xfrm>
            <a:off x="868680" y="502920"/>
            <a:ext cx="2560320" cy="133350"/>
          </a:xfrm>
          <a:prstGeom prst="rect">
            <a:avLst/>
          </a:prstGeom>
          <a:noFill/>
          <a:ln/>
        </p:spPr>
        <p:txBody>
          <a:bodyPr wrap="square" lIns="0" tIns="0" rIns="0" bIns="0" rtlCol="0" anchor="ctr"/>
          <a:lstStyle/>
          <a:p>
            <a:pPr marL="0" indent="0">
              <a:buNone/>
            </a:pPr>
            <a:r>
              <a:rPr lang="en-US" sz="1050" b="1" dirty="0">
                <a:solidFill>
                  <a:srgbClr val="B8874F"/>
                </a:solidFill>
                <a:latin typeface="Helvetica Neue" pitchFamily="34" charset="0"/>
                <a:ea typeface="Helvetica Neue" pitchFamily="34" charset="-122"/>
                <a:cs typeface="Helvetica Neue" pitchFamily="34" charset="-120"/>
              </a:rPr>
              <a:t>THESIS FRAMING</a:t>
            </a:r>
            <a:endParaRPr lang="en-US" sz="1050" dirty="0"/>
          </a:p>
        </p:txBody>
      </p:sp>
      <p:sp>
        <p:nvSpPr>
          <p:cNvPr id="3" name="Shape 1"/>
          <p:cNvSpPr/>
          <p:nvPr/>
        </p:nvSpPr>
        <p:spPr>
          <a:xfrm>
            <a:off x="868680" y="822960"/>
            <a:ext cx="960120" cy="0"/>
          </a:xfrm>
          <a:prstGeom prst="line">
            <a:avLst/>
          </a:prstGeom>
          <a:noFill/>
          <a:ln w="12700">
            <a:solidFill>
              <a:srgbClr val="B8874F"/>
            </a:solidFill>
            <a:prstDash val="solid"/>
          </a:ln>
        </p:spPr>
        <p:txBody>
          <a:bodyPr/>
          <a:lstStyle/>
          <a:p>
            <a:endParaRPr lang="en-US"/>
          </a:p>
        </p:txBody>
      </p:sp>
      <p:sp>
        <p:nvSpPr>
          <p:cNvPr id="4" name="Text 2"/>
          <p:cNvSpPr/>
          <p:nvPr/>
        </p:nvSpPr>
        <p:spPr>
          <a:xfrm>
            <a:off x="868680" y="1024128"/>
            <a:ext cx="6309360" cy="731520"/>
          </a:xfrm>
          <a:prstGeom prst="rect">
            <a:avLst/>
          </a:prstGeom>
          <a:noFill/>
          <a:ln/>
        </p:spPr>
        <p:txBody>
          <a:bodyPr wrap="square" lIns="0" tIns="0" rIns="0" bIns="0" rtlCol="0" anchor="ctr">
            <a:normAutofit/>
          </a:bodyPr>
          <a:lstStyle/>
          <a:p>
            <a:pPr marL="0" indent="0">
              <a:buNone/>
            </a:pPr>
            <a:r>
              <a:rPr lang="en-US" sz="2446" b="1" dirty="0">
                <a:solidFill>
                  <a:srgbClr val="22313B"/>
                </a:solidFill>
                <a:latin typeface="Georgia" pitchFamily="34" charset="0"/>
                <a:ea typeface="Georgia" pitchFamily="34" charset="-122"/>
                <a:cs typeface="Georgia" pitchFamily="34" charset="-120"/>
              </a:rPr>
              <a:t>We needed evidence, not intuition</a:t>
            </a:r>
            <a:endParaRPr lang="en-US" sz="2446" dirty="0"/>
          </a:p>
        </p:txBody>
      </p:sp>
      <p:sp>
        <p:nvSpPr>
          <p:cNvPr id="5" name="Text 3"/>
          <p:cNvSpPr/>
          <p:nvPr/>
        </p:nvSpPr>
        <p:spPr>
          <a:xfrm>
            <a:off x="868680" y="1828800"/>
            <a:ext cx="6035040" cy="347472"/>
          </a:xfrm>
          <a:prstGeom prst="rect">
            <a:avLst/>
          </a:prstGeom>
          <a:noFill/>
          <a:ln/>
        </p:spPr>
        <p:txBody>
          <a:bodyPr wrap="square" lIns="0" tIns="0" rIns="0" bIns="0" rtlCol="0" anchor="ctr"/>
          <a:lstStyle/>
          <a:p>
            <a:pPr marL="0" indent="0">
              <a:buNone/>
            </a:pPr>
            <a:r>
              <a:rPr lang="en-US" sz="1430" dirty="0">
                <a:solidFill>
                  <a:srgbClr val="53626C"/>
                </a:solidFill>
                <a:latin typeface="Helvetica Neue" pitchFamily="34" charset="0"/>
                <a:ea typeface="Helvetica Neue" pitchFamily="34" charset="-122"/>
                <a:cs typeface="Helvetica Neue" pitchFamily="34" charset="-120"/>
              </a:rPr>
              <a:t>The thesis turned a storage debate into a reproducible benchmark.</a:t>
            </a:r>
            <a:endParaRPr lang="en-US" sz="1430" dirty="0"/>
          </a:p>
        </p:txBody>
      </p:sp>
      <p:sp>
        <p:nvSpPr>
          <p:cNvPr id="6" name="Shape 4"/>
          <p:cNvSpPr/>
          <p:nvPr/>
        </p:nvSpPr>
        <p:spPr>
          <a:xfrm>
            <a:off x="868680" y="2267712"/>
            <a:ext cx="3657600" cy="3273552"/>
          </a:xfrm>
          <a:prstGeom prst="roundRect">
            <a:avLst>
              <a:gd name="adj" fmla="val 2235"/>
            </a:avLst>
          </a:prstGeom>
          <a:solidFill>
            <a:srgbClr val="FBF7F1"/>
          </a:solidFill>
          <a:ln w="12700">
            <a:solidFill>
              <a:srgbClr val="D9CCBC"/>
            </a:solidFill>
            <a:prstDash val="solid"/>
          </a:ln>
        </p:spPr>
        <p:txBody>
          <a:bodyPr/>
          <a:lstStyle/>
          <a:p>
            <a:endParaRPr lang="en-US"/>
          </a:p>
        </p:txBody>
      </p:sp>
      <p:sp>
        <p:nvSpPr>
          <p:cNvPr id="7" name="Shape 5"/>
          <p:cNvSpPr/>
          <p:nvPr/>
        </p:nvSpPr>
        <p:spPr>
          <a:xfrm>
            <a:off x="1143000" y="2633472"/>
            <a:ext cx="3090672" cy="713232"/>
          </a:xfrm>
          <a:prstGeom prst="roundRect">
            <a:avLst>
              <a:gd name="adj" fmla="val 10256"/>
            </a:avLst>
          </a:prstGeom>
          <a:solidFill>
            <a:srgbClr val="D7E3EB"/>
          </a:solidFill>
          <a:ln w="12700">
            <a:solidFill>
              <a:srgbClr val="D9CCBC"/>
            </a:solidFill>
            <a:prstDash val="solid"/>
          </a:ln>
        </p:spPr>
        <p:txBody>
          <a:bodyPr/>
          <a:lstStyle/>
          <a:p>
            <a:endParaRPr lang="en-US"/>
          </a:p>
        </p:txBody>
      </p:sp>
      <p:sp>
        <p:nvSpPr>
          <p:cNvPr id="8" name="Shape 6"/>
          <p:cNvSpPr/>
          <p:nvPr/>
        </p:nvSpPr>
        <p:spPr>
          <a:xfrm>
            <a:off x="1307592" y="2761488"/>
            <a:ext cx="384048" cy="384048"/>
          </a:xfrm>
          <a:prstGeom prst="ellipse">
            <a:avLst/>
          </a:prstGeom>
          <a:solidFill>
            <a:srgbClr val="22313B"/>
          </a:solidFill>
          <a:ln w="12700">
            <a:solidFill>
              <a:srgbClr val="22313B">
                <a:alpha val="0"/>
              </a:srgbClr>
            </a:solidFill>
            <a:prstDash val="solid"/>
          </a:ln>
        </p:spPr>
        <p:txBody>
          <a:bodyPr/>
          <a:lstStyle/>
          <a:p>
            <a:endParaRPr lang="en-US"/>
          </a:p>
        </p:txBody>
      </p:sp>
      <p:sp>
        <p:nvSpPr>
          <p:cNvPr id="9" name="Text 7"/>
          <p:cNvSpPr/>
          <p:nvPr/>
        </p:nvSpPr>
        <p:spPr>
          <a:xfrm>
            <a:off x="1307592" y="2880360"/>
            <a:ext cx="384048" cy="146304"/>
          </a:xfrm>
          <a:prstGeom prst="rect">
            <a:avLst/>
          </a:prstGeom>
          <a:noFill/>
          <a:ln/>
        </p:spPr>
        <p:txBody>
          <a:bodyPr wrap="square" lIns="0" tIns="0" rIns="0" bIns="0" rtlCol="0" anchor="ctr"/>
          <a:lstStyle/>
          <a:p>
            <a:pPr marL="0" indent="0" algn="ctr">
              <a:buNone/>
            </a:pPr>
            <a:r>
              <a:rPr lang="en-US" sz="830" b="1" dirty="0">
                <a:solidFill>
                  <a:srgbClr val="FFFFFF"/>
                </a:solidFill>
                <a:latin typeface="Helvetica Neue" pitchFamily="34" charset="0"/>
                <a:ea typeface="Helvetica Neue" pitchFamily="34" charset="-122"/>
                <a:cs typeface="Helvetica Neue" pitchFamily="34" charset="-120"/>
              </a:rPr>
              <a:t>01</a:t>
            </a:r>
            <a:endParaRPr lang="en-US" sz="830" dirty="0"/>
          </a:p>
        </p:txBody>
      </p:sp>
      <p:sp>
        <p:nvSpPr>
          <p:cNvPr id="10" name="Text 8"/>
          <p:cNvSpPr/>
          <p:nvPr/>
        </p:nvSpPr>
        <p:spPr>
          <a:xfrm>
            <a:off x="1810512" y="2798064"/>
            <a:ext cx="2148840" cy="384048"/>
          </a:xfrm>
          <a:prstGeom prst="rect">
            <a:avLst/>
          </a:prstGeom>
          <a:noFill/>
          <a:ln/>
        </p:spPr>
        <p:txBody>
          <a:bodyPr wrap="square" lIns="0" tIns="0" rIns="0" bIns="0" rtlCol="0" anchor="ctr"/>
          <a:lstStyle/>
          <a:p>
            <a:pPr marL="0" indent="0">
              <a:buNone/>
            </a:pPr>
            <a:r>
              <a:rPr lang="en-US" sz="1220" b="1" dirty="0">
                <a:solidFill>
                  <a:srgbClr val="22313B"/>
                </a:solidFill>
                <a:latin typeface="Helvetica Neue" pitchFamily="34" charset="0"/>
                <a:ea typeface="Helvetica Neue" pitchFamily="34" charset="-122"/>
                <a:cs typeface="Helvetica Neue" pitchFamily="34" charset="-120"/>
              </a:rPr>
              <a:t>Compare realistic</a:t>
            </a:r>
            <a:endParaRPr lang="en-US" sz="1220" dirty="0"/>
          </a:p>
          <a:p>
            <a:pPr marL="0" indent="0">
              <a:buNone/>
            </a:pPr>
            <a:r>
              <a:rPr lang="en-US" sz="1220" b="1" dirty="0">
                <a:solidFill>
                  <a:srgbClr val="22313B"/>
                </a:solidFill>
                <a:latin typeface="Helvetica Neue" pitchFamily="34" charset="0"/>
                <a:ea typeface="Helvetica Neue" pitchFamily="34" charset="-122"/>
                <a:cs typeface="Helvetica Neue" pitchFamily="34" charset="-120"/>
              </a:rPr>
              <a:t>storage backends</a:t>
            </a:r>
            <a:endParaRPr lang="en-US" sz="1220" dirty="0"/>
          </a:p>
        </p:txBody>
      </p:sp>
      <p:sp>
        <p:nvSpPr>
          <p:cNvPr id="11" name="Shape 9"/>
          <p:cNvSpPr/>
          <p:nvPr/>
        </p:nvSpPr>
        <p:spPr>
          <a:xfrm>
            <a:off x="1143000" y="3566160"/>
            <a:ext cx="3090672" cy="713232"/>
          </a:xfrm>
          <a:prstGeom prst="roundRect">
            <a:avLst>
              <a:gd name="adj" fmla="val 10256"/>
            </a:avLst>
          </a:prstGeom>
          <a:solidFill>
            <a:srgbClr val="E6D6C4"/>
          </a:solidFill>
          <a:ln w="12700">
            <a:solidFill>
              <a:srgbClr val="D9CCBC"/>
            </a:solidFill>
            <a:prstDash val="solid"/>
          </a:ln>
        </p:spPr>
        <p:txBody>
          <a:bodyPr/>
          <a:lstStyle/>
          <a:p>
            <a:endParaRPr lang="en-US"/>
          </a:p>
        </p:txBody>
      </p:sp>
      <p:sp>
        <p:nvSpPr>
          <p:cNvPr id="12" name="Shape 10"/>
          <p:cNvSpPr/>
          <p:nvPr/>
        </p:nvSpPr>
        <p:spPr>
          <a:xfrm>
            <a:off x="1307592" y="3694176"/>
            <a:ext cx="384048" cy="384048"/>
          </a:xfrm>
          <a:prstGeom prst="ellipse">
            <a:avLst/>
          </a:prstGeom>
          <a:solidFill>
            <a:srgbClr val="22313B"/>
          </a:solidFill>
          <a:ln w="12700">
            <a:solidFill>
              <a:srgbClr val="22313B">
                <a:alpha val="0"/>
              </a:srgbClr>
            </a:solidFill>
            <a:prstDash val="solid"/>
          </a:ln>
        </p:spPr>
        <p:txBody>
          <a:bodyPr/>
          <a:lstStyle/>
          <a:p>
            <a:endParaRPr lang="en-US"/>
          </a:p>
        </p:txBody>
      </p:sp>
      <p:sp>
        <p:nvSpPr>
          <p:cNvPr id="13" name="Text 11"/>
          <p:cNvSpPr/>
          <p:nvPr/>
        </p:nvSpPr>
        <p:spPr>
          <a:xfrm>
            <a:off x="1307592" y="3813048"/>
            <a:ext cx="384048" cy="146304"/>
          </a:xfrm>
          <a:prstGeom prst="rect">
            <a:avLst/>
          </a:prstGeom>
          <a:noFill/>
          <a:ln/>
        </p:spPr>
        <p:txBody>
          <a:bodyPr wrap="square" lIns="0" tIns="0" rIns="0" bIns="0" rtlCol="0" anchor="ctr"/>
          <a:lstStyle/>
          <a:p>
            <a:pPr marL="0" indent="0" algn="ctr">
              <a:buNone/>
            </a:pPr>
            <a:r>
              <a:rPr lang="en-US" sz="830" b="1" dirty="0">
                <a:solidFill>
                  <a:srgbClr val="FFFFFF"/>
                </a:solidFill>
                <a:latin typeface="Helvetica Neue" pitchFamily="34" charset="0"/>
                <a:ea typeface="Helvetica Neue" pitchFamily="34" charset="-122"/>
                <a:cs typeface="Helvetica Neue" pitchFamily="34" charset="-120"/>
              </a:rPr>
              <a:t>02</a:t>
            </a:r>
            <a:endParaRPr lang="en-US" sz="830" dirty="0"/>
          </a:p>
        </p:txBody>
      </p:sp>
      <p:sp>
        <p:nvSpPr>
          <p:cNvPr id="14" name="Text 12"/>
          <p:cNvSpPr/>
          <p:nvPr/>
        </p:nvSpPr>
        <p:spPr>
          <a:xfrm>
            <a:off x="1810512" y="3730752"/>
            <a:ext cx="2148840" cy="384048"/>
          </a:xfrm>
          <a:prstGeom prst="rect">
            <a:avLst/>
          </a:prstGeom>
          <a:noFill/>
          <a:ln/>
        </p:spPr>
        <p:txBody>
          <a:bodyPr wrap="square" lIns="0" tIns="0" rIns="0" bIns="0" rtlCol="0" anchor="ctr"/>
          <a:lstStyle/>
          <a:p>
            <a:pPr marL="0" indent="0">
              <a:buNone/>
            </a:pPr>
            <a:r>
              <a:rPr lang="en-US" sz="1220" b="1" dirty="0">
                <a:solidFill>
                  <a:srgbClr val="22313B"/>
                </a:solidFill>
                <a:latin typeface="Helvetica Neue" pitchFamily="34" charset="0"/>
                <a:ea typeface="Helvetica Neue" pitchFamily="34" charset="-122"/>
                <a:cs typeface="Helvetica Neue" pitchFamily="34" charset="-120"/>
              </a:rPr>
              <a:t>Measure latency,</a:t>
            </a:r>
            <a:endParaRPr lang="en-US" sz="1220" dirty="0"/>
          </a:p>
          <a:p>
            <a:pPr marL="0" indent="0">
              <a:buNone/>
            </a:pPr>
            <a:r>
              <a:rPr lang="en-US" sz="1220" b="1" dirty="0">
                <a:solidFill>
                  <a:srgbClr val="22313B"/>
                </a:solidFill>
                <a:latin typeface="Helvetica Neue" pitchFamily="34" charset="0"/>
                <a:ea typeface="Helvetica Neue" pitchFamily="34" charset="-122"/>
                <a:cs typeface="Helvetica Neue" pitchFamily="34" charset="-120"/>
              </a:rPr>
              <a:t>throughput, and cost posture</a:t>
            </a:r>
            <a:endParaRPr lang="en-US" sz="1220" dirty="0"/>
          </a:p>
        </p:txBody>
      </p:sp>
      <p:sp>
        <p:nvSpPr>
          <p:cNvPr id="15" name="Shape 13"/>
          <p:cNvSpPr/>
          <p:nvPr/>
        </p:nvSpPr>
        <p:spPr>
          <a:xfrm>
            <a:off x="1143000" y="4498848"/>
            <a:ext cx="3090672" cy="713232"/>
          </a:xfrm>
          <a:prstGeom prst="roundRect">
            <a:avLst>
              <a:gd name="adj" fmla="val 10256"/>
            </a:avLst>
          </a:prstGeom>
          <a:solidFill>
            <a:srgbClr val="F2E9DE"/>
          </a:solidFill>
          <a:ln w="12700">
            <a:solidFill>
              <a:srgbClr val="D9CCBC"/>
            </a:solidFill>
            <a:prstDash val="solid"/>
          </a:ln>
        </p:spPr>
        <p:txBody>
          <a:bodyPr/>
          <a:lstStyle/>
          <a:p>
            <a:endParaRPr lang="en-US"/>
          </a:p>
        </p:txBody>
      </p:sp>
      <p:sp>
        <p:nvSpPr>
          <p:cNvPr id="16" name="Shape 14"/>
          <p:cNvSpPr/>
          <p:nvPr/>
        </p:nvSpPr>
        <p:spPr>
          <a:xfrm>
            <a:off x="1307592" y="4626864"/>
            <a:ext cx="384048" cy="384048"/>
          </a:xfrm>
          <a:prstGeom prst="ellipse">
            <a:avLst/>
          </a:prstGeom>
          <a:solidFill>
            <a:srgbClr val="22313B"/>
          </a:solidFill>
          <a:ln w="12700">
            <a:solidFill>
              <a:srgbClr val="22313B">
                <a:alpha val="0"/>
              </a:srgbClr>
            </a:solidFill>
            <a:prstDash val="solid"/>
          </a:ln>
        </p:spPr>
        <p:txBody>
          <a:bodyPr/>
          <a:lstStyle/>
          <a:p>
            <a:endParaRPr lang="en-US"/>
          </a:p>
        </p:txBody>
      </p:sp>
      <p:sp>
        <p:nvSpPr>
          <p:cNvPr id="17" name="Text 15"/>
          <p:cNvSpPr/>
          <p:nvPr/>
        </p:nvSpPr>
        <p:spPr>
          <a:xfrm>
            <a:off x="1307592" y="4745736"/>
            <a:ext cx="384048" cy="146304"/>
          </a:xfrm>
          <a:prstGeom prst="rect">
            <a:avLst/>
          </a:prstGeom>
          <a:noFill/>
          <a:ln/>
        </p:spPr>
        <p:txBody>
          <a:bodyPr wrap="square" lIns="0" tIns="0" rIns="0" bIns="0" rtlCol="0" anchor="ctr"/>
          <a:lstStyle/>
          <a:p>
            <a:pPr marL="0" indent="0" algn="ctr">
              <a:buNone/>
            </a:pPr>
            <a:r>
              <a:rPr lang="en-US" sz="830" b="1" dirty="0">
                <a:solidFill>
                  <a:srgbClr val="FFFFFF"/>
                </a:solidFill>
                <a:latin typeface="Helvetica Neue" pitchFamily="34" charset="0"/>
                <a:ea typeface="Helvetica Neue" pitchFamily="34" charset="-122"/>
                <a:cs typeface="Helvetica Neue" pitchFamily="34" charset="-120"/>
              </a:rPr>
              <a:t>03</a:t>
            </a:r>
            <a:endParaRPr lang="en-US" sz="830" dirty="0"/>
          </a:p>
        </p:txBody>
      </p:sp>
      <p:sp>
        <p:nvSpPr>
          <p:cNvPr id="18" name="Text 16"/>
          <p:cNvSpPr/>
          <p:nvPr/>
        </p:nvSpPr>
        <p:spPr>
          <a:xfrm>
            <a:off x="1810512" y="4663440"/>
            <a:ext cx="2148840" cy="384048"/>
          </a:xfrm>
          <a:prstGeom prst="rect">
            <a:avLst/>
          </a:prstGeom>
          <a:noFill/>
          <a:ln/>
        </p:spPr>
        <p:txBody>
          <a:bodyPr wrap="square" lIns="0" tIns="0" rIns="0" bIns="0" rtlCol="0" anchor="ctr"/>
          <a:lstStyle/>
          <a:p>
            <a:pPr marL="0" indent="0">
              <a:buNone/>
            </a:pPr>
            <a:r>
              <a:rPr lang="en-US" sz="1220" b="1" dirty="0">
                <a:solidFill>
                  <a:srgbClr val="22313B"/>
                </a:solidFill>
                <a:latin typeface="Helvetica Neue" pitchFamily="34" charset="0"/>
                <a:ea typeface="Helvetica Neue" pitchFamily="34" charset="-122"/>
                <a:cs typeface="Helvetica Neue" pitchFamily="34" charset="-120"/>
              </a:rPr>
              <a:t>Turn the result into</a:t>
            </a:r>
            <a:endParaRPr lang="en-US" sz="1220" dirty="0"/>
          </a:p>
          <a:p>
            <a:pPr marL="0" indent="0">
              <a:buNone/>
            </a:pPr>
            <a:r>
              <a:rPr lang="en-US" sz="1220" b="1" dirty="0">
                <a:solidFill>
                  <a:srgbClr val="22313B"/>
                </a:solidFill>
                <a:latin typeface="Helvetica Neue" pitchFamily="34" charset="0"/>
                <a:ea typeface="Helvetica Neue" pitchFamily="34" charset="-122"/>
                <a:cs typeface="Helvetica Neue" pitchFamily="34" charset="-120"/>
              </a:rPr>
              <a:t>a product decision</a:t>
            </a:r>
            <a:endParaRPr lang="en-US" sz="1220" dirty="0"/>
          </a:p>
        </p:txBody>
      </p:sp>
      <p:sp>
        <p:nvSpPr>
          <p:cNvPr id="19" name="Text 17"/>
          <p:cNvSpPr/>
          <p:nvPr/>
        </p:nvSpPr>
        <p:spPr>
          <a:xfrm>
            <a:off x="1143000" y="5303520"/>
            <a:ext cx="3108960" cy="146304"/>
          </a:xfrm>
          <a:prstGeom prst="rect">
            <a:avLst/>
          </a:prstGeom>
          <a:noFill/>
          <a:ln/>
        </p:spPr>
        <p:txBody>
          <a:bodyPr wrap="square" lIns="0" tIns="0" rIns="0" bIns="0" rtlCol="0" anchor="ctr"/>
          <a:lstStyle/>
          <a:p>
            <a:pPr marL="0" indent="0" algn="ctr">
              <a:buNone/>
            </a:pPr>
            <a:r>
              <a:rPr lang="en-US" sz="1020" i="1" dirty="0">
                <a:solidFill>
                  <a:srgbClr val="53626C"/>
                </a:solidFill>
                <a:latin typeface="Helvetica Neue" pitchFamily="34" charset="0"/>
                <a:ea typeface="Helvetica Neue" pitchFamily="34" charset="-122"/>
                <a:cs typeface="Helvetica Neue" pitchFamily="34" charset="-120"/>
              </a:rPr>
              <a:t>The value to the company was decision support, not just the report itself.</a:t>
            </a:r>
            <a:endParaRPr lang="en-US" sz="1020" dirty="0"/>
          </a:p>
        </p:txBody>
      </p:sp>
      <p:sp>
        <p:nvSpPr>
          <p:cNvPr id="20" name="Shape 18"/>
          <p:cNvSpPr/>
          <p:nvPr/>
        </p:nvSpPr>
        <p:spPr>
          <a:xfrm>
            <a:off x="4828032" y="2267712"/>
            <a:ext cx="6464808" cy="3273552"/>
          </a:xfrm>
          <a:prstGeom prst="roundRect">
            <a:avLst>
              <a:gd name="adj" fmla="val 2235"/>
            </a:avLst>
          </a:prstGeom>
          <a:solidFill>
            <a:srgbClr val="FBF7F1"/>
          </a:solidFill>
          <a:ln w="12700">
            <a:solidFill>
              <a:srgbClr val="D9CCBC"/>
            </a:solidFill>
            <a:prstDash val="solid"/>
          </a:ln>
        </p:spPr>
        <p:txBody>
          <a:bodyPr/>
          <a:lstStyle/>
          <a:p>
            <a:endParaRPr lang="en-US"/>
          </a:p>
        </p:txBody>
      </p:sp>
      <p:pic>
        <p:nvPicPr>
          <p:cNvPr id="21" name="Image 0" descr="/Users/casperkristiansson/programming/KTH-MSc-Thesis-Computer-Science/Presentation/Summary/assets/research_process.png"/>
          <p:cNvPicPr>
            <a:picLocks noChangeAspect="1"/>
          </p:cNvPicPr>
          <p:nvPr/>
        </p:nvPicPr>
        <p:blipFill>
          <a:blip r:embed="rId3"/>
          <a:stretch>
            <a:fillRect/>
          </a:stretch>
        </p:blipFill>
        <p:spPr>
          <a:xfrm>
            <a:off x="4992624" y="2733783"/>
            <a:ext cx="6144768" cy="2231682"/>
          </a:xfrm>
          <a:prstGeom prst="rect">
            <a:avLst/>
          </a:prstGeom>
        </p:spPr>
      </p:pic>
      <p:sp>
        <p:nvSpPr>
          <p:cNvPr id="22" name="Shape 19"/>
          <p:cNvSpPr/>
          <p:nvPr/>
        </p:nvSpPr>
        <p:spPr>
          <a:xfrm>
            <a:off x="5102352" y="2359152"/>
            <a:ext cx="1115568" cy="310896"/>
          </a:xfrm>
          <a:prstGeom prst="roundRect">
            <a:avLst>
              <a:gd name="adj" fmla="val 17647"/>
            </a:avLst>
          </a:prstGeom>
          <a:solidFill>
            <a:srgbClr val="F2E9DE"/>
          </a:solidFill>
          <a:ln w="12700">
            <a:solidFill>
              <a:srgbClr val="D9CCBC"/>
            </a:solidFill>
            <a:prstDash val="solid"/>
          </a:ln>
        </p:spPr>
        <p:txBody>
          <a:bodyPr/>
          <a:lstStyle/>
          <a:p>
            <a:endParaRPr lang="en-US"/>
          </a:p>
        </p:txBody>
      </p:sp>
      <p:sp>
        <p:nvSpPr>
          <p:cNvPr id="23" name="Text 20"/>
          <p:cNvSpPr/>
          <p:nvPr/>
        </p:nvSpPr>
        <p:spPr>
          <a:xfrm>
            <a:off x="5102352" y="2404872"/>
            <a:ext cx="1115568" cy="219456"/>
          </a:xfrm>
          <a:prstGeom prst="rect">
            <a:avLst/>
          </a:prstGeom>
          <a:noFill/>
          <a:ln/>
        </p:spPr>
        <p:txBody>
          <a:bodyPr wrap="square" lIns="0" tIns="0" rIns="0" bIns="0" rtlCol="0" anchor="ctr"/>
          <a:lstStyle/>
          <a:p>
            <a:pPr marL="0" indent="0" algn="ctr">
              <a:buNone/>
            </a:pPr>
            <a:r>
              <a:rPr lang="en-US" sz="890" dirty="0">
                <a:solidFill>
                  <a:srgbClr val="53626C"/>
                </a:solidFill>
                <a:latin typeface="Helvetica Neue" pitchFamily="34" charset="0"/>
                <a:ea typeface="Helvetica Neue" pitchFamily="34" charset="-122"/>
                <a:cs typeface="Helvetica Neue" pitchFamily="34" charset="-120"/>
              </a:rPr>
              <a:t>Benchmark flow</a:t>
            </a:r>
            <a:endParaRPr lang="en-US" sz="890" dirty="0"/>
          </a:p>
        </p:txBody>
      </p:sp>
      <p:sp>
        <p:nvSpPr>
          <p:cNvPr id="24" name="Shape 21"/>
          <p:cNvSpPr/>
          <p:nvPr/>
        </p:nvSpPr>
        <p:spPr>
          <a:xfrm>
            <a:off x="8887968" y="530352"/>
            <a:ext cx="932688" cy="365760"/>
          </a:xfrm>
          <a:prstGeom prst="roundRect">
            <a:avLst>
              <a:gd name="adj" fmla="val 15000"/>
            </a:avLst>
          </a:prstGeom>
          <a:solidFill>
            <a:srgbClr val="F2E9DE"/>
          </a:solidFill>
          <a:ln w="12700">
            <a:solidFill>
              <a:srgbClr val="D9CCBC"/>
            </a:solidFill>
            <a:prstDash val="solid"/>
          </a:ln>
        </p:spPr>
        <p:txBody>
          <a:bodyPr/>
          <a:lstStyle/>
          <a:p>
            <a:endParaRPr lang="en-US"/>
          </a:p>
        </p:txBody>
      </p:sp>
      <p:sp>
        <p:nvSpPr>
          <p:cNvPr id="25" name="Text 22"/>
          <p:cNvSpPr/>
          <p:nvPr/>
        </p:nvSpPr>
        <p:spPr>
          <a:xfrm>
            <a:off x="8887968" y="603504"/>
            <a:ext cx="932688" cy="219456"/>
          </a:xfrm>
          <a:prstGeom prst="rect">
            <a:avLst/>
          </a:prstGeom>
          <a:noFill/>
          <a:ln/>
        </p:spPr>
        <p:txBody>
          <a:bodyPr wrap="square" lIns="0" tIns="0" rIns="0" bIns="0" rtlCol="0" anchor="ctr"/>
          <a:lstStyle/>
          <a:p>
            <a:pPr marL="0" indent="0" algn="ctr">
              <a:buNone/>
            </a:pPr>
            <a:r>
              <a:rPr lang="en-US" sz="1050" dirty="0">
                <a:solidFill>
                  <a:srgbClr val="53626C"/>
                </a:solidFill>
                <a:latin typeface="Helvetica Neue" pitchFamily="34" charset="0"/>
                <a:ea typeface="Helvetica Neue" pitchFamily="34" charset="-122"/>
                <a:cs typeface="Helvetica Neue" pitchFamily="34" charset="-120"/>
              </a:rPr>
              <a:t>Slide 5</a:t>
            </a:r>
            <a:endParaRPr lang="en-US" sz="1050" dirty="0"/>
          </a:p>
        </p:txBody>
      </p:sp>
      <p:sp>
        <p:nvSpPr>
          <p:cNvPr id="26" name="Shape 23"/>
          <p:cNvSpPr/>
          <p:nvPr/>
        </p:nvSpPr>
        <p:spPr>
          <a:xfrm>
            <a:off x="9948672" y="530352"/>
            <a:ext cx="1335024" cy="365760"/>
          </a:xfrm>
          <a:prstGeom prst="roundRect">
            <a:avLst>
              <a:gd name="adj" fmla="val 15000"/>
            </a:avLst>
          </a:prstGeom>
          <a:solidFill>
            <a:srgbClr val="F2E9DE"/>
          </a:solidFill>
          <a:ln w="12700">
            <a:solidFill>
              <a:srgbClr val="D9CCBC"/>
            </a:solidFill>
            <a:prstDash val="solid"/>
          </a:ln>
        </p:spPr>
        <p:txBody>
          <a:bodyPr/>
          <a:lstStyle/>
          <a:p>
            <a:endParaRPr lang="en-US"/>
          </a:p>
        </p:txBody>
      </p:sp>
      <p:sp>
        <p:nvSpPr>
          <p:cNvPr id="27" name="Text 24"/>
          <p:cNvSpPr/>
          <p:nvPr/>
        </p:nvSpPr>
        <p:spPr>
          <a:xfrm>
            <a:off x="9948672" y="603504"/>
            <a:ext cx="1335024" cy="219456"/>
          </a:xfrm>
          <a:prstGeom prst="rect">
            <a:avLst/>
          </a:prstGeom>
          <a:noFill/>
          <a:ln/>
        </p:spPr>
        <p:txBody>
          <a:bodyPr wrap="square" lIns="0" tIns="0" rIns="0" bIns="0" rtlCol="0" anchor="ctr"/>
          <a:lstStyle/>
          <a:p>
            <a:pPr marL="0" indent="0" algn="ctr">
              <a:buNone/>
            </a:pPr>
            <a:r>
              <a:rPr lang="en-US" sz="1050" dirty="0">
                <a:solidFill>
                  <a:srgbClr val="53626C"/>
                </a:solidFill>
                <a:latin typeface="Helvetica Neue" pitchFamily="34" charset="0"/>
                <a:ea typeface="Helvetica Neue" pitchFamily="34" charset="-122"/>
                <a:cs typeface="Helvetica Neue" pitchFamily="34" charset="-120"/>
              </a:rPr>
              <a:t>Decision</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1E8"/>
        </a:solidFill>
        <a:effectLst/>
      </p:bgPr>
    </p:bg>
    <p:spTree>
      <p:nvGrpSpPr>
        <p:cNvPr id="1" name=""/>
        <p:cNvGrpSpPr/>
        <p:nvPr/>
      </p:nvGrpSpPr>
      <p:grpSpPr>
        <a:xfrm>
          <a:off x="0" y="0"/>
          <a:ext cx="0" cy="0"/>
          <a:chOff x="0" y="0"/>
          <a:chExt cx="0" cy="0"/>
        </a:xfrm>
      </p:grpSpPr>
      <p:sp>
        <p:nvSpPr>
          <p:cNvPr id="2" name="Text 0"/>
          <p:cNvSpPr/>
          <p:nvPr/>
        </p:nvSpPr>
        <p:spPr>
          <a:xfrm>
            <a:off x="868680" y="502920"/>
            <a:ext cx="3200400" cy="133350"/>
          </a:xfrm>
          <a:prstGeom prst="rect">
            <a:avLst/>
          </a:prstGeom>
          <a:noFill/>
          <a:ln/>
        </p:spPr>
        <p:txBody>
          <a:bodyPr wrap="square" lIns="0" tIns="0" rIns="0" bIns="0" rtlCol="0" anchor="ctr"/>
          <a:lstStyle/>
          <a:p>
            <a:pPr marL="0" indent="0">
              <a:buNone/>
            </a:pPr>
            <a:r>
              <a:rPr lang="en-US" sz="1050" b="1" dirty="0">
                <a:solidFill>
                  <a:srgbClr val="B8874F"/>
                </a:solidFill>
                <a:latin typeface="Helvetica Neue" pitchFamily="34" charset="0"/>
                <a:ea typeface="Helvetica Neue" pitchFamily="34" charset="-122"/>
                <a:cs typeface="Helvetica Neue" pitchFamily="34" charset="-120"/>
              </a:rPr>
              <a:t>CANDIDATE BACKENDS</a:t>
            </a:r>
            <a:endParaRPr lang="en-US" sz="1050" dirty="0"/>
          </a:p>
        </p:txBody>
      </p:sp>
      <p:sp>
        <p:nvSpPr>
          <p:cNvPr id="3" name="Shape 1"/>
          <p:cNvSpPr/>
          <p:nvPr/>
        </p:nvSpPr>
        <p:spPr>
          <a:xfrm>
            <a:off x="868680" y="822960"/>
            <a:ext cx="1051560" cy="0"/>
          </a:xfrm>
          <a:prstGeom prst="line">
            <a:avLst/>
          </a:prstGeom>
          <a:noFill/>
          <a:ln w="12700">
            <a:solidFill>
              <a:srgbClr val="B8874F"/>
            </a:solidFill>
            <a:prstDash val="solid"/>
          </a:ln>
        </p:spPr>
        <p:txBody>
          <a:bodyPr/>
          <a:lstStyle/>
          <a:p>
            <a:endParaRPr lang="en-US"/>
          </a:p>
        </p:txBody>
      </p:sp>
      <p:sp>
        <p:nvSpPr>
          <p:cNvPr id="4" name="Text 2"/>
          <p:cNvSpPr/>
          <p:nvPr/>
        </p:nvSpPr>
        <p:spPr>
          <a:xfrm>
            <a:off x="868680" y="1024128"/>
            <a:ext cx="6400800" cy="731520"/>
          </a:xfrm>
          <a:prstGeom prst="rect">
            <a:avLst/>
          </a:prstGeom>
          <a:noFill/>
          <a:ln/>
        </p:spPr>
        <p:txBody>
          <a:bodyPr wrap="square" lIns="0" tIns="0" rIns="0" bIns="0" rtlCol="0" anchor="ctr">
            <a:normAutofit/>
          </a:bodyPr>
          <a:lstStyle/>
          <a:p>
            <a:pPr marL="0" indent="0">
              <a:buNone/>
            </a:pPr>
            <a:r>
              <a:rPr lang="en-US" sz="2446" b="1" dirty="0">
                <a:solidFill>
                  <a:srgbClr val="22313B"/>
                </a:solidFill>
                <a:latin typeface="Georgia" pitchFamily="34" charset="0"/>
                <a:ea typeface="Georgia" pitchFamily="34" charset="-122"/>
                <a:cs typeface="Georgia" pitchFamily="34" charset="-120"/>
              </a:rPr>
              <a:t>Storage backends we tested</a:t>
            </a:r>
            <a:endParaRPr lang="en-US" sz="2446" dirty="0"/>
          </a:p>
        </p:txBody>
      </p:sp>
      <p:sp>
        <p:nvSpPr>
          <p:cNvPr id="5" name="Text 3"/>
          <p:cNvSpPr/>
          <p:nvPr/>
        </p:nvSpPr>
        <p:spPr>
          <a:xfrm>
            <a:off x="868680" y="1792224"/>
            <a:ext cx="6583680" cy="329184"/>
          </a:xfrm>
          <a:prstGeom prst="rect">
            <a:avLst/>
          </a:prstGeom>
          <a:noFill/>
          <a:ln/>
        </p:spPr>
        <p:txBody>
          <a:bodyPr wrap="square" lIns="0" tIns="0" rIns="0" bIns="0" rtlCol="0" anchor="ctr"/>
          <a:lstStyle/>
          <a:p>
            <a:pPr marL="0" indent="0">
              <a:buNone/>
            </a:pPr>
            <a:r>
              <a:rPr lang="en-US" sz="1420" dirty="0">
                <a:solidFill>
                  <a:srgbClr val="53626C"/>
                </a:solidFill>
                <a:latin typeface="Helvetica Neue" pitchFamily="34" charset="0"/>
                <a:ea typeface="Helvetica Neue" pitchFamily="34" charset="-122"/>
                <a:cs typeface="Helvetica Neue" pitchFamily="34" charset="-120"/>
              </a:rPr>
              <a:t>Different ways of laying out dense scientific data on object storage.</a:t>
            </a:r>
            <a:endParaRPr lang="en-US" sz="1420" dirty="0"/>
          </a:p>
        </p:txBody>
      </p:sp>
      <p:sp>
        <p:nvSpPr>
          <p:cNvPr id="6" name="Shape 4"/>
          <p:cNvSpPr/>
          <p:nvPr/>
        </p:nvSpPr>
        <p:spPr>
          <a:xfrm>
            <a:off x="868680" y="2240280"/>
            <a:ext cx="10424160" cy="3273552"/>
          </a:xfrm>
          <a:prstGeom prst="roundRect">
            <a:avLst>
              <a:gd name="adj" fmla="val 2235"/>
            </a:avLst>
          </a:prstGeom>
          <a:solidFill>
            <a:srgbClr val="FBF7F1"/>
          </a:solidFill>
          <a:ln w="12700">
            <a:solidFill>
              <a:srgbClr val="D9CCBC"/>
            </a:solidFill>
            <a:prstDash val="solid"/>
          </a:ln>
        </p:spPr>
        <p:txBody>
          <a:bodyPr/>
          <a:lstStyle/>
          <a:p>
            <a:endParaRPr lang="en-US"/>
          </a:p>
        </p:txBody>
      </p:sp>
      <p:sp>
        <p:nvSpPr>
          <p:cNvPr id="7" name="Shape 5"/>
          <p:cNvSpPr/>
          <p:nvPr/>
        </p:nvSpPr>
        <p:spPr>
          <a:xfrm>
            <a:off x="1485900" y="2745943"/>
            <a:ext cx="4434840" cy="1042416"/>
          </a:xfrm>
          <a:prstGeom prst="roundRect">
            <a:avLst>
              <a:gd name="adj" fmla="val 7018"/>
            </a:avLst>
          </a:prstGeom>
          <a:solidFill>
            <a:srgbClr val="D7E3EB"/>
          </a:solidFill>
          <a:ln w="12700">
            <a:solidFill>
              <a:srgbClr val="D9CCBC"/>
            </a:solidFill>
            <a:prstDash val="solid"/>
          </a:ln>
        </p:spPr>
        <p:txBody>
          <a:bodyPr/>
          <a:lstStyle/>
          <a:p>
            <a:endParaRPr lang="en-US"/>
          </a:p>
        </p:txBody>
      </p:sp>
      <p:sp>
        <p:nvSpPr>
          <p:cNvPr id="8" name="Shape 6"/>
          <p:cNvSpPr/>
          <p:nvPr/>
        </p:nvSpPr>
        <p:spPr>
          <a:xfrm>
            <a:off x="1632204" y="2892247"/>
            <a:ext cx="1024128" cy="256032"/>
          </a:xfrm>
          <a:prstGeom prst="roundRect">
            <a:avLst>
              <a:gd name="adj" fmla="val 21429"/>
            </a:avLst>
          </a:prstGeom>
          <a:solidFill>
            <a:srgbClr val="B9CAD7"/>
          </a:solidFill>
          <a:ln w="12700">
            <a:solidFill>
              <a:srgbClr val="B9CAD7">
                <a:alpha val="0"/>
              </a:srgbClr>
            </a:solidFill>
            <a:prstDash val="solid"/>
          </a:ln>
        </p:spPr>
        <p:txBody>
          <a:bodyPr/>
          <a:lstStyle/>
          <a:p>
            <a:endParaRPr lang="en-US"/>
          </a:p>
        </p:txBody>
      </p:sp>
      <p:sp>
        <p:nvSpPr>
          <p:cNvPr id="9" name="Text 7"/>
          <p:cNvSpPr/>
          <p:nvPr/>
        </p:nvSpPr>
        <p:spPr>
          <a:xfrm>
            <a:off x="1632204" y="2933395"/>
            <a:ext cx="1024128" cy="146304"/>
          </a:xfrm>
          <a:prstGeom prst="rect">
            <a:avLst/>
          </a:prstGeom>
          <a:noFill/>
          <a:ln/>
        </p:spPr>
        <p:txBody>
          <a:bodyPr wrap="square" lIns="0" tIns="0" rIns="0" bIns="0" rtlCol="0" anchor="ctr"/>
          <a:lstStyle/>
          <a:p>
            <a:pPr marL="0" indent="0" algn="ctr">
              <a:buNone/>
            </a:pPr>
            <a:r>
              <a:rPr lang="en-US" sz="830" b="1" dirty="0">
                <a:solidFill>
                  <a:srgbClr val="22313B"/>
                </a:solidFill>
                <a:latin typeface="Helvetica Neue" pitchFamily="34" charset="0"/>
                <a:ea typeface="Helvetica Neue" pitchFamily="34" charset="-122"/>
                <a:cs typeface="Helvetica Neue" pitchFamily="34" charset="-120"/>
              </a:rPr>
              <a:t>industry reference</a:t>
            </a:r>
            <a:endParaRPr lang="en-US" sz="830" dirty="0"/>
          </a:p>
        </p:txBody>
      </p:sp>
      <p:sp>
        <p:nvSpPr>
          <p:cNvPr id="10" name="Text 8"/>
          <p:cNvSpPr/>
          <p:nvPr/>
        </p:nvSpPr>
        <p:spPr>
          <a:xfrm>
            <a:off x="1650492" y="3203143"/>
            <a:ext cx="4105656" cy="219456"/>
          </a:xfrm>
          <a:prstGeom prst="rect">
            <a:avLst/>
          </a:prstGeom>
          <a:noFill/>
          <a:ln/>
        </p:spPr>
        <p:txBody>
          <a:bodyPr wrap="square" lIns="0" tIns="0" rIns="0" bIns="0" rtlCol="0" anchor="ctr"/>
          <a:lstStyle/>
          <a:p>
            <a:pPr marL="0" indent="0">
              <a:buNone/>
            </a:pPr>
            <a:r>
              <a:rPr lang="en-US" sz="1520" b="1" dirty="0">
                <a:solidFill>
                  <a:srgbClr val="22313B"/>
                </a:solidFill>
                <a:latin typeface="Helvetica Neue" pitchFamily="34" charset="0"/>
                <a:ea typeface="Helvetica Neue" pitchFamily="34" charset="-122"/>
                <a:cs typeface="Helvetica Neue" pitchFamily="34" charset="-120"/>
              </a:rPr>
              <a:t>HDF5 / HSDS</a:t>
            </a:r>
            <a:endParaRPr lang="en-US" sz="1520" dirty="0"/>
          </a:p>
        </p:txBody>
      </p:sp>
      <p:sp>
        <p:nvSpPr>
          <p:cNvPr id="11" name="Text 9"/>
          <p:cNvSpPr/>
          <p:nvPr/>
        </p:nvSpPr>
        <p:spPr>
          <a:xfrm>
            <a:off x="1650492" y="3468319"/>
            <a:ext cx="4105656" cy="182880"/>
          </a:xfrm>
          <a:prstGeom prst="rect">
            <a:avLst/>
          </a:prstGeom>
          <a:noFill/>
          <a:ln/>
        </p:spPr>
        <p:txBody>
          <a:bodyPr wrap="square" lIns="0" tIns="0" rIns="0" bIns="0" rtlCol="0" anchor="ctr"/>
          <a:lstStyle/>
          <a:p>
            <a:pPr marL="0" indent="0">
              <a:buNone/>
            </a:pPr>
            <a:r>
              <a:rPr lang="en-US" sz="1120" dirty="0">
                <a:solidFill>
                  <a:srgbClr val="53626C"/>
                </a:solidFill>
                <a:latin typeface="Helvetica Neue" pitchFamily="34" charset="0"/>
                <a:ea typeface="Helvetica Neue" pitchFamily="34" charset="-122"/>
                <a:cs typeface="Helvetica Neue" pitchFamily="34" charset="-120"/>
              </a:rPr>
              <a:t>Scientific standard via service layer</a:t>
            </a:r>
            <a:endParaRPr lang="en-US" sz="1120" dirty="0"/>
          </a:p>
        </p:txBody>
      </p:sp>
      <p:sp>
        <p:nvSpPr>
          <p:cNvPr id="12" name="Shape 10"/>
          <p:cNvSpPr/>
          <p:nvPr/>
        </p:nvSpPr>
        <p:spPr>
          <a:xfrm>
            <a:off x="6057900" y="2745943"/>
            <a:ext cx="4434840" cy="1042416"/>
          </a:xfrm>
          <a:prstGeom prst="roundRect">
            <a:avLst>
              <a:gd name="adj" fmla="val 7018"/>
            </a:avLst>
          </a:prstGeom>
          <a:solidFill>
            <a:srgbClr val="22313B"/>
          </a:solidFill>
          <a:ln w="12700">
            <a:solidFill>
              <a:srgbClr val="22313B"/>
            </a:solidFill>
            <a:prstDash val="solid"/>
          </a:ln>
        </p:spPr>
        <p:txBody>
          <a:bodyPr/>
          <a:lstStyle/>
          <a:p>
            <a:endParaRPr lang="en-US"/>
          </a:p>
        </p:txBody>
      </p:sp>
      <p:sp>
        <p:nvSpPr>
          <p:cNvPr id="13" name="Shape 11"/>
          <p:cNvSpPr/>
          <p:nvPr/>
        </p:nvSpPr>
        <p:spPr>
          <a:xfrm>
            <a:off x="6204204" y="2892247"/>
            <a:ext cx="1024128" cy="256032"/>
          </a:xfrm>
          <a:prstGeom prst="roundRect">
            <a:avLst>
              <a:gd name="adj" fmla="val 21429"/>
            </a:avLst>
          </a:prstGeom>
          <a:solidFill>
            <a:srgbClr val="B8874F"/>
          </a:solidFill>
          <a:ln w="12700">
            <a:solidFill>
              <a:srgbClr val="B8874F">
                <a:alpha val="0"/>
              </a:srgbClr>
            </a:solidFill>
            <a:prstDash val="solid"/>
          </a:ln>
        </p:spPr>
        <p:txBody>
          <a:bodyPr/>
          <a:lstStyle/>
          <a:p>
            <a:endParaRPr lang="en-US"/>
          </a:p>
        </p:txBody>
      </p:sp>
      <p:sp>
        <p:nvSpPr>
          <p:cNvPr id="14" name="Text 12"/>
          <p:cNvSpPr/>
          <p:nvPr/>
        </p:nvSpPr>
        <p:spPr>
          <a:xfrm>
            <a:off x="6204204" y="2933395"/>
            <a:ext cx="1024128" cy="146304"/>
          </a:xfrm>
          <a:prstGeom prst="rect">
            <a:avLst/>
          </a:prstGeom>
          <a:noFill/>
          <a:ln/>
        </p:spPr>
        <p:txBody>
          <a:bodyPr wrap="square" lIns="0" tIns="0" rIns="0" bIns="0" rtlCol="0" anchor="ctr"/>
          <a:lstStyle/>
          <a:p>
            <a:pPr marL="0" indent="0" algn="ctr">
              <a:buNone/>
            </a:pPr>
            <a:r>
              <a:rPr lang="en-US" sz="830" b="1" dirty="0">
                <a:solidFill>
                  <a:srgbClr val="FFFFFF"/>
                </a:solidFill>
                <a:latin typeface="Helvetica Neue" pitchFamily="34" charset="0"/>
                <a:ea typeface="Helvetica Neue" pitchFamily="34" charset="-122"/>
                <a:cs typeface="Helvetica Neue" pitchFamily="34" charset="-120"/>
              </a:rPr>
              <a:t>cloud-native</a:t>
            </a:r>
            <a:endParaRPr lang="en-US" sz="830" dirty="0"/>
          </a:p>
        </p:txBody>
      </p:sp>
      <p:sp>
        <p:nvSpPr>
          <p:cNvPr id="15" name="Text 13"/>
          <p:cNvSpPr/>
          <p:nvPr/>
        </p:nvSpPr>
        <p:spPr>
          <a:xfrm>
            <a:off x="6222492" y="3203143"/>
            <a:ext cx="4105656" cy="219456"/>
          </a:xfrm>
          <a:prstGeom prst="rect">
            <a:avLst/>
          </a:prstGeom>
          <a:noFill/>
          <a:ln/>
        </p:spPr>
        <p:txBody>
          <a:bodyPr wrap="square" lIns="0" tIns="0" rIns="0" bIns="0" rtlCol="0" anchor="ctr"/>
          <a:lstStyle/>
          <a:p>
            <a:pPr marL="0" indent="0">
              <a:buNone/>
            </a:pPr>
            <a:r>
              <a:rPr lang="en-US" sz="1520" b="1" dirty="0">
                <a:solidFill>
                  <a:srgbClr val="FFFFFF"/>
                </a:solidFill>
                <a:latin typeface="Helvetica Neue" pitchFamily="34" charset="0"/>
                <a:ea typeface="Helvetica Neue" pitchFamily="34" charset="-122"/>
                <a:cs typeface="Helvetica Neue" pitchFamily="34" charset="-120"/>
              </a:rPr>
              <a:t>Zarr</a:t>
            </a:r>
            <a:endParaRPr lang="en-US" sz="1520" dirty="0"/>
          </a:p>
        </p:txBody>
      </p:sp>
      <p:sp>
        <p:nvSpPr>
          <p:cNvPr id="16" name="Text 14"/>
          <p:cNvSpPr/>
          <p:nvPr/>
        </p:nvSpPr>
        <p:spPr>
          <a:xfrm>
            <a:off x="6222492" y="3468319"/>
            <a:ext cx="4105656" cy="182880"/>
          </a:xfrm>
          <a:prstGeom prst="rect">
            <a:avLst/>
          </a:prstGeom>
          <a:noFill/>
          <a:ln/>
        </p:spPr>
        <p:txBody>
          <a:bodyPr wrap="square" lIns="0" tIns="0" rIns="0" bIns="0" rtlCol="0" anchor="ctr"/>
          <a:lstStyle/>
          <a:p>
            <a:pPr marL="0" indent="0">
              <a:buNone/>
            </a:pPr>
            <a:r>
              <a:rPr lang="en-US" sz="1120" dirty="0">
                <a:solidFill>
                  <a:srgbClr val="F2E9DE"/>
                </a:solidFill>
                <a:latin typeface="Helvetica Neue" pitchFamily="34" charset="0"/>
                <a:ea typeface="Helvetica Neue" pitchFamily="34" charset="-122"/>
                <a:cs typeface="Helvetica Neue" pitchFamily="34" charset="-120"/>
              </a:rPr>
              <a:t>Chunked arrays with direct S3 access</a:t>
            </a:r>
            <a:endParaRPr lang="en-US" sz="1120" dirty="0"/>
          </a:p>
        </p:txBody>
      </p:sp>
      <p:sp>
        <p:nvSpPr>
          <p:cNvPr id="17" name="Shape 15"/>
          <p:cNvSpPr/>
          <p:nvPr/>
        </p:nvSpPr>
        <p:spPr>
          <a:xfrm>
            <a:off x="1485900" y="3989527"/>
            <a:ext cx="4434840" cy="1042416"/>
          </a:xfrm>
          <a:prstGeom prst="roundRect">
            <a:avLst>
              <a:gd name="adj" fmla="val 7018"/>
            </a:avLst>
          </a:prstGeom>
          <a:solidFill>
            <a:srgbClr val="E6D6C4"/>
          </a:solidFill>
          <a:ln w="12700">
            <a:solidFill>
              <a:srgbClr val="D9CCBC"/>
            </a:solidFill>
            <a:prstDash val="solid"/>
          </a:ln>
        </p:spPr>
        <p:txBody>
          <a:bodyPr/>
          <a:lstStyle/>
          <a:p>
            <a:endParaRPr lang="en-US"/>
          </a:p>
        </p:txBody>
      </p:sp>
      <p:sp>
        <p:nvSpPr>
          <p:cNvPr id="18" name="Shape 16"/>
          <p:cNvSpPr/>
          <p:nvPr/>
        </p:nvSpPr>
        <p:spPr>
          <a:xfrm>
            <a:off x="1632204" y="4135831"/>
            <a:ext cx="1024128" cy="256032"/>
          </a:xfrm>
          <a:prstGeom prst="roundRect">
            <a:avLst>
              <a:gd name="adj" fmla="val 21429"/>
            </a:avLst>
          </a:prstGeom>
          <a:solidFill>
            <a:srgbClr val="B8874F"/>
          </a:solidFill>
          <a:ln w="12700">
            <a:solidFill>
              <a:srgbClr val="B8874F">
                <a:alpha val="0"/>
              </a:srgbClr>
            </a:solidFill>
            <a:prstDash val="solid"/>
          </a:ln>
        </p:spPr>
        <p:txBody>
          <a:bodyPr/>
          <a:lstStyle/>
          <a:p>
            <a:endParaRPr lang="en-US"/>
          </a:p>
        </p:txBody>
      </p:sp>
      <p:sp>
        <p:nvSpPr>
          <p:cNvPr id="19" name="Text 17"/>
          <p:cNvSpPr/>
          <p:nvPr/>
        </p:nvSpPr>
        <p:spPr>
          <a:xfrm>
            <a:off x="1632204" y="4176979"/>
            <a:ext cx="1024128" cy="146304"/>
          </a:xfrm>
          <a:prstGeom prst="rect">
            <a:avLst/>
          </a:prstGeom>
          <a:noFill/>
          <a:ln/>
        </p:spPr>
        <p:txBody>
          <a:bodyPr wrap="square" lIns="0" tIns="0" rIns="0" bIns="0" rtlCol="0" anchor="ctr"/>
          <a:lstStyle/>
          <a:p>
            <a:pPr marL="0" indent="0" algn="ctr">
              <a:buNone/>
            </a:pPr>
            <a:r>
              <a:rPr lang="en-US" sz="830" b="1" dirty="0">
                <a:solidFill>
                  <a:srgbClr val="22313B"/>
                </a:solidFill>
                <a:latin typeface="Helvetica Neue" pitchFamily="34" charset="0"/>
                <a:ea typeface="Helvetica Neue" pitchFamily="34" charset="-122"/>
                <a:cs typeface="Helvetica Neue" pitchFamily="34" charset="-120"/>
              </a:rPr>
              <a:t>fragment model</a:t>
            </a:r>
            <a:endParaRPr lang="en-US" sz="830" dirty="0"/>
          </a:p>
        </p:txBody>
      </p:sp>
      <p:sp>
        <p:nvSpPr>
          <p:cNvPr id="20" name="Text 18"/>
          <p:cNvSpPr/>
          <p:nvPr/>
        </p:nvSpPr>
        <p:spPr>
          <a:xfrm>
            <a:off x="1650492" y="4446727"/>
            <a:ext cx="4105656" cy="219456"/>
          </a:xfrm>
          <a:prstGeom prst="rect">
            <a:avLst/>
          </a:prstGeom>
          <a:noFill/>
          <a:ln/>
        </p:spPr>
        <p:txBody>
          <a:bodyPr wrap="square" lIns="0" tIns="0" rIns="0" bIns="0" rtlCol="0" anchor="ctr"/>
          <a:lstStyle/>
          <a:p>
            <a:pPr marL="0" indent="0">
              <a:buNone/>
            </a:pPr>
            <a:r>
              <a:rPr lang="en-US" sz="1520" b="1" dirty="0">
                <a:solidFill>
                  <a:srgbClr val="22313B"/>
                </a:solidFill>
                <a:latin typeface="Helvetica Neue" pitchFamily="34" charset="0"/>
                <a:ea typeface="Helvetica Neue" pitchFamily="34" charset="-122"/>
                <a:cs typeface="Helvetica Neue" pitchFamily="34" charset="-120"/>
              </a:rPr>
              <a:t>TileDB</a:t>
            </a:r>
            <a:endParaRPr lang="en-US" sz="1520" dirty="0"/>
          </a:p>
        </p:txBody>
      </p:sp>
      <p:sp>
        <p:nvSpPr>
          <p:cNvPr id="21" name="Text 19"/>
          <p:cNvSpPr/>
          <p:nvPr/>
        </p:nvSpPr>
        <p:spPr>
          <a:xfrm>
            <a:off x="1650492" y="4711903"/>
            <a:ext cx="4105656" cy="182880"/>
          </a:xfrm>
          <a:prstGeom prst="rect">
            <a:avLst/>
          </a:prstGeom>
          <a:noFill/>
          <a:ln/>
        </p:spPr>
        <p:txBody>
          <a:bodyPr wrap="square" lIns="0" tIns="0" rIns="0" bIns="0" rtlCol="0" anchor="ctr"/>
          <a:lstStyle/>
          <a:p>
            <a:pPr marL="0" indent="0">
              <a:buNone/>
            </a:pPr>
            <a:r>
              <a:rPr lang="en-US" sz="1120" dirty="0">
                <a:solidFill>
                  <a:srgbClr val="53626C"/>
                </a:solidFill>
                <a:latin typeface="Helvetica Neue" pitchFamily="34" charset="0"/>
                <a:ea typeface="Helvetica Neue" pitchFamily="34" charset="-122"/>
                <a:cs typeface="Helvetica Neue" pitchFamily="34" charset="-120"/>
              </a:rPr>
              <a:t>Dense arrays with fragment-based layout</a:t>
            </a:r>
            <a:endParaRPr lang="en-US" sz="1120" dirty="0"/>
          </a:p>
        </p:txBody>
      </p:sp>
      <p:sp>
        <p:nvSpPr>
          <p:cNvPr id="22" name="Shape 20"/>
          <p:cNvSpPr/>
          <p:nvPr/>
        </p:nvSpPr>
        <p:spPr>
          <a:xfrm>
            <a:off x="6057900" y="3989527"/>
            <a:ext cx="4434840" cy="1042416"/>
          </a:xfrm>
          <a:prstGeom prst="roundRect">
            <a:avLst>
              <a:gd name="adj" fmla="val 7018"/>
            </a:avLst>
          </a:prstGeom>
          <a:solidFill>
            <a:srgbClr val="F2E9DE"/>
          </a:solidFill>
          <a:ln w="12700">
            <a:solidFill>
              <a:srgbClr val="D9CCBC"/>
            </a:solidFill>
            <a:prstDash val="solid"/>
          </a:ln>
        </p:spPr>
        <p:txBody>
          <a:bodyPr/>
          <a:lstStyle/>
          <a:p>
            <a:endParaRPr lang="en-US"/>
          </a:p>
        </p:txBody>
      </p:sp>
      <p:sp>
        <p:nvSpPr>
          <p:cNvPr id="23" name="Shape 21"/>
          <p:cNvSpPr/>
          <p:nvPr/>
        </p:nvSpPr>
        <p:spPr>
          <a:xfrm>
            <a:off x="6204204" y="4135831"/>
            <a:ext cx="1024128" cy="256032"/>
          </a:xfrm>
          <a:prstGeom prst="roundRect">
            <a:avLst>
              <a:gd name="adj" fmla="val 21429"/>
            </a:avLst>
          </a:prstGeom>
          <a:solidFill>
            <a:srgbClr val="B9CAD7"/>
          </a:solidFill>
          <a:ln w="12700">
            <a:solidFill>
              <a:srgbClr val="B9CAD7">
                <a:alpha val="0"/>
              </a:srgbClr>
            </a:solidFill>
            <a:prstDash val="solid"/>
          </a:ln>
        </p:spPr>
        <p:txBody>
          <a:bodyPr/>
          <a:lstStyle/>
          <a:p>
            <a:endParaRPr lang="en-US"/>
          </a:p>
        </p:txBody>
      </p:sp>
      <p:sp>
        <p:nvSpPr>
          <p:cNvPr id="24" name="Text 22"/>
          <p:cNvSpPr/>
          <p:nvPr/>
        </p:nvSpPr>
        <p:spPr>
          <a:xfrm>
            <a:off x="6204204" y="4176979"/>
            <a:ext cx="1024128" cy="146304"/>
          </a:xfrm>
          <a:prstGeom prst="rect">
            <a:avLst/>
          </a:prstGeom>
          <a:noFill/>
          <a:ln/>
        </p:spPr>
        <p:txBody>
          <a:bodyPr wrap="square" lIns="0" tIns="0" rIns="0" bIns="0" rtlCol="0" anchor="ctr"/>
          <a:lstStyle/>
          <a:p>
            <a:pPr marL="0" indent="0" algn="ctr">
              <a:buNone/>
            </a:pPr>
            <a:r>
              <a:rPr lang="en-US" sz="830" b="1" dirty="0">
                <a:solidFill>
                  <a:srgbClr val="22313B"/>
                </a:solidFill>
                <a:latin typeface="Helvetica Neue" pitchFamily="34" charset="0"/>
                <a:ea typeface="Helvetica Neue" pitchFamily="34" charset="-122"/>
                <a:cs typeface="Helvetica Neue" pitchFamily="34" charset="-120"/>
              </a:rPr>
              <a:t>single-object path</a:t>
            </a:r>
            <a:endParaRPr lang="en-US" sz="830" dirty="0"/>
          </a:p>
        </p:txBody>
      </p:sp>
      <p:sp>
        <p:nvSpPr>
          <p:cNvPr id="25" name="Text 23"/>
          <p:cNvSpPr/>
          <p:nvPr/>
        </p:nvSpPr>
        <p:spPr>
          <a:xfrm>
            <a:off x="6222492" y="4446727"/>
            <a:ext cx="4105656" cy="219456"/>
          </a:xfrm>
          <a:prstGeom prst="rect">
            <a:avLst/>
          </a:prstGeom>
          <a:noFill/>
          <a:ln/>
        </p:spPr>
        <p:txBody>
          <a:bodyPr wrap="square" lIns="0" tIns="0" rIns="0" bIns="0" rtlCol="0" anchor="ctr"/>
          <a:lstStyle/>
          <a:p>
            <a:pPr marL="0" indent="0">
              <a:buNone/>
            </a:pPr>
            <a:r>
              <a:rPr lang="en-US" sz="1520" b="1" dirty="0">
                <a:solidFill>
                  <a:srgbClr val="22313B"/>
                </a:solidFill>
                <a:latin typeface="Helvetica Neue" pitchFamily="34" charset="0"/>
                <a:ea typeface="Helvetica Neue" pitchFamily="34" charset="-122"/>
                <a:cs typeface="Helvetica Neue" pitchFamily="34" charset="-120"/>
              </a:rPr>
              <a:t>ROOT / TTree</a:t>
            </a:r>
            <a:endParaRPr lang="en-US" sz="1520" dirty="0"/>
          </a:p>
        </p:txBody>
      </p:sp>
      <p:sp>
        <p:nvSpPr>
          <p:cNvPr id="26" name="Text 24"/>
          <p:cNvSpPr/>
          <p:nvPr/>
        </p:nvSpPr>
        <p:spPr>
          <a:xfrm>
            <a:off x="6222492" y="4711903"/>
            <a:ext cx="4105656" cy="182880"/>
          </a:xfrm>
          <a:prstGeom prst="rect">
            <a:avLst/>
          </a:prstGeom>
          <a:noFill/>
          <a:ln/>
        </p:spPr>
        <p:txBody>
          <a:bodyPr wrap="square" lIns="0" tIns="0" rIns="0" bIns="0" rtlCol="0" anchor="ctr"/>
          <a:lstStyle/>
          <a:p>
            <a:pPr marL="0" indent="0">
              <a:buNone/>
            </a:pPr>
            <a:r>
              <a:rPr lang="en-US" sz="1120" dirty="0">
                <a:solidFill>
                  <a:srgbClr val="53626C"/>
                </a:solidFill>
                <a:latin typeface="Helvetica Neue" pitchFamily="34" charset="0"/>
                <a:ea typeface="Helvetica Neue" pitchFamily="34" charset="-122"/>
                <a:cs typeface="Helvetica Neue" pitchFamily="34" charset="-120"/>
              </a:rPr>
              <a:t>Single-object layout with range-read style access</a:t>
            </a:r>
            <a:endParaRPr lang="en-US" sz="1120" dirty="0"/>
          </a:p>
        </p:txBody>
      </p:sp>
      <p:sp>
        <p:nvSpPr>
          <p:cNvPr id="27" name="Shape 25"/>
          <p:cNvSpPr/>
          <p:nvPr/>
        </p:nvSpPr>
        <p:spPr>
          <a:xfrm>
            <a:off x="868680" y="5687568"/>
            <a:ext cx="10424160" cy="493776"/>
          </a:xfrm>
          <a:prstGeom prst="roundRect">
            <a:avLst>
              <a:gd name="adj" fmla="val 14815"/>
            </a:avLst>
          </a:prstGeom>
          <a:solidFill>
            <a:srgbClr val="F2E9DE"/>
          </a:solidFill>
          <a:ln w="12700">
            <a:solidFill>
              <a:srgbClr val="D9CCBC"/>
            </a:solidFill>
            <a:prstDash val="solid"/>
          </a:ln>
        </p:spPr>
        <p:txBody>
          <a:bodyPr/>
          <a:lstStyle/>
          <a:p>
            <a:endParaRPr lang="en-US"/>
          </a:p>
        </p:txBody>
      </p:sp>
      <p:sp>
        <p:nvSpPr>
          <p:cNvPr id="28" name="Text 26"/>
          <p:cNvSpPr/>
          <p:nvPr/>
        </p:nvSpPr>
        <p:spPr>
          <a:xfrm>
            <a:off x="1097280" y="5833872"/>
            <a:ext cx="9966960" cy="182880"/>
          </a:xfrm>
          <a:prstGeom prst="rect">
            <a:avLst/>
          </a:prstGeom>
          <a:noFill/>
          <a:ln/>
        </p:spPr>
        <p:txBody>
          <a:bodyPr wrap="square" lIns="0" tIns="0" rIns="0" bIns="0" rtlCol="0" anchor="ctr"/>
          <a:lstStyle/>
          <a:p>
            <a:pPr marL="0" indent="0" algn="ctr">
              <a:buNone/>
            </a:pPr>
            <a:r>
              <a:rPr lang="en-US" sz="1080" i="1" dirty="0">
                <a:solidFill>
                  <a:srgbClr val="53626C"/>
                </a:solidFill>
                <a:latin typeface="Helvetica Neue" pitchFamily="34" charset="0"/>
                <a:ea typeface="Helvetica Neue" pitchFamily="34" charset="-122"/>
                <a:cs typeface="Helvetica Neue" pitchFamily="34" charset="-120"/>
              </a:rPr>
              <a:t>Parquet was piloted, then dropped from timed runs.</a:t>
            </a:r>
            <a:endParaRPr lang="en-US" sz="1080" dirty="0"/>
          </a:p>
        </p:txBody>
      </p:sp>
      <p:sp>
        <p:nvSpPr>
          <p:cNvPr id="29" name="Shape 27"/>
          <p:cNvSpPr/>
          <p:nvPr/>
        </p:nvSpPr>
        <p:spPr>
          <a:xfrm>
            <a:off x="8887968" y="530352"/>
            <a:ext cx="932688" cy="365760"/>
          </a:xfrm>
          <a:prstGeom prst="roundRect">
            <a:avLst>
              <a:gd name="adj" fmla="val 15000"/>
            </a:avLst>
          </a:prstGeom>
          <a:solidFill>
            <a:srgbClr val="F2E9DE"/>
          </a:solidFill>
          <a:ln w="12700">
            <a:solidFill>
              <a:srgbClr val="D9CCBC"/>
            </a:solidFill>
            <a:prstDash val="solid"/>
          </a:ln>
        </p:spPr>
        <p:txBody>
          <a:bodyPr/>
          <a:lstStyle/>
          <a:p>
            <a:endParaRPr lang="en-US"/>
          </a:p>
        </p:txBody>
      </p:sp>
      <p:sp>
        <p:nvSpPr>
          <p:cNvPr id="30" name="Text 28"/>
          <p:cNvSpPr/>
          <p:nvPr/>
        </p:nvSpPr>
        <p:spPr>
          <a:xfrm>
            <a:off x="8887968" y="603504"/>
            <a:ext cx="932688" cy="219456"/>
          </a:xfrm>
          <a:prstGeom prst="rect">
            <a:avLst/>
          </a:prstGeom>
          <a:noFill/>
          <a:ln/>
        </p:spPr>
        <p:txBody>
          <a:bodyPr wrap="square" lIns="0" tIns="0" rIns="0" bIns="0" rtlCol="0" anchor="ctr"/>
          <a:lstStyle/>
          <a:p>
            <a:pPr marL="0" indent="0" algn="ctr">
              <a:buNone/>
            </a:pPr>
            <a:r>
              <a:rPr lang="en-US" sz="1050" dirty="0">
                <a:solidFill>
                  <a:srgbClr val="53626C"/>
                </a:solidFill>
                <a:latin typeface="Helvetica Neue" pitchFamily="34" charset="0"/>
                <a:ea typeface="Helvetica Neue" pitchFamily="34" charset="-122"/>
                <a:cs typeface="Helvetica Neue" pitchFamily="34" charset="-120"/>
              </a:rPr>
              <a:t>Slide 6</a:t>
            </a:r>
            <a:endParaRPr lang="en-US" sz="1050" dirty="0"/>
          </a:p>
        </p:txBody>
      </p:sp>
      <p:sp>
        <p:nvSpPr>
          <p:cNvPr id="31" name="Shape 29"/>
          <p:cNvSpPr/>
          <p:nvPr/>
        </p:nvSpPr>
        <p:spPr>
          <a:xfrm>
            <a:off x="9948672" y="530352"/>
            <a:ext cx="1335024" cy="365760"/>
          </a:xfrm>
          <a:prstGeom prst="roundRect">
            <a:avLst>
              <a:gd name="adj" fmla="val 15000"/>
            </a:avLst>
          </a:prstGeom>
          <a:solidFill>
            <a:srgbClr val="F2E9DE"/>
          </a:solidFill>
          <a:ln w="12700">
            <a:solidFill>
              <a:srgbClr val="D9CCBC"/>
            </a:solidFill>
            <a:prstDash val="solid"/>
          </a:ln>
        </p:spPr>
        <p:txBody>
          <a:bodyPr/>
          <a:lstStyle/>
          <a:p>
            <a:endParaRPr lang="en-US"/>
          </a:p>
        </p:txBody>
      </p:sp>
      <p:sp>
        <p:nvSpPr>
          <p:cNvPr id="32" name="Text 30"/>
          <p:cNvSpPr/>
          <p:nvPr/>
        </p:nvSpPr>
        <p:spPr>
          <a:xfrm>
            <a:off x="9948672" y="603504"/>
            <a:ext cx="1335024" cy="219456"/>
          </a:xfrm>
          <a:prstGeom prst="rect">
            <a:avLst/>
          </a:prstGeom>
          <a:noFill/>
          <a:ln/>
        </p:spPr>
        <p:txBody>
          <a:bodyPr wrap="square" lIns="0" tIns="0" rIns="0" bIns="0" rtlCol="0" anchor="ctr"/>
          <a:lstStyle/>
          <a:p>
            <a:pPr marL="0" indent="0" algn="ctr">
              <a:buNone/>
            </a:pPr>
            <a:r>
              <a:rPr lang="en-US" sz="1050" dirty="0">
                <a:solidFill>
                  <a:srgbClr val="53626C"/>
                </a:solidFill>
                <a:latin typeface="Helvetica Neue" pitchFamily="34" charset="0"/>
                <a:ea typeface="Helvetica Neue" pitchFamily="34" charset="-122"/>
                <a:cs typeface="Helvetica Neue" pitchFamily="34" charset="-120"/>
              </a:rPr>
              <a:t>Backends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1E8"/>
        </a:solidFill>
        <a:effectLst/>
      </p:bgPr>
    </p:bg>
    <p:spTree>
      <p:nvGrpSpPr>
        <p:cNvPr id="1" name=""/>
        <p:cNvGrpSpPr/>
        <p:nvPr/>
      </p:nvGrpSpPr>
      <p:grpSpPr>
        <a:xfrm>
          <a:off x="0" y="0"/>
          <a:ext cx="0" cy="0"/>
          <a:chOff x="0" y="0"/>
          <a:chExt cx="0" cy="0"/>
        </a:xfrm>
      </p:grpSpPr>
      <p:sp>
        <p:nvSpPr>
          <p:cNvPr id="2" name="Text 0"/>
          <p:cNvSpPr/>
          <p:nvPr/>
        </p:nvSpPr>
        <p:spPr>
          <a:xfrm>
            <a:off x="868680" y="502920"/>
            <a:ext cx="3200400" cy="133350"/>
          </a:xfrm>
          <a:prstGeom prst="rect">
            <a:avLst/>
          </a:prstGeom>
          <a:noFill/>
          <a:ln/>
        </p:spPr>
        <p:txBody>
          <a:bodyPr wrap="square" lIns="0" tIns="0" rIns="0" bIns="0" rtlCol="0" anchor="ctr"/>
          <a:lstStyle/>
          <a:p>
            <a:pPr marL="0" indent="0">
              <a:buNone/>
            </a:pPr>
            <a:r>
              <a:rPr lang="en-US" sz="1050" b="1" dirty="0">
                <a:solidFill>
                  <a:srgbClr val="B8874F"/>
                </a:solidFill>
                <a:latin typeface="Helvetica Neue" pitchFamily="34" charset="0"/>
                <a:ea typeface="Helvetica Neue" pitchFamily="34" charset="-122"/>
                <a:cs typeface="Helvetica Neue" pitchFamily="34" charset="-120"/>
              </a:rPr>
              <a:t>EXPERIMENT SETUP</a:t>
            </a:r>
            <a:endParaRPr lang="en-US" sz="1050" dirty="0"/>
          </a:p>
        </p:txBody>
      </p:sp>
      <p:sp>
        <p:nvSpPr>
          <p:cNvPr id="3" name="Shape 1"/>
          <p:cNvSpPr/>
          <p:nvPr/>
        </p:nvSpPr>
        <p:spPr>
          <a:xfrm>
            <a:off x="868680" y="822960"/>
            <a:ext cx="1051560" cy="0"/>
          </a:xfrm>
          <a:prstGeom prst="line">
            <a:avLst/>
          </a:prstGeom>
          <a:noFill/>
          <a:ln w="12700">
            <a:solidFill>
              <a:srgbClr val="B8874F"/>
            </a:solidFill>
            <a:prstDash val="solid"/>
          </a:ln>
        </p:spPr>
        <p:txBody>
          <a:bodyPr/>
          <a:lstStyle/>
          <a:p>
            <a:endParaRPr lang="en-US"/>
          </a:p>
        </p:txBody>
      </p:sp>
      <p:sp>
        <p:nvSpPr>
          <p:cNvPr id="4" name="Text 2"/>
          <p:cNvSpPr/>
          <p:nvPr/>
        </p:nvSpPr>
        <p:spPr>
          <a:xfrm>
            <a:off x="868680" y="1024128"/>
            <a:ext cx="5669280" cy="731520"/>
          </a:xfrm>
          <a:prstGeom prst="rect">
            <a:avLst/>
          </a:prstGeom>
          <a:noFill/>
          <a:ln/>
        </p:spPr>
        <p:txBody>
          <a:bodyPr wrap="square" lIns="0" tIns="0" rIns="0" bIns="0" rtlCol="0" anchor="ctr">
            <a:normAutofit/>
          </a:bodyPr>
          <a:lstStyle/>
          <a:p>
            <a:pPr marL="0" indent="0">
              <a:buNone/>
            </a:pPr>
            <a:r>
              <a:rPr lang="en-US" sz="2446" b="1" dirty="0">
                <a:solidFill>
                  <a:srgbClr val="22313B"/>
                </a:solidFill>
                <a:latin typeface="Georgia" pitchFamily="34" charset="0"/>
                <a:ea typeface="Georgia" pitchFamily="34" charset="-122"/>
                <a:cs typeface="Georgia" pitchFamily="34" charset="-120"/>
              </a:rPr>
              <a:t>Experiment setup</a:t>
            </a:r>
            <a:endParaRPr lang="en-US" sz="2446" dirty="0"/>
          </a:p>
        </p:txBody>
      </p:sp>
      <p:sp>
        <p:nvSpPr>
          <p:cNvPr id="5" name="Text 3"/>
          <p:cNvSpPr/>
          <p:nvPr/>
        </p:nvSpPr>
        <p:spPr>
          <a:xfrm>
            <a:off x="868680" y="1792224"/>
            <a:ext cx="6492240" cy="329184"/>
          </a:xfrm>
          <a:prstGeom prst="rect">
            <a:avLst/>
          </a:prstGeom>
          <a:noFill/>
          <a:ln/>
        </p:spPr>
        <p:txBody>
          <a:bodyPr wrap="square" lIns="0" tIns="0" rIns="0" bIns="0" rtlCol="0" anchor="ctr"/>
          <a:lstStyle/>
          <a:p>
            <a:pPr marL="0" indent="0">
              <a:buNone/>
            </a:pPr>
            <a:r>
              <a:rPr lang="en-US" sz="1420" dirty="0">
                <a:solidFill>
                  <a:srgbClr val="53626C"/>
                </a:solidFill>
                <a:latin typeface="Helvetica Neue" pitchFamily="34" charset="0"/>
                <a:ea typeface="Helvetica Neue" pitchFamily="34" charset="-122"/>
                <a:cs typeface="Helvetica Neue" pitchFamily="34" charset="-120"/>
              </a:rPr>
              <a:t>One dataset, one AWS environment, two read patterns.</a:t>
            </a:r>
            <a:endParaRPr lang="en-US" sz="1420" dirty="0"/>
          </a:p>
        </p:txBody>
      </p:sp>
      <p:sp>
        <p:nvSpPr>
          <p:cNvPr id="6" name="Shape 4"/>
          <p:cNvSpPr/>
          <p:nvPr/>
        </p:nvSpPr>
        <p:spPr>
          <a:xfrm>
            <a:off x="868680" y="2240280"/>
            <a:ext cx="10424160" cy="3749040"/>
          </a:xfrm>
          <a:prstGeom prst="roundRect">
            <a:avLst>
              <a:gd name="adj" fmla="val 1951"/>
            </a:avLst>
          </a:prstGeom>
          <a:solidFill>
            <a:srgbClr val="FBF7F1"/>
          </a:solidFill>
          <a:ln w="12700">
            <a:solidFill>
              <a:srgbClr val="D9CCBC"/>
            </a:solidFill>
            <a:prstDash val="solid"/>
          </a:ln>
        </p:spPr>
        <p:txBody>
          <a:bodyPr/>
          <a:lstStyle/>
          <a:p>
            <a:endParaRPr lang="en-US"/>
          </a:p>
        </p:txBody>
      </p:sp>
      <p:sp>
        <p:nvSpPr>
          <p:cNvPr id="7" name="Shape 5"/>
          <p:cNvSpPr/>
          <p:nvPr/>
        </p:nvSpPr>
        <p:spPr>
          <a:xfrm>
            <a:off x="1143000" y="2596896"/>
            <a:ext cx="4160520" cy="621792"/>
          </a:xfrm>
          <a:prstGeom prst="roundRect">
            <a:avLst>
              <a:gd name="adj" fmla="val 11765"/>
            </a:avLst>
          </a:prstGeom>
          <a:solidFill>
            <a:srgbClr val="FBF7F1"/>
          </a:solidFill>
          <a:ln w="12700">
            <a:solidFill>
              <a:srgbClr val="D9CCBC"/>
            </a:solidFill>
            <a:prstDash val="solid"/>
          </a:ln>
        </p:spPr>
        <p:txBody>
          <a:bodyPr/>
          <a:lstStyle/>
          <a:p>
            <a:endParaRPr lang="en-US"/>
          </a:p>
        </p:txBody>
      </p:sp>
      <p:sp>
        <p:nvSpPr>
          <p:cNvPr id="8" name="Shape 6"/>
          <p:cNvSpPr/>
          <p:nvPr/>
        </p:nvSpPr>
        <p:spPr>
          <a:xfrm>
            <a:off x="1289304" y="2761488"/>
            <a:ext cx="841248" cy="237744"/>
          </a:xfrm>
          <a:prstGeom prst="roundRect">
            <a:avLst>
              <a:gd name="adj" fmla="val 19231"/>
            </a:avLst>
          </a:prstGeom>
          <a:solidFill>
            <a:srgbClr val="D7E3EB"/>
          </a:solidFill>
          <a:ln w="12700">
            <a:solidFill>
              <a:srgbClr val="D7E3EB">
                <a:alpha val="0"/>
              </a:srgbClr>
            </a:solidFill>
            <a:prstDash val="solid"/>
          </a:ln>
        </p:spPr>
        <p:txBody>
          <a:bodyPr/>
          <a:lstStyle/>
          <a:p>
            <a:endParaRPr lang="en-US"/>
          </a:p>
        </p:txBody>
      </p:sp>
      <p:sp>
        <p:nvSpPr>
          <p:cNvPr id="9" name="Text 7"/>
          <p:cNvSpPr/>
          <p:nvPr/>
        </p:nvSpPr>
        <p:spPr>
          <a:xfrm>
            <a:off x="1289304" y="2812694"/>
            <a:ext cx="841248" cy="146304"/>
          </a:xfrm>
          <a:prstGeom prst="rect">
            <a:avLst/>
          </a:prstGeom>
          <a:noFill/>
          <a:ln/>
        </p:spPr>
        <p:txBody>
          <a:bodyPr wrap="square" lIns="0" tIns="0" rIns="0" bIns="0" rtlCol="0" anchor="ctr"/>
          <a:lstStyle/>
          <a:p>
            <a:pPr marL="0" indent="0" algn="ctr">
              <a:buNone/>
            </a:pPr>
            <a:r>
              <a:rPr lang="en-US" sz="810" b="1" dirty="0">
                <a:solidFill>
                  <a:srgbClr val="22313B"/>
                </a:solidFill>
                <a:latin typeface="Helvetica Neue" pitchFamily="34" charset="0"/>
                <a:ea typeface="Helvetica Neue" pitchFamily="34" charset="-122"/>
                <a:cs typeface="Helvetica Neue" pitchFamily="34" charset="-120"/>
              </a:rPr>
              <a:t>DATA</a:t>
            </a:r>
            <a:endParaRPr lang="en-US" sz="810" dirty="0"/>
          </a:p>
        </p:txBody>
      </p:sp>
      <p:sp>
        <p:nvSpPr>
          <p:cNvPr id="10" name="Text 8"/>
          <p:cNvSpPr/>
          <p:nvPr/>
        </p:nvSpPr>
        <p:spPr>
          <a:xfrm>
            <a:off x="2276856" y="2706624"/>
            <a:ext cx="2862072" cy="201168"/>
          </a:xfrm>
          <a:prstGeom prst="rect">
            <a:avLst/>
          </a:prstGeom>
          <a:noFill/>
          <a:ln/>
        </p:spPr>
        <p:txBody>
          <a:bodyPr wrap="square" lIns="0" tIns="0" rIns="0" bIns="0" rtlCol="0" anchor="ctr"/>
          <a:lstStyle/>
          <a:p>
            <a:pPr marL="0" indent="0">
              <a:buNone/>
            </a:pPr>
            <a:r>
              <a:rPr lang="en-US" sz="1320" b="1" dirty="0">
                <a:solidFill>
                  <a:srgbClr val="22313B"/>
                </a:solidFill>
                <a:latin typeface="Helvetica Neue" pitchFamily="34" charset="0"/>
                <a:ea typeface="Helvetica Neue" pitchFamily="34" charset="-122"/>
                <a:cs typeface="Helvetica Neue" pitchFamily="34" charset="-120"/>
              </a:rPr>
              <a:t>~20 GiB logical dataset</a:t>
            </a:r>
            <a:endParaRPr lang="en-US" sz="1320" dirty="0"/>
          </a:p>
        </p:txBody>
      </p:sp>
      <p:sp>
        <p:nvSpPr>
          <p:cNvPr id="11" name="Text 9"/>
          <p:cNvSpPr/>
          <p:nvPr/>
        </p:nvSpPr>
        <p:spPr>
          <a:xfrm>
            <a:off x="2276856" y="2953512"/>
            <a:ext cx="2862072" cy="146304"/>
          </a:xfrm>
          <a:prstGeom prst="rect">
            <a:avLst/>
          </a:prstGeom>
          <a:noFill/>
          <a:ln/>
        </p:spPr>
        <p:txBody>
          <a:bodyPr wrap="square" lIns="0" tIns="0" rIns="0" bIns="0" rtlCol="0" anchor="ctr"/>
          <a:lstStyle/>
          <a:p>
            <a:pPr marL="0" indent="0">
              <a:buNone/>
            </a:pPr>
            <a:r>
              <a:rPr lang="en-US" sz="1020" dirty="0">
                <a:solidFill>
                  <a:srgbClr val="53626C"/>
                </a:solidFill>
                <a:latin typeface="Helvetica Neue" pitchFamily="34" charset="0"/>
                <a:ea typeface="Helvetica Neue" pitchFamily="34" charset="-122"/>
                <a:cs typeface="Helvetica Neue" pitchFamily="34" charset="-120"/>
              </a:rPr>
              <a:t>~1300 detector frames</a:t>
            </a:r>
            <a:endParaRPr lang="en-US" sz="1020" dirty="0"/>
          </a:p>
        </p:txBody>
      </p:sp>
      <p:sp>
        <p:nvSpPr>
          <p:cNvPr id="12" name="Shape 10"/>
          <p:cNvSpPr/>
          <p:nvPr/>
        </p:nvSpPr>
        <p:spPr>
          <a:xfrm>
            <a:off x="1143000" y="3364992"/>
            <a:ext cx="4160520" cy="621792"/>
          </a:xfrm>
          <a:prstGeom prst="roundRect">
            <a:avLst>
              <a:gd name="adj" fmla="val 11765"/>
            </a:avLst>
          </a:prstGeom>
          <a:solidFill>
            <a:srgbClr val="FBF7F1"/>
          </a:solidFill>
          <a:ln w="12700">
            <a:solidFill>
              <a:srgbClr val="D9CCBC"/>
            </a:solidFill>
            <a:prstDash val="solid"/>
          </a:ln>
        </p:spPr>
        <p:txBody>
          <a:bodyPr/>
          <a:lstStyle/>
          <a:p>
            <a:endParaRPr lang="en-US"/>
          </a:p>
        </p:txBody>
      </p:sp>
      <p:sp>
        <p:nvSpPr>
          <p:cNvPr id="13" name="Shape 11"/>
          <p:cNvSpPr/>
          <p:nvPr/>
        </p:nvSpPr>
        <p:spPr>
          <a:xfrm>
            <a:off x="1289304" y="3529584"/>
            <a:ext cx="841248" cy="237744"/>
          </a:xfrm>
          <a:prstGeom prst="roundRect">
            <a:avLst>
              <a:gd name="adj" fmla="val 19231"/>
            </a:avLst>
          </a:prstGeom>
          <a:solidFill>
            <a:srgbClr val="E6D6C4"/>
          </a:solidFill>
          <a:ln w="12700">
            <a:solidFill>
              <a:srgbClr val="E6D6C4">
                <a:alpha val="0"/>
              </a:srgbClr>
            </a:solidFill>
            <a:prstDash val="solid"/>
          </a:ln>
        </p:spPr>
        <p:txBody>
          <a:bodyPr/>
          <a:lstStyle/>
          <a:p>
            <a:endParaRPr lang="en-US"/>
          </a:p>
        </p:txBody>
      </p:sp>
      <p:sp>
        <p:nvSpPr>
          <p:cNvPr id="14" name="Text 12"/>
          <p:cNvSpPr/>
          <p:nvPr/>
        </p:nvSpPr>
        <p:spPr>
          <a:xfrm>
            <a:off x="1289304" y="3580790"/>
            <a:ext cx="841248" cy="146304"/>
          </a:xfrm>
          <a:prstGeom prst="rect">
            <a:avLst/>
          </a:prstGeom>
          <a:noFill/>
          <a:ln/>
        </p:spPr>
        <p:txBody>
          <a:bodyPr wrap="square" lIns="0" tIns="0" rIns="0" bIns="0" rtlCol="0" anchor="ctr"/>
          <a:lstStyle/>
          <a:p>
            <a:pPr marL="0" indent="0" algn="ctr">
              <a:buNone/>
            </a:pPr>
            <a:r>
              <a:rPr lang="en-US" sz="810" b="1" dirty="0">
                <a:solidFill>
                  <a:srgbClr val="22313B"/>
                </a:solidFill>
                <a:latin typeface="Helvetica Neue" pitchFamily="34" charset="0"/>
                <a:ea typeface="Helvetica Neue" pitchFamily="34" charset="-122"/>
                <a:cs typeface="Helvetica Neue" pitchFamily="34" charset="-120"/>
              </a:rPr>
              <a:t>AWS</a:t>
            </a:r>
            <a:endParaRPr lang="en-US" sz="810" dirty="0"/>
          </a:p>
        </p:txBody>
      </p:sp>
      <p:sp>
        <p:nvSpPr>
          <p:cNvPr id="15" name="Text 13"/>
          <p:cNvSpPr/>
          <p:nvPr/>
        </p:nvSpPr>
        <p:spPr>
          <a:xfrm>
            <a:off x="2276856" y="3563417"/>
            <a:ext cx="2862072" cy="182880"/>
          </a:xfrm>
          <a:prstGeom prst="rect">
            <a:avLst/>
          </a:prstGeom>
          <a:noFill/>
          <a:ln/>
        </p:spPr>
        <p:txBody>
          <a:bodyPr wrap="square" lIns="0" tIns="0" rIns="0" bIns="0" rtlCol="0" anchor="ctr"/>
          <a:lstStyle/>
          <a:p>
            <a:pPr marL="0" indent="0">
              <a:buNone/>
            </a:pPr>
            <a:r>
              <a:rPr lang="en-US" sz="1320" b="1" dirty="0">
                <a:solidFill>
                  <a:srgbClr val="22313B"/>
                </a:solidFill>
                <a:latin typeface="Helvetica Neue" pitchFamily="34" charset="0"/>
                <a:ea typeface="Helvetica Neue" pitchFamily="34" charset="-122"/>
                <a:cs typeface="Helvetica Neue" pitchFamily="34" charset="-120"/>
              </a:rPr>
              <a:t>S3 storage + EC2 benchmark client</a:t>
            </a:r>
            <a:endParaRPr lang="en-US" sz="1320" dirty="0"/>
          </a:p>
        </p:txBody>
      </p:sp>
      <p:sp>
        <p:nvSpPr>
          <p:cNvPr id="16" name="Shape 14"/>
          <p:cNvSpPr/>
          <p:nvPr/>
        </p:nvSpPr>
        <p:spPr>
          <a:xfrm>
            <a:off x="1143000" y="4133088"/>
            <a:ext cx="4160520" cy="621792"/>
          </a:xfrm>
          <a:prstGeom prst="roundRect">
            <a:avLst>
              <a:gd name="adj" fmla="val 11765"/>
            </a:avLst>
          </a:prstGeom>
          <a:solidFill>
            <a:srgbClr val="FBF7F1"/>
          </a:solidFill>
          <a:ln w="12700">
            <a:solidFill>
              <a:srgbClr val="D9CCBC"/>
            </a:solidFill>
            <a:prstDash val="solid"/>
          </a:ln>
        </p:spPr>
        <p:txBody>
          <a:bodyPr/>
          <a:lstStyle/>
          <a:p>
            <a:endParaRPr lang="en-US"/>
          </a:p>
        </p:txBody>
      </p:sp>
      <p:sp>
        <p:nvSpPr>
          <p:cNvPr id="17" name="Shape 15"/>
          <p:cNvSpPr/>
          <p:nvPr/>
        </p:nvSpPr>
        <p:spPr>
          <a:xfrm>
            <a:off x="1289304" y="4297680"/>
            <a:ext cx="841248" cy="237744"/>
          </a:xfrm>
          <a:prstGeom prst="roundRect">
            <a:avLst>
              <a:gd name="adj" fmla="val 19231"/>
            </a:avLst>
          </a:prstGeom>
          <a:solidFill>
            <a:srgbClr val="D7E3EB"/>
          </a:solidFill>
          <a:ln w="12700">
            <a:solidFill>
              <a:srgbClr val="D7E3EB">
                <a:alpha val="0"/>
              </a:srgbClr>
            </a:solidFill>
            <a:prstDash val="solid"/>
          </a:ln>
        </p:spPr>
        <p:txBody>
          <a:bodyPr/>
          <a:lstStyle/>
          <a:p>
            <a:endParaRPr lang="en-US"/>
          </a:p>
        </p:txBody>
      </p:sp>
      <p:sp>
        <p:nvSpPr>
          <p:cNvPr id="18" name="Text 16"/>
          <p:cNvSpPr/>
          <p:nvPr/>
        </p:nvSpPr>
        <p:spPr>
          <a:xfrm>
            <a:off x="1289304" y="4348886"/>
            <a:ext cx="841248" cy="146304"/>
          </a:xfrm>
          <a:prstGeom prst="rect">
            <a:avLst/>
          </a:prstGeom>
          <a:noFill/>
          <a:ln/>
        </p:spPr>
        <p:txBody>
          <a:bodyPr wrap="square" lIns="0" tIns="0" rIns="0" bIns="0" rtlCol="0" anchor="ctr"/>
          <a:lstStyle/>
          <a:p>
            <a:pPr marL="0" indent="0" algn="ctr">
              <a:buNone/>
            </a:pPr>
            <a:r>
              <a:rPr lang="en-US" sz="810" b="1" dirty="0">
                <a:solidFill>
                  <a:srgbClr val="22313B"/>
                </a:solidFill>
                <a:latin typeface="Helvetica Neue" pitchFamily="34" charset="0"/>
                <a:ea typeface="Helvetica Neue" pitchFamily="34" charset="-122"/>
                <a:cs typeface="Helvetica Neue" pitchFamily="34" charset="-120"/>
              </a:rPr>
              <a:t>READ 1</a:t>
            </a:r>
            <a:endParaRPr lang="en-US" sz="810" dirty="0"/>
          </a:p>
        </p:txBody>
      </p:sp>
      <p:sp>
        <p:nvSpPr>
          <p:cNvPr id="19" name="Text 17"/>
          <p:cNvSpPr/>
          <p:nvPr/>
        </p:nvSpPr>
        <p:spPr>
          <a:xfrm>
            <a:off x="2276856" y="4331513"/>
            <a:ext cx="2862072" cy="182880"/>
          </a:xfrm>
          <a:prstGeom prst="rect">
            <a:avLst/>
          </a:prstGeom>
          <a:noFill/>
          <a:ln/>
        </p:spPr>
        <p:txBody>
          <a:bodyPr wrap="square" lIns="0" tIns="0" rIns="0" bIns="0" rtlCol="0" anchor="ctr"/>
          <a:lstStyle/>
          <a:p>
            <a:pPr marL="0" indent="0">
              <a:buNone/>
            </a:pPr>
            <a:r>
              <a:rPr lang="en-US" sz="1320" b="1" dirty="0">
                <a:solidFill>
                  <a:srgbClr val="22313B"/>
                </a:solidFill>
                <a:latin typeface="Helvetica Neue" pitchFamily="34" charset="0"/>
                <a:ea typeface="Helvetica Neue" pitchFamily="34" charset="-122"/>
                <a:cs typeface="Helvetica Neue" pitchFamily="34" charset="-120"/>
              </a:rPr>
              <a:t>Random single-frame reads</a:t>
            </a:r>
            <a:endParaRPr lang="en-US" sz="1320" dirty="0"/>
          </a:p>
        </p:txBody>
      </p:sp>
      <p:sp>
        <p:nvSpPr>
          <p:cNvPr id="20" name="Shape 18"/>
          <p:cNvSpPr/>
          <p:nvPr/>
        </p:nvSpPr>
        <p:spPr>
          <a:xfrm>
            <a:off x="1143000" y="4828032"/>
            <a:ext cx="4160520" cy="621792"/>
          </a:xfrm>
          <a:prstGeom prst="roundRect">
            <a:avLst>
              <a:gd name="adj" fmla="val 11765"/>
            </a:avLst>
          </a:prstGeom>
          <a:solidFill>
            <a:srgbClr val="FBF7F1"/>
          </a:solidFill>
          <a:ln w="12700">
            <a:solidFill>
              <a:srgbClr val="D9CCBC"/>
            </a:solidFill>
            <a:prstDash val="solid"/>
          </a:ln>
        </p:spPr>
        <p:txBody>
          <a:bodyPr/>
          <a:lstStyle/>
          <a:p>
            <a:endParaRPr lang="en-US"/>
          </a:p>
        </p:txBody>
      </p:sp>
      <p:sp>
        <p:nvSpPr>
          <p:cNvPr id="21" name="Shape 19"/>
          <p:cNvSpPr/>
          <p:nvPr/>
        </p:nvSpPr>
        <p:spPr>
          <a:xfrm>
            <a:off x="1289304" y="4992624"/>
            <a:ext cx="841248" cy="237744"/>
          </a:xfrm>
          <a:prstGeom prst="roundRect">
            <a:avLst>
              <a:gd name="adj" fmla="val 19231"/>
            </a:avLst>
          </a:prstGeom>
          <a:solidFill>
            <a:srgbClr val="E6D6C4"/>
          </a:solidFill>
          <a:ln w="12700">
            <a:solidFill>
              <a:srgbClr val="E6D6C4">
                <a:alpha val="0"/>
              </a:srgbClr>
            </a:solidFill>
            <a:prstDash val="solid"/>
          </a:ln>
        </p:spPr>
        <p:txBody>
          <a:bodyPr/>
          <a:lstStyle/>
          <a:p>
            <a:endParaRPr lang="en-US"/>
          </a:p>
        </p:txBody>
      </p:sp>
      <p:sp>
        <p:nvSpPr>
          <p:cNvPr id="22" name="Text 20"/>
          <p:cNvSpPr/>
          <p:nvPr/>
        </p:nvSpPr>
        <p:spPr>
          <a:xfrm>
            <a:off x="1289304" y="5043830"/>
            <a:ext cx="841248" cy="146304"/>
          </a:xfrm>
          <a:prstGeom prst="rect">
            <a:avLst/>
          </a:prstGeom>
          <a:noFill/>
          <a:ln/>
        </p:spPr>
        <p:txBody>
          <a:bodyPr wrap="square" lIns="0" tIns="0" rIns="0" bIns="0" rtlCol="0" anchor="ctr"/>
          <a:lstStyle/>
          <a:p>
            <a:pPr marL="0" indent="0" algn="ctr">
              <a:buNone/>
            </a:pPr>
            <a:r>
              <a:rPr lang="en-US" sz="810" b="1" dirty="0">
                <a:solidFill>
                  <a:srgbClr val="22313B"/>
                </a:solidFill>
                <a:latin typeface="Helvetica Neue" pitchFamily="34" charset="0"/>
                <a:ea typeface="Helvetica Neue" pitchFamily="34" charset="-122"/>
                <a:cs typeface="Helvetica Neue" pitchFamily="34" charset="-120"/>
              </a:rPr>
              <a:t>READ 2</a:t>
            </a:r>
            <a:endParaRPr lang="en-US" sz="810" dirty="0"/>
          </a:p>
        </p:txBody>
      </p:sp>
      <p:sp>
        <p:nvSpPr>
          <p:cNvPr id="23" name="Text 21"/>
          <p:cNvSpPr/>
          <p:nvPr/>
        </p:nvSpPr>
        <p:spPr>
          <a:xfrm>
            <a:off x="2276856" y="5026457"/>
            <a:ext cx="2862072" cy="182880"/>
          </a:xfrm>
          <a:prstGeom prst="rect">
            <a:avLst/>
          </a:prstGeom>
          <a:noFill/>
          <a:ln/>
        </p:spPr>
        <p:txBody>
          <a:bodyPr wrap="square" lIns="0" tIns="0" rIns="0" bIns="0" rtlCol="0" anchor="ctr"/>
          <a:lstStyle/>
          <a:p>
            <a:pPr marL="0" indent="0">
              <a:buNone/>
            </a:pPr>
            <a:r>
              <a:rPr lang="en-US" sz="1320" b="1" dirty="0">
                <a:solidFill>
                  <a:srgbClr val="22313B"/>
                </a:solidFill>
                <a:latin typeface="Helvetica Neue" pitchFamily="34" charset="0"/>
                <a:ea typeface="Helvetica Neue" pitchFamily="34" charset="-122"/>
                <a:cs typeface="Helvetica Neue" pitchFamily="34" charset="-120"/>
              </a:rPr>
              <a:t>Full sequential scans</a:t>
            </a:r>
            <a:endParaRPr lang="en-US" sz="1320" dirty="0"/>
          </a:p>
        </p:txBody>
      </p:sp>
      <p:sp>
        <p:nvSpPr>
          <p:cNvPr id="24" name="Shape 22"/>
          <p:cNvSpPr/>
          <p:nvPr/>
        </p:nvSpPr>
        <p:spPr>
          <a:xfrm>
            <a:off x="5532120" y="2487168"/>
            <a:ext cx="5074920" cy="2852928"/>
          </a:xfrm>
          <a:prstGeom prst="roundRect">
            <a:avLst>
              <a:gd name="adj" fmla="val 2564"/>
            </a:avLst>
          </a:prstGeom>
          <a:solidFill>
            <a:srgbClr val="FFFFFF"/>
          </a:solidFill>
          <a:ln w="12700">
            <a:solidFill>
              <a:srgbClr val="D9CCBC"/>
            </a:solidFill>
            <a:prstDash val="solid"/>
          </a:ln>
        </p:spPr>
        <p:txBody>
          <a:bodyPr/>
          <a:lstStyle/>
          <a:p>
            <a:endParaRPr lang="en-US"/>
          </a:p>
        </p:txBody>
      </p:sp>
      <p:sp>
        <p:nvSpPr>
          <p:cNvPr id="25" name="Text 23"/>
          <p:cNvSpPr/>
          <p:nvPr/>
        </p:nvSpPr>
        <p:spPr>
          <a:xfrm>
            <a:off x="5779008" y="2670048"/>
            <a:ext cx="1508760" cy="164592"/>
          </a:xfrm>
          <a:prstGeom prst="rect">
            <a:avLst/>
          </a:prstGeom>
          <a:noFill/>
          <a:ln/>
        </p:spPr>
        <p:txBody>
          <a:bodyPr wrap="square" lIns="0" tIns="0" rIns="0" bIns="0" rtlCol="0" anchor="ctr"/>
          <a:lstStyle/>
          <a:p>
            <a:pPr marL="0" indent="0">
              <a:buNone/>
            </a:pPr>
            <a:r>
              <a:rPr lang="en-US" sz="1020" b="1" dirty="0">
                <a:solidFill>
                  <a:srgbClr val="B8874F"/>
                </a:solidFill>
                <a:latin typeface="Helvetica Neue" pitchFamily="34" charset="0"/>
                <a:ea typeface="Helvetica Neue" pitchFamily="34" charset="-122"/>
                <a:cs typeface="Helvetica Neue" pitchFamily="34" charset="-120"/>
              </a:rPr>
              <a:t>Fair comparison</a:t>
            </a:r>
            <a:endParaRPr lang="en-US" sz="1020" dirty="0"/>
          </a:p>
        </p:txBody>
      </p:sp>
      <p:sp>
        <p:nvSpPr>
          <p:cNvPr id="26" name="Text 24"/>
          <p:cNvSpPr/>
          <p:nvPr/>
        </p:nvSpPr>
        <p:spPr>
          <a:xfrm>
            <a:off x="5779008" y="2862072"/>
            <a:ext cx="4480560" cy="146304"/>
          </a:xfrm>
          <a:prstGeom prst="rect">
            <a:avLst/>
          </a:prstGeom>
          <a:noFill/>
          <a:ln/>
        </p:spPr>
        <p:txBody>
          <a:bodyPr wrap="square" lIns="0" tIns="0" rIns="0" bIns="0" rtlCol="0" anchor="ctr"/>
          <a:lstStyle/>
          <a:p>
            <a:pPr marL="0" indent="0">
              <a:buNone/>
            </a:pPr>
            <a:r>
              <a:rPr lang="en-US" sz="960" dirty="0">
                <a:solidFill>
                  <a:srgbClr val="53626C"/>
                </a:solidFill>
                <a:latin typeface="Helvetica Neue" pitchFamily="34" charset="0"/>
                <a:ea typeface="Helvetica Neue" pitchFamily="34" charset="-122"/>
                <a:cs typeface="Helvetica Neue" pitchFamily="34" charset="-120"/>
              </a:rPr>
              <a:t>Same dataset, same client, different storage layouts.</a:t>
            </a:r>
            <a:endParaRPr lang="en-US" sz="960" dirty="0"/>
          </a:p>
        </p:txBody>
      </p:sp>
      <p:sp>
        <p:nvSpPr>
          <p:cNvPr id="27" name="Shape 25"/>
          <p:cNvSpPr/>
          <p:nvPr/>
        </p:nvSpPr>
        <p:spPr>
          <a:xfrm>
            <a:off x="5797296" y="3218688"/>
            <a:ext cx="1170432" cy="969264"/>
          </a:xfrm>
          <a:prstGeom prst="roundRect">
            <a:avLst>
              <a:gd name="adj" fmla="val 7547"/>
            </a:avLst>
          </a:prstGeom>
          <a:solidFill>
            <a:srgbClr val="F2E9DE"/>
          </a:solidFill>
          <a:ln w="12700">
            <a:solidFill>
              <a:srgbClr val="D9CCBC"/>
            </a:solidFill>
            <a:prstDash val="solid"/>
          </a:ln>
        </p:spPr>
        <p:txBody>
          <a:bodyPr/>
          <a:lstStyle/>
          <a:p>
            <a:endParaRPr lang="en-US"/>
          </a:p>
        </p:txBody>
      </p:sp>
      <p:sp>
        <p:nvSpPr>
          <p:cNvPr id="28" name="Shape 26"/>
          <p:cNvSpPr/>
          <p:nvPr/>
        </p:nvSpPr>
        <p:spPr>
          <a:xfrm>
            <a:off x="6016752" y="3419856"/>
            <a:ext cx="731520" cy="73152"/>
          </a:xfrm>
          <a:prstGeom prst="roundRect">
            <a:avLst>
              <a:gd name="adj" fmla="val 37500"/>
            </a:avLst>
          </a:prstGeom>
          <a:solidFill>
            <a:srgbClr val="D7E3EB"/>
          </a:solidFill>
          <a:ln w="12700">
            <a:solidFill>
              <a:srgbClr val="FFFFFF">
                <a:alpha val="0"/>
              </a:srgbClr>
            </a:solidFill>
            <a:prstDash val="solid"/>
          </a:ln>
        </p:spPr>
        <p:txBody>
          <a:bodyPr/>
          <a:lstStyle/>
          <a:p>
            <a:endParaRPr lang="en-US"/>
          </a:p>
        </p:txBody>
      </p:sp>
      <p:sp>
        <p:nvSpPr>
          <p:cNvPr id="29" name="Shape 27"/>
          <p:cNvSpPr/>
          <p:nvPr/>
        </p:nvSpPr>
        <p:spPr>
          <a:xfrm>
            <a:off x="6016752" y="3520440"/>
            <a:ext cx="731520" cy="73152"/>
          </a:xfrm>
          <a:prstGeom prst="roundRect">
            <a:avLst>
              <a:gd name="adj" fmla="val 37500"/>
            </a:avLst>
          </a:prstGeom>
          <a:solidFill>
            <a:srgbClr val="E6D6C4"/>
          </a:solidFill>
          <a:ln w="12700">
            <a:solidFill>
              <a:srgbClr val="FFFFFF">
                <a:alpha val="0"/>
              </a:srgbClr>
            </a:solidFill>
            <a:prstDash val="solid"/>
          </a:ln>
        </p:spPr>
        <p:txBody>
          <a:bodyPr/>
          <a:lstStyle/>
          <a:p>
            <a:endParaRPr lang="en-US"/>
          </a:p>
        </p:txBody>
      </p:sp>
      <p:sp>
        <p:nvSpPr>
          <p:cNvPr id="30" name="Shape 28"/>
          <p:cNvSpPr/>
          <p:nvPr/>
        </p:nvSpPr>
        <p:spPr>
          <a:xfrm>
            <a:off x="6016752" y="3621024"/>
            <a:ext cx="731520" cy="73152"/>
          </a:xfrm>
          <a:prstGeom prst="roundRect">
            <a:avLst>
              <a:gd name="adj" fmla="val 37500"/>
            </a:avLst>
          </a:prstGeom>
          <a:solidFill>
            <a:srgbClr val="D7E3EB"/>
          </a:solidFill>
          <a:ln w="12700">
            <a:solidFill>
              <a:srgbClr val="FFFFFF">
                <a:alpha val="0"/>
              </a:srgbClr>
            </a:solidFill>
            <a:prstDash val="solid"/>
          </a:ln>
        </p:spPr>
        <p:txBody>
          <a:bodyPr/>
          <a:lstStyle/>
          <a:p>
            <a:endParaRPr lang="en-US"/>
          </a:p>
        </p:txBody>
      </p:sp>
      <p:sp>
        <p:nvSpPr>
          <p:cNvPr id="31" name="Text 29"/>
          <p:cNvSpPr/>
          <p:nvPr/>
        </p:nvSpPr>
        <p:spPr>
          <a:xfrm>
            <a:off x="5916168" y="3767328"/>
            <a:ext cx="932688" cy="164592"/>
          </a:xfrm>
          <a:prstGeom prst="rect">
            <a:avLst/>
          </a:prstGeom>
          <a:noFill/>
          <a:ln/>
        </p:spPr>
        <p:txBody>
          <a:bodyPr wrap="square" lIns="0" tIns="0" rIns="0" bIns="0" rtlCol="0" anchor="ctr"/>
          <a:lstStyle/>
          <a:p>
            <a:pPr marL="0" indent="0" algn="ctr">
              <a:buNone/>
            </a:pPr>
            <a:r>
              <a:rPr lang="en-US" sz="1040" b="1" dirty="0">
                <a:solidFill>
                  <a:srgbClr val="22313B"/>
                </a:solidFill>
                <a:latin typeface="Helvetica Neue" pitchFamily="34" charset="0"/>
                <a:ea typeface="Helvetica Neue" pitchFamily="34" charset="-122"/>
                <a:cs typeface="Helvetica Neue" pitchFamily="34" charset="-120"/>
              </a:rPr>
              <a:t>One dataset</a:t>
            </a:r>
            <a:endParaRPr lang="en-US" sz="1040" dirty="0"/>
          </a:p>
        </p:txBody>
      </p:sp>
      <p:sp>
        <p:nvSpPr>
          <p:cNvPr id="32" name="Text 30"/>
          <p:cNvSpPr/>
          <p:nvPr/>
        </p:nvSpPr>
        <p:spPr>
          <a:xfrm>
            <a:off x="5843016" y="3941064"/>
            <a:ext cx="1078992" cy="128016"/>
          </a:xfrm>
          <a:prstGeom prst="rect">
            <a:avLst/>
          </a:prstGeom>
          <a:noFill/>
          <a:ln/>
        </p:spPr>
        <p:txBody>
          <a:bodyPr wrap="square" lIns="0" tIns="0" rIns="0" bIns="0" rtlCol="0" anchor="ctr"/>
          <a:lstStyle/>
          <a:p>
            <a:pPr marL="0" indent="0" algn="ctr">
              <a:buNone/>
            </a:pPr>
            <a:r>
              <a:rPr lang="en-US" sz="790" dirty="0">
                <a:solidFill>
                  <a:srgbClr val="53626C"/>
                </a:solidFill>
                <a:latin typeface="Helvetica Neue" pitchFamily="34" charset="0"/>
                <a:ea typeface="Helvetica Neue" pitchFamily="34" charset="-122"/>
                <a:cs typeface="Helvetica Neue" pitchFamily="34" charset="-120"/>
              </a:rPr>
              <a:t>~20 GiB / ~1300 frames</a:t>
            </a:r>
            <a:endParaRPr lang="en-US" sz="790" dirty="0"/>
          </a:p>
        </p:txBody>
      </p:sp>
      <p:sp>
        <p:nvSpPr>
          <p:cNvPr id="33" name="Shape 31"/>
          <p:cNvSpPr/>
          <p:nvPr/>
        </p:nvSpPr>
        <p:spPr>
          <a:xfrm>
            <a:off x="5797296" y="4443984"/>
            <a:ext cx="1170432" cy="493776"/>
          </a:xfrm>
          <a:prstGeom prst="roundRect">
            <a:avLst>
              <a:gd name="adj" fmla="val 14815"/>
            </a:avLst>
          </a:prstGeom>
          <a:solidFill>
            <a:srgbClr val="FBF7F1"/>
          </a:solidFill>
          <a:ln w="12700">
            <a:solidFill>
              <a:srgbClr val="D9CCBC"/>
            </a:solidFill>
            <a:prstDash val="solid"/>
          </a:ln>
        </p:spPr>
        <p:txBody>
          <a:bodyPr/>
          <a:lstStyle/>
          <a:p>
            <a:endParaRPr lang="en-US"/>
          </a:p>
        </p:txBody>
      </p:sp>
      <p:sp>
        <p:nvSpPr>
          <p:cNvPr id="34" name="Text 32"/>
          <p:cNvSpPr/>
          <p:nvPr/>
        </p:nvSpPr>
        <p:spPr>
          <a:xfrm>
            <a:off x="5907024" y="4553712"/>
            <a:ext cx="950976" cy="128016"/>
          </a:xfrm>
          <a:prstGeom prst="rect">
            <a:avLst/>
          </a:prstGeom>
          <a:noFill/>
          <a:ln/>
        </p:spPr>
        <p:txBody>
          <a:bodyPr wrap="square" lIns="0" tIns="0" rIns="0" bIns="0" rtlCol="0" anchor="ctr"/>
          <a:lstStyle/>
          <a:p>
            <a:pPr marL="0" indent="0" algn="ctr">
              <a:buNone/>
            </a:pPr>
            <a:r>
              <a:rPr lang="en-US" sz="920" b="1" dirty="0">
                <a:solidFill>
                  <a:srgbClr val="22313B"/>
                </a:solidFill>
                <a:latin typeface="Helvetica Neue" pitchFamily="34" charset="0"/>
                <a:ea typeface="Helvetica Neue" pitchFamily="34" charset="-122"/>
                <a:cs typeface="Helvetica Neue" pitchFamily="34" charset="-120"/>
              </a:rPr>
              <a:t>3 codecs</a:t>
            </a:r>
            <a:endParaRPr lang="en-US" sz="920" dirty="0"/>
          </a:p>
        </p:txBody>
      </p:sp>
      <p:sp>
        <p:nvSpPr>
          <p:cNvPr id="35" name="Shape 33"/>
          <p:cNvSpPr/>
          <p:nvPr/>
        </p:nvSpPr>
        <p:spPr>
          <a:xfrm>
            <a:off x="5907024" y="4727448"/>
            <a:ext cx="256032" cy="109728"/>
          </a:xfrm>
          <a:prstGeom prst="roundRect">
            <a:avLst>
              <a:gd name="adj" fmla="val 25000"/>
            </a:avLst>
          </a:prstGeom>
          <a:solidFill>
            <a:srgbClr val="F2E9DE"/>
          </a:solidFill>
          <a:ln w="12700">
            <a:solidFill>
              <a:srgbClr val="F2E9DE">
                <a:alpha val="0"/>
              </a:srgbClr>
            </a:solidFill>
            <a:prstDash val="solid"/>
          </a:ln>
        </p:spPr>
        <p:txBody>
          <a:bodyPr/>
          <a:lstStyle/>
          <a:p>
            <a:endParaRPr lang="en-US"/>
          </a:p>
        </p:txBody>
      </p:sp>
      <p:sp>
        <p:nvSpPr>
          <p:cNvPr id="36" name="Text 34"/>
          <p:cNvSpPr/>
          <p:nvPr/>
        </p:nvSpPr>
        <p:spPr>
          <a:xfrm>
            <a:off x="5907024" y="4732020"/>
            <a:ext cx="256032" cy="86868"/>
          </a:xfrm>
          <a:prstGeom prst="rect">
            <a:avLst/>
          </a:prstGeom>
          <a:noFill/>
          <a:ln/>
        </p:spPr>
        <p:txBody>
          <a:bodyPr wrap="square" lIns="0" tIns="0" rIns="0" bIns="0" rtlCol="0" anchor="ctr"/>
          <a:lstStyle/>
          <a:p>
            <a:pPr marL="0" indent="0" algn="ctr">
              <a:buNone/>
            </a:pPr>
            <a:r>
              <a:rPr lang="en-US" sz="590" b="1" dirty="0">
                <a:solidFill>
                  <a:srgbClr val="22313B"/>
                </a:solidFill>
                <a:latin typeface="Helvetica Neue" pitchFamily="34" charset="0"/>
                <a:ea typeface="Helvetica Neue" pitchFamily="34" charset="-122"/>
                <a:cs typeface="Helvetica Neue" pitchFamily="34" charset="-120"/>
              </a:rPr>
              <a:t>gzip</a:t>
            </a:r>
            <a:endParaRPr lang="en-US" sz="590" dirty="0"/>
          </a:p>
        </p:txBody>
      </p:sp>
      <p:sp>
        <p:nvSpPr>
          <p:cNvPr id="37" name="Shape 35"/>
          <p:cNvSpPr/>
          <p:nvPr/>
        </p:nvSpPr>
        <p:spPr>
          <a:xfrm>
            <a:off x="6236208" y="4727448"/>
            <a:ext cx="256032" cy="109728"/>
          </a:xfrm>
          <a:prstGeom prst="roundRect">
            <a:avLst>
              <a:gd name="adj" fmla="val 25000"/>
            </a:avLst>
          </a:prstGeom>
          <a:solidFill>
            <a:srgbClr val="E6D6C4"/>
          </a:solidFill>
          <a:ln w="12700">
            <a:solidFill>
              <a:srgbClr val="E6D6C4">
                <a:alpha val="0"/>
              </a:srgbClr>
            </a:solidFill>
            <a:prstDash val="solid"/>
          </a:ln>
        </p:spPr>
        <p:txBody>
          <a:bodyPr/>
          <a:lstStyle/>
          <a:p>
            <a:endParaRPr lang="en-US"/>
          </a:p>
        </p:txBody>
      </p:sp>
      <p:sp>
        <p:nvSpPr>
          <p:cNvPr id="38" name="Text 36"/>
          <p:cNvSpPr/>
          <p:nvPr/>
        </p:nvSpPr>
        <p:spPr>
          <a:xfrm>
            <a:off x="6236208" y="4732020"/>
            <a:ext cx="256032" cy="86868"/>
          </a:xfrm>
          <a:prstGeom prst="rect">
            <a:avLst/>
          </a:prstGeom>
          <a:noFill/>
          <a:ln/>
        </p:spPr>
        <p:txBody>
          <a:bodyPr wrap="square" lIns="0" tIns="0" rIns="0" bIns="0" rtlCol="0" anchor="ctr"/>
          <a:lstStyle/>
          <a:p>
            <a:pPr marL="0" indent="0" algn="ctr">
              <a:buNone/>
            </a:pPr>
            <a:r>
              <a:rPr lang="en-US" sz="590" b="1" dirty="0">
                <a:solidFill>
                  <a:srgbClr val="22313B"/>
                </a:solidFill>
                <a:latin typeface="Helvetica Neue" pitchFamily="34" charset="0"/>
                <a:ea typeface="Helvetica Neue" pitchFamily="34" charset="-122"/>
                <a:cs typeface="Helvetica Neue" pitchFamily="34" charset="-120"/>
              </a:rPr>
              <a:t>lz4</a:t>
            </a:r>
            <a:endParaRPr lang="en-US" sz="590" dirty="0"/>
          </a:p>
        </p:txBody>
      </p:sp>
      <p:sp>
        <p:nvSpPr>
          <p:cNvPr id="39" name="Shape 37"/>
          <p:cNvSpPr/>
          <p:nvPr/>
        </p:nvSpPr>
        <p:spPr>
          <a:xfrm>
            <a:off x="6565392" y="4727448"/>
            <a:ext cx="256032" cy="109728"/>
          </a:xfrm>
          <a:prstGeom prst="roundRect">
            <a:avLst>
              <a:gd name="adj" fmla="val 25000"/>
            </a:avLst>
          </a:prstGeom>
          <a:solidFill>
            <a:srgbClr val="D7E3EB"/>
          </a:solidFill>
          <a:ln w="12700">
            <a:solidFill>
              <a:srgbClr val="D7E3EB">
                <a:alpha val="0"/>
              </a:srgbClr>
            </a:solidFill>
            <a:prstDash val="solid"/>
          </a:ln>
        </p:spPr>
        <p:txBody>
          <a:bodyPr/>
          <a:lstStyle/>
          <a:p>
            <a:endParaRPr lang="en-US"/>
          </a:p>
        </p:txBody>
      </p:sp>
      <p:sp>
        <p:nvSpPr>
          <p:cNvPr id="40" name="Text 38"/>
          <p:cNvSpPr/>
          <p:nvPr/>
        </p:nvSpPr>
        <p:spPr>
          <a:xfrm>
            <a:off x="6565392" y="4732020"/>
            <a:ext cx="256032" cy="86868"/>
          </a:xfrm>
          <a:prstGeom prst="rect">
            <a:avLst/>
          </a:prstGeom>
          <a:noFill/>
          <a:ln/>
        </p:spPr>
        <p:txBody>
          <a:bodyPr wrap="square" lIns="0" tIns="0" rIns="0" bIns="0" rtlCol="0" anchor="ctr"/>
          <a:lstStyle/>
          <a:p>
            <a:pPr marL="0" indent="0" algn="ctr">
              <a:buNone/>
            </a:pPr>
            <a:r>
              <a:rPr lang="en-US" sz="590" b="1" dirty="0">
                <a:solidFill>
                  <a:srgbClr val="22313B"/>
                </a:solidFill>
                <a:latin typeface="Helvetica Neue" pitchFamily="34" charset="0"/>
                <a:ea typeface="Helvetica Neue" pitchFamily="34" charset="-122"/>
                <a:cs typeface="Helvetica Neue" pitchFamily="34" charset="-120"/>
              </a:rPr>
              <a:t>zstd</a:t>
            </a:r>
            <a:endParaRPr lang="en-US" sz="590" dirty="0"/>
          </a:p>
        </p:txBody>
      </p:sp>
      <p:sp>
        <p:nvSpPr>
          <p:cNvPr id="41" name="Shape 39"/>
          <p:cNvSpPr/>
          <p:nvPr/>
        </p:nvSpPr>
        <p:spPr>
          <a:xfrm>
            <a:off x="7223760" y="3054096"/>
            <a:ext cx="1755648" cy="1225296"/>
          </a:xfrm>
          <a:prstGeom prst="roundRect">
            <a:avLst>
              <a:gd name="adj" fmla="val 5970"/>
            </a:avLst>
          </a:prstGeom>
          <a:solidFill>
            <a:srgbClr val="FBF7F1"/>
          </a:solidFill>
          <a:ln w="12700">
            <a:solidFill>
              <a:srgbClr val="D9CCBC"/>
            </a:solidFill>
            <a:prstDash val="solid"/>
          </a:ln>
        </p:spPr>
        <p:txBody>
          <a:bodyPr/>
          <a:lstStyle/>
          <a:p>
            <a:endParaRPr lang="en-US"/>
          </a:p>
        </p:txBody>
      </p:sp>
      <p:sp>
        <p:nvSpPr>
          <p:cNvPr id="42" name="Text 40"/>
          <p:cNvSpPr/>
          <p:nvPr/>
        </p:nvSpPr>
        <p:spPr>
          <a:xfrm>
            <a:off x="7388352" y="3255264"/>
            <a:ext cx="1426464" cy="164592"/>
          </a:xfrm>
          <a:prstGeom prst="rect">
            <a:avLst/>
          </a:prstGeom>
          <a:noFill/>
          <a:ln/>
        </p:spPr>
        <p:txBody>
          <a:bodyPr wrap="square" lIns="0" tIns="0" rIns="0" bIns="0" rtlCol="0" anchor="ctr"/>
          <a:lstStyle/>
          <a:p>
            <a:pPr marL="0" indent="0" algn="ctr">
              <a:buNone/>
            </a:pPr>
            <a:r>
              <a:rPr lang="en-US" sz="1040" b="1" dirty="0">
                <a:solidFill>
                  <a:srgbClr val="22313B"/>
                </a:solidFill>
                <a:latin typeface="Helvetica Neue" pitchFamily="34" charset="0"/>
                <a:ea typeface="Helvetica Neue" pitchFamily="34" charset="-122"/>
                <a:cs typeface="Helvetica Neue" pitchFamily="34" charset="-120"/>
              </a:rPr>
              <a:t>4 storage layouts</a:t>
            </a:r>
            <a:endParaRPr lang="en-US" sz="1040" dirty="0"/>
          </a:p>
        </p:txBody>
      </p:sp>
      <p:sp>
        <p:nvSpPr>
          <p:cNvPr id="43" name="Shape 41"/>
          <p:cNvSpPr/>
          <p:nvPr/>
        </p:nvSpPr>
        <p:spPr>
          <a:xfrm>
            <a:off x="7397496" y="3547872"/>
            <a:ext cx="658368" cy="164592"/>
          </a:xfrm>
          <a:prstGeom prst="roundRect">
            <a:avLst>
              <a:gd name="adj" fmla="val 22222"/>
            </a:avLst>
          </a:prstGeom>
          <a:solidFill>
            <a:srgbClr val="D7E3EB"/>
          </a:solidFill>
          <a:ln w="12700">
            <a:solidFill>
              <a:srgbClr val="D7E3EB">
                <a:alpha val="0"/>
              </a:srgbClr>
            </a:solidFill>
            <a:prstDash val="solid"/>
          </a:ln>
        </p:spPr>
        <p:txBody>
          <a:bodyPr/>
          <a:lstStyle/>
          <a:p>
            <a:endParaRPr lang="en-US"/>
          </a:p>
        </p:txBody>
      </p:sp>
      <p:sp>
        <p:nvSpPr>
          <p:cNvPr id="44" name="Text 42"/>
          <p:cNvSpPr/>
          <p:nvPr/>
        </p:nvSpPr>
        <p:spPr>
          <a:xfrm>
            <a:off x="7397496" y="3575304"/>
            <a:ext cx="658368" cy="109728"/>
          </a:xfrm>
          <a:prstGeom prst="rect">
            <a:avLst/>
          </a:prstGeom>
          <a:noFill/>
          <a:ln/>
        </p:spPr>
        <p:txBody>
          <a:bodyPr wrap="square" lIns="0" tIns="0" rIns="0" bIns="0" rtlCol="0" anchor="ctr"/>
          <a:lstStyle/>
          <a:p>
            <a:pPr marL="0" indent="0" algn="ctr">
              <a:buNone/>
            </a:pPr>
            <a:r>
              <a:rPr lang="en-US" sz="720" b="1" dirty="0">
                <a:solidFill>
                  <a:srgbClr val="22313B"/>
                </a:solidFill>
                <a:latin typeface="Helvetica Neue" pitchFamily="34" charset="0"/>
                <a:ea typeface="Helvetica Neue" pitchFamily="34" charset="-122"/>
                <a:cs typeface="Helvetica Neue" pitchFamily="34" charset="-120"/>
              </a:rPr>
              <a:t>HDF5</a:t>
            </a:r>
            <a:endParaRPr lang="en-US" sz="720" dirty="0"/>
          </a:p>
        </p:txBody>
      </p:sp>
      <p:sp>
        <p:nvSpPr>
          <p:cNvPr id="45" name="Shape 43"/>
          <p:cNvSpPr/>
          <p:nvPr/>
        </p:nvSpPr>
        <p:spPr>
          <a:xfrm>
            <a:off x="8174736" y="3547872"/>
            <a:ext cx="658368" cy="164592"/>
          </a:xfrm>
          <a:prstGeom prst="roundRect">
            <a:avLst>
              <a:gd name="adj" fmla="val 22222"/>
            </a:avLst>
          </a:prstGeom>
          <a:solidFill>
            <a:srgbClr val="22313B"/>
          </a:solidFill>
          <a:ln w="12700">
            <a:solidFill>
              <a:srgbClr val="22313B">
                <a:alpha val="0"/>
              </a:srgbClr>
            </a:solidFill>
            <a:prstDash val="solid"/>
          </a:ln>
        </p:spPr>
        <p:txBody>
          <a:bodyPr/>
          <a:lstStyle/>
          <a:p>
            <a:endParaRPr lang="en-US"/>
          </a:p>
        </p:txBody>
      </p:sp>
      <p:sp>
        <p:nvSpPr>
          <p:cNvPr id="46" name="Text 44"/>
          <p:cNvSpPr/>
          <p:nvPr/>
        </p:nvSpPr>
        <p:spPr>
          <a:xfrm>
            <a:off x="8174736" y="3575304"/>
            <a:ext cx="658368" cy="109728"/>
          </a:xfrm>
          <a:prstGeom prst="rect">
            <a:avLst/>
          </a:prstGeom>
          <a:noFill/>
          <a:ln/>
        </p:spPr>
        <p:txBody>
          <a:bodyPr wrap="square" lIns="0" tIns="0" rIns="0" bIns="0" rtlCol="0" anchor="ctr"/>
          <a:lstStyle/>
          <a:p>
            <a:pPr marL="0" indent="0" algn="ctr">
              <a:buNone/>
            </a:pPr>
            <a:r>
              <a:rPr lang="en-US" sz="720" b="1" dirty="0">
                <a:solidFill>
                  <a:srgbClr val="FFFFFF"/>
                </a:solidFill>
                <a:latin typeface="Helvetica Neue" pitchFamily="34" charset="0"/>
                <a:ea typeface="Helvetica Neue" pitchFamily="34" charset="-122"/>
                <a:cs typeface="Helvetica Neue" pitchFamily="34" charset="-120"/>
              </a:rPr>
              <a:t>Zarr</a:t>
            </a:r>
            <a:endParaRPr lang="en-US" sz="720" dirty="0"/>
          </a:p>
        </p:txBody>
      </p:sp>
      <p:sp>
        <p:nvSpPr>
          <p:cNvPr id="47" name="Shape 45"/>
          <p:cNvSpPr/>
          <p:nvPr/>
        </p:nvSpPr>
        <p:spPr>
          <a:xfrm>
            <a:off x="7397496" y="3822192"/>
            <a:ext cx="658368" cy="164592"/>
          </a:xfrm>
          <a:prstGeom prst="roundRect">
            <a:avLst>
              <a:gd name="adj" fmla="val 22222"/>
            </a:avLst>
          </a:prstGeom>
          <a:solidFill>
            <a:srgbClr val="E6D6C4"/>
          </a:solidFill>
          <a:ln w="12700">
            <a:solidFill>
              <a:srgbClr val="E6D6C4">
                <a:alpha val="0"/>
              </a:srgbClr>
            </a:solidFill>
            <a:prstDash val="solid"/>
          </a:ln>
        </p:spPr>
        <p:txBody>
          <a:bodyPr/>
          <a:lstStyle/>
          <a:p>
            <a:endParaRPr lang="en-US"/>
          </a:p>
        </p:txBody>
      </p:sp>
      <p:sp>
        <p:nvSpPr>
          <p:cNvPr id="48" name="Text 46"/>
          <p:cNvSpPr/>
          <p:nvPr/>
        </p:nvSpPr>
        <p:spPr>
          <a:xfrm>
            <a:off x="7397496" y="3849624"/>
            <a:ext cx="658368" cy="109728"/>
          </a:xfrm>
          <a:prstGeom prst="rect">
            <a:avLst/>
          </a:prstGeom>
          <a:noFill/>
          <a:ln/>
        </p:spPr>
        <p:txBody>
          <a:bodyPr wrap="square" lIns="0" tIns="0" rIns="0" bIns="0" rtlCol="0" anchor="ctr"/>
          <a:lstStyle/>
          <a:p>
            <a:pPr marL="0" indent="0" algn="ctr">
              <a:buNone/>
            </a:pPr>
            <a:r>
              <a:rPr lang="en-US" sz="720" b="1" dirty="0">
                <a:solidFill>
                  <a:srgbClr val="22313B"/>
                </a:solidFill>
                <a:latin typeface="Helvetica Neue" pitchFamily="34" charset="0"/>
                <a:ea typeface="Helvetica Neue" pitchFamily="34" charset="-122"/>
                <a:cs typeface="Helvetica Neue" pitchFamily="34" charset="-120"/>
              </a:rPr>
              <a:t>TileDB</a:t>
            </a:r>
            <a:endParaRPr lang="en-US" sz="720" dirty="0"/>
          </a:p>
        </p:txBody>
      </p:sp>
      <p:sp>
        <p:nvSpPr>
          <p:cNvPr id="49" name="Shape 47"/>
          <p:cNvSpPr/>
          <p:nvPr/>
        </p:nvSpPr>
        <p:spPr>
          <a:xfrm>
            <a:off x="8174736" y="3822192"/>
            <a:ext cx="658368" cy="164592"/>
          </a:xfrm>
          <a:prstGeom prst="roundRect">
            <a:avLst>
              <a:gd name="adj" fmla="val 22222"/>
            </a:avLst>
          </a:prstGeom>
          <a:solidFill>
            <a:srgbClr val="F2E9DE"/>
          </a:solidFill>
          <a:ln w="12700">
            <a:solidFill>
              <a:srgbClr val="F2E9DE">
                <a:alpha val="0"/>
              </a:srgbClr>
            </a:solidFill>
            <a:prstDash val="solid"/>
          </a:ln>
        </p:spPr>
        <p:txBody>
          <a:bodyPr/>
          <a:lstStyle/>
          <a:p>
            <a:endParaRPr lang="en-US"/>
          </a:p>
        </p:txBody>
      </p:sp>
      <p:sp>
        <p:nvSpPr>
          <p:cNvPr id="50" name="Text 48"/>
          <p:cNvSpPr/>
          <p:nvPr/>
        </p:nvSpPr>
        <p:spPr>
          <a:xfrm>
            <a:off x="8174736" y="3849624"/>
            <a:ext cx="658368" cy="109728"/>
          </a:xfrm>
          <a:prstGeom prst="rect">
            <a:avLst/>
          </a:prstGeom>
          <a:noFill/>
          <a:ln/>
        </p:spPr>
        <p:txBody>
          <a:bodyPr wrap="square" lIns="0" tIns="0" rIns="0" bIns="0" rtlCol="0" anchor="ctr"/>
          <a:lstStyle/>
          <a:p>
            <a:pPr marL="0" indent="0" algn="ctr">
              <a:buNone/>
            </a:pPr>
            <a:r>
              <a:rPr lang="en-US" sz="720" b="1" dirty="0">
                <a:solidFill>
                  <a:srgbClr val="22313B"/>
                </a:solidFill>
                <a:latin typeface="Helvetica Neue" pitchFamily="34" charset="0"/>
                <a:ea typeface="Helvetica Neue" pitchFamily="34" charset="-122"/>
                <a:cs typeface="Helvetica Neue" pitchFamily="34" charset="-120"/>
              </a:rPr>
              <a:t>ROOT</a:t>
            </a:r>
            <a:endParaRPr lang="en-US" sz="720" dirty="0"/>
          </a:p>
        </p:txBody>
      </p:sp>
      <p:sp>
        <p:nvSpPr>
          <p:cNvPr id="51" name="Shape 49"/>
          <p:cNvSpPr/>
          <p:nvPr/>
        </p:nvSpPr>
        <p:spPr>
          <a:xfrm>
            <a:off x="7278624" y="4590288"/>
            <a:ext cx="1645920" cy="438912"/>
          </a:xfrm>
          <a:prstGeom prst="roundRect">
            <a:avLst>
              <a:gd name="adj" fmla="val 16667"/>
            </a:avLst>
          </a:prstGeom>
          <a:solidFill>
            <a:srgbClr val="D7E3EB"/>
          </a:solidFill>
          <a:ln w="12700">
            <a:solidFill>
              <a:srgbClr val="D9CCBC"/>
            </a:solidFill>
            <a:prstDash val="solid"/>
          </a:ln>
        </p:spPr>
        <p:txBody>
          <a:bodyPr/>
          <a:lstStyle/>
          <a:p>
            <a:endParaRPr lang="en-US"/>
          </a:p>
        </p:txBody>
      </p:sp>
      <p:sp>
        <p:nvSpPr>
          <p:cNvPr id="52" name="Text 50"/>
          <p:cNvSpPr/>
          <p:nvPr/>
        </p:nvSpPr>
        <p:spPr>
          <a:xfrm>
            <a:off x="7406640" y="4718304"/>
            <a:ext cx="1389888" cy="128016"/>
          </a:xfrm>
          <a:prstGeom prst="rect">
            <a:avLst/>
          </a:prstGeom>
          <a:noFill/>
          <a:ln/>
        </p:spPr>
        <p:txBody>
          <a:bodyPr wrap="square" lIns="0" tIns="0" rIns="0" bIns="0" rtlCol="0" anchor="ctr"/>
          <a:lstStyle/>
          <a:p>
            <a:pPr marL="0" indent="0" algn="ctr">
              <a:buNone/>
            </a:pPr>
            <a:r>
              <a:rPr lang="en-US" sz="970" b="1" dirty="0">
                <a:solidFill>
                  <a:srgbClr val="22313B"/>
                </a:solidFill>
                <a:latin typeface="Helvetica Neue" pitchFamily="34" charset="0"/>
                <a:ea typeface="Helvetica Neue" pitchFamily="34" charset="-122"/>
                <a:cs typeface="Helvetica Neue" pitchFamily="34" charset="-120"/>
              </a:rPr>
              <a:t>One EC2 client</a:t>
            </a:r>
            <a:endParaRPr lang="en-US" sz="970" dirty="0"/>
          </a:p>
        </p:txBody>
      </p:sp>
      <p:sp>
        <p:nvSpPr>
          <p:cNvPr id="53" name="Shape 51"/>
          <p:cNvSpPr/>
          <p:nvPr/>
        </p:nvSpPr>
        <p:spPr>
          <a:xfrm>
            <a:off x="9326880" y="4416552"/>
            <a:ext cx="1097280" cy="402336"/>
          </a:xfrm>
          <a:prstGeom prst="roundRect">
            <a:avLst>
              <a:gd name="adj" fmla="val 18182"/>
            </a:avLst>
          </a:prstGeom>
          <a:solidFill>
            <a:srgbClr val="D7E3EB"/>
          </a:solidFill>
          <a:ln w="12700">
            <a:solidFill>
              <a:srgbClr val="D9CCBC"/>
            </a:solidFill>
            <a:prstDash val="solid"/>
          </a:ln>
        </p:spPr>
        <p:txBody>
          <a:bodyPr/>
          <a:lstStyle/>
          <a:p>
            <a:endParaRPr lang="en-US"/>
          </a:p>
        </p:txBody>
      </p:sp>
      <p:sp>
        <p:nvSpPr>
          <p:cNvPr id="54" name="Text 52"/>
          <p:cNvSpPr/>
          <p:nvPr/>
        </p:nvSpPr>
        <p:spPr>
          <a:xfrm>
            <a:off x="9400032" y="4539996"/>
            <a:ext cx="950976" cy="128016"/>
          </a:xfrm>
          <a:prstGeom prst="rect">
            <a:avLst/>
          </a:prstGeom>
          <a:noFill/>
          <a:ln/>
        </p:spPr>
        <p:txBody>
          <a:bodyPr wrap="square" lIns="0" tIns="0" rIns="0" bIns="0" rtlCol="0" anchor="ctr"/>
          <a:lstStyle/>
          <a:p>
            <a:pPr marL="0" indent="0" algn="ctr">
              <a:buNone/>
            </a:pPr>
            <a:r>
              <a:rPr lang="en-US" sz="820" b="1" dirty="0">
                <a:solidFill>
                  <a:srgbClr val="22313B"/>
                </a:solidFill>
                <a:latin typeface="Helvetica Neue" pitchFamily="34" charset="0"/>
                <a:ea typeface="Helvetica Neue" pitchFamily="34" charset="-122"/>
                <a:cs typeface="Helvetica Neue" pitchFamily="34" charset="-120"/>
              </a:rPr>
              <a:t>Single-frame read</a:t>
            </a:r>
            <a:endParaRPr lang="en-US" sz="820" dirty="0"/>
          </a:p>
        </p:txBody>
      </p:sp>
      <p:sp>
        <p:nvSpPr>
          <p:cNvPr id="55" name="Shape 53"/>
          <p:cNvSpPr/>
          <p:nvPr/>
        </p:nvSpPr>
        <p:spPr>
          <a:xfrm>
            <a:off x="9326880" y="4901184"/>
            <a:ext cx="1097280" cy="402336"/>
          </a:xfrm>
          <a:prstGeom prst="roundRect">
            <a:avLst>
              <a:gd name="adj" fmla="val 18182"/>
            </a:avLst>
          </a:prstGeom>
          <a:solidFill>
            <a:srgbClr val="E6D6C4"/>
          </a:solidFill>
          <a:ln w="12700">
            <a:solidFill>
              <a:srgbClr val="D9CCBC"/>
            </a:solidFill>
            <a:prstDash val="solid"/>
          </a:ln>
        </p:spPr>
        <p:txBody>
          <a:bodyPr/>
          <a:lstStyle/>
          <a:p>
            <a:endParaRPr lang="en-US"/>
          </a:p>
        </p:txBody>
      </p:sp>
      <p:sp>
        <p:nvSpPr>
          <p:cNvPr id="56" name="Text 54"/>
          <p:cNvSpPr/>
          <p:nvPr/>
        </p:nvSpPr>
        <p:spPr>
          <a:xfrm>
            <a:off x="9400032" y="5024628"/>
            <a:ext cx="950976" cy="128016"/>
          </a:xfrm>
          <a:prstGeom prst="rect">
            <a:avLst/>
          </a:prstGeom>
          <a:noFill/>
          <a:ln/>
        </p:spPr>
        <p:txBody>
          <a:bodyPr wrap="square" lIns="0" tIns="0" rIns="0" bIns="0" rtlCol="0" anchor="ctr"/>
          <a:lstStyle/>
          <a:p>
            <a:pPr marL="0" indent="0" algn="ctr">
              <a:buNone/>
            </a:pPr>
            <a:r>
              <a:rPr lang="en-US" sz="820" b="1" dirty="0">
                <a:solidFill>
                  <a:srgbClr val="22313B"/>
                </a:solidFill>
                <a:latin typeface="Helvetica Neue" pitchFamily="34" charset="0"/>
                <a:ea typeface="Helvetica Neue" pitchFamily="34" charset="-122"/>
                <a:cs typeface="Helvetica Neue" pitchFamily="34" charset="-120"/>
              </a:rPr>
              <a:t>Full scan</a:t>
            </a:r>
            <a:endParaRPr lang="en-US" sz="820" dirty="0"/>
          </a:p>
        </p:txBody>
      </p:sp>
      <p:sp>
        <p:nvSpPr>
          <p:cNvPr id="57" name="Shape 55"/>
          <p:cNvSpPr/>
          <p:nvPr/>
        </p:nvSpPr>
        <p:spPr>
          <a:xfrm flipV="1">
            <a:off x="6967728" y="3666744"/>
            <a:ext cx="256032" cy="9144"/>
          </a:xfrm>
          <a:prstGeom prst="line">
            <a:avLst/>
          </a:prstGeom>
          <a:noFill/>
          <a:ln w="12700">
            <a:solidFill>
              <a:srgbClr val="C6B29A"/>
            </a:solidFill>
            <a:prstDash val="solid"/>
            <a:headEnd type="none"/>
            <a:tailEnd type="triangle"/>
          </a:ln>
        </p:spPr>
        <p:txBody>
          <a:bodyPr/>
          <a:lstStyle/>
          <a:p>
            <a:endParaRPr lang="en-US"/>
          </a:p>
        </p:txBody>
      </p:sp>
      <p:sp>
        <p:nvSpPr>
          <p:cNvPr id="58" name="Shape 56"/>
          <p:cNvSpPr/>
          <p:nvPr/>
        </p:nvSpPr>
        <p:spPr>
          <a:xfrm>
            <a:off x="8101584" y="4279392"/>
            <a:ext cx="0" cy="310896"/>
          </a:xfrm>
          <a:prstGeom prst="line">
            <a:avLst/>
          </a:prstGeom>
          <a:noFill/>
          <a:ln w="12700">
            <a:solidFill>
              <a:srgbClr val="C6B29A"/>
            </a:solidFill>
            <a:prstDash val="solid"/>
            <a:headEnd type="none"/>
            <a:tailEnd type="triangle"/>
          </a:ln>
        </p:spPr>
        <p:txBody>
          <a:bodyPr/>
          <a:lstStyle/>
          <a:p>
            <a:endParaRPr lang="en-US"/>
          </a:p>
        </p:txBody>
      </p:sp>
      <p:sp>
        <p:nvSpPr>
          <p:cNvPr id="59" name="Shape 57"/>
          <p:cNvSpPr/>
          <p:nvPr/>
        </p:nvSpPr>
        <p:spPr>
          <a:xfrm flipV="1">
            <a:off x="8924544" y="4608576"/>
            <a:ext cx="402336" cy="219456"/>
          </a:xfrm>
          <a:prstGeom prst="line">
            <a:avLst/>
          </a:prstGeom>
          <a:noFill/>
          <a:ln w="12700">
            <a:solidFill>
              <a:srgbClr val="C6B29A"/>
            </a:solidFill>
            <a:prstDash val="solid"/>
            <a:headEnd type="none"/>
            <a:tailEnd type="triangle"/>
          </a:ln>
        </p:spPr>
        <p:txBody>
          <a:bodyPr/>
          <a:lstStyle/>
          <a:p>
            <a:endParaRPr lang="en-US"/>
          </a:p>
        </p:txBody>
      </p:sp>
      <p:sp>
        <p:nvSpPr>
          <p:cNvPr id="60" name="Shape 58"/>
          <p:cNvSpPr/>
          <p:nvPr/>
        </p:nvSpPr>
        <p:spPr>
          <a:xfrm>
            <a:off x="8924544" y="4828032"/>
            <a:ext cx="402336" cy="292608"/>
          </a:xfrm>
          <a:prstGeom prst="line">
            <a:avLst/>
          </a:prstGeom>
          <a:noFill/>
          <a:ln w="12700">
            <a:solidFill>
              <a:srgbClr val="C6B29A"/>
            </a:solidFill>
            <a:prstDash val="solid"/>
            <a:headEnd type="none"/>
            <a:tailEnd type="triangle"/>
          </a:ln>
        </p:spPr>
        <p:txBody>
          <a:bodyPr/>
          <a:lstStyle/>
          <a:p>
            <a:endParaRPr lang="en-US"/>
          </a:p>
        </p:txBody>
      </p:sp>
      <p:sp>
        <p:nvSpPr>
          <p:cNvPr id="61" name="Shape 59"/>
          <p:cNvSpPr/>
          <p:nvPr/>
        </p:nvSpPr>
        <p:spPr>
          <a:xfrm>
            <a:off x="1207008" y="5513832"/>
            <a:ext cx="9290304" cy="0"/>
          </a:xfrm>
          <a:prstGeom prst="line">
            <a:avLst/>
          </a:prstGeom>
          <a:noFill/>
          <a:ln w="12700">
            <a:solidFill>
              <a:srgbClr val="D9CCBC"/>
            </a:solidFill>
            <a:prstDash val="solid"/>
          </a:ln>
        </p:spPr>
        <p:txBody>
          <a:bodyPr/>
          <a:lstStyle/>
          <a:p>
            <a:endParaRPr lang="en-US"/>
          </a:p>
        </p:txBody>
      </p:sp>
      <p:sp>
        <p:nvSpPr>
          <p:cNvPr id="62" name="Text 60"/>
          <p:cNvSpPr/>
          <p:nvPr/>
        </p:nvSpPr>
        <p:spPr>
          <a:xfrm>
            <a:off x="1389888" y="5650992"/>
            <a:ext cx="1737360" cy="164592"/>
          </a:xfrm>
          <a:prstGeom prst="rect">
            <a:avLst/>
          </a:prstGeom>
          <a:noFill/>
          <a:ln/>
        </p:spPr>
        <p:txBody>
          <a:bodyPr wrap="square" lIns="0" tIns="0" rIns="0" bIns="0" rtlCol="0" anchor="ctr"/>
          <a:lstStyle/>
          <a:p>
            <a:pPr marL="0" indent="0" algn="ctr">
              <a:buNone/>
            </a:pPr>
            <a:r>
              <a:rPr lang="en-US" sz="1080" b="1" dirty="0">
                <a:solidFill>
                  <a:srgbClr val="53626C"/>
                </a:solidFill>
                <a:latin typeface="Helvetica Neue" pitchFamily="34" charset="0"/>
                <a:ea typeface="Helvetica Neue" pitchFamily="34" charset="-122"/>
                <a:cs typeface="Helvetica Neue" pitchFamily="34" charset="-120"/>
              </a:rPr>
              <a:t>Latency</a:t>
            </a:r>
            <a:endParaRPr lang="en-US" sz="1080" dirty="0"/>
          </a:p>
        </p:txBody>
      </p:sp>
      <p:sp>
        <p:nvSpPr>
          <p:cNvPr id="63" name="Text 61"/>
          <p:cNvSpPr/>
          <p:nvPr/>
        </p:nvSpPr>
        <p:spPr>
          <a:xfrm>
            <a:off x="3657600" y="5650992"/>
            <a:ext cx="1737360" cy="164592"/>
          </a:xfrm>
          <a:prstGeom prst="rect">
            <a:avLst/>
          </a:prstGeom>
          <a:noFill/>
          <a:ln/>
        </p:spPr>
        <p:txBody>
          <a:bodyPr wrap="square" lIns="0" tIns="0" rIns="0" bIns="0" rtlCol="0" anchor="ctr"/>
          <a:lstStyle/>
          <a:p>
            <a:pPr marL="0" indent="0" algn="ctr">
              <a:buNone/>
            </a:pPr>
            <a:r>
              <a:rPr lang="en-US" sz="1080" b="1" dirty="0">
                <a:solidFill>
                  <a:srgbClr val="53626C"/>
                </a:solidFill>
                <a:latin typeface="Helvetica Neue" pitchFamily="34" charset="0"/>
                <a:ea typeface="Helvetica Neue" pitchFamily="34" charset="-122"/>
                <a:cs typeface="Helvetica Neue" pitchFamily="34" charset="-120"/>
              </a:rPr>
              <a:t>Throughput</a:t>
            </a:r>
            <a:endParaRPr lang="en-US" sz="1080" dirty="0"/>
          </a:p>
        </p:txBody>
      </p:sp>
      <p:sp>
        <p:nvSpPr>
          <p:cNvPr id="64" name="Text 62"/>
          <p:cNvSpPr/>
          <p:nvPr/>
        </p:nvSpPr>
        <p:spPr>
          <a:xfrm>
            <a:off x="5952744" y="5650992"/>
            <a:ext cx="1737360" cy="164592"/>
          </a:xfrm>
          <a:prstGeom prst="rect">
            <a:avLst/>
          </a:prstGeom>
          <a:noFill/>
          <a:ln/>
        </p:spPr>
        <p:txBody>
          <a:bodyPr wrap="square" lIns="0" tIns="0" rIns="0" bIns="0" rtlCol="0" anchor="ctr"/>
          <a:lstStyle/>
          <a:p>
            <a:pPr marL="0" indent="0" algn="ctr">
              <a:buNone/>
            </a:pPr>
            <a:r>
              <a:rPr lang="en-US" sz="1080" b="1" dirty="0">
                <a:solidFill>
                  <a:srgbClr val="53626C"/>
                </a:solidFill>
                <a:latin typeface="Helvetica Neue" pitchFamily="34" charset="0"/>
                <a:ea typeface="Helvetica Neue" pitchFamily="34" charset="-122"/>
                <a:cs typeface="Helvetica Neue" pitchFamily="34" charset="-120"/>
              </a:rPr>
              <a:t>GET intensity</a:t>
            </a:r>
            <a:endParaRPr lang="en-US" sz="1080" dirty="0"/>
          </a:p>
        </p:txBody>
      </p:sp>
      <p:sp>
        <p:nvSpPr>
          <p:cNvPr id="65" name="Text 63"/>
          <p:cNvSpPr/>
          <p:nvPr/>
        </p:nvSpPr>
        <p:spPr>
          <a:xfrm>
            <a:off x="8321040" y="5650992"/>
            <a:ext cx="1737360" cy="164592"/>
          </a:xfrm>
          <a:prstGeom prst="rect">
            <a:avLst/>
          </a:prstGeom>
          <a:noFill/>
          <a:ln/>
        </p:spPr>
        <p:txBody>
          <a:bodyPr wrap="square" lIns="0" tIns="0" rIns="0" bIns="0" rtlCol="0" anchor="ctr"/>
          <a:lstStyle/>
          <a:p>
            <a:pPr marL="0" indent="0" algn="ctr">
              <a:buNone/>
            </a:pPr>
            <a:r>
              <a:rPr lang="en-US" sz="1080" b="1" dirty="0">
                <a:solidFill>
                  <a:srgbClr val="53626C"/>
                </a:solidFill>
                <a:latin typeface="Helvetica Neue" pitchFamily="34" charset="0"/>
                <a:ea typeface="Helvetica Neue" pitchFamily="34" charset="-122"/>
                <a:cs typeface="Helvetica Neue" pitchFamily="34" charset="-120"/>
              </a:rPr>
              <a:t>Stored size</a:t>
            </a:r>
            <a:endParaRPr lang="en-US" sz="1080" dirty="0"/>
          </a:p>
        </p:txBody>
      </p:sp>
      <p:sp>
        <p:nvSpPr>
          <p:cNvPr id="66" name="Shape 64"/>
          <p:cNvSpPr/>
          <p:nvPr/>
        </p:nvSpPr>
        <p:spPr>
          <a:xfrm>
            <a:off x="3493008" y="5596128"/>
            <a:ext cx="0" cy="256032"/>
          </a:xfrm>
          <a:prstGeom prst="line">
            <a:avLst/>
          </a:prstGeom>
          <a:noFill/>
          <a:ln w="12700">
            <a:solidFill>
              <a:srgbClr val="D9CCBC"/>
            </a:solidFill>
            <a:prstDash val="solid"/>
          </a:ln>
        </p:spPr>
        <p:txBody>
          <a:bodyPr/>
          <a:lstStyle/>
          <a:p>
            <a:endParaRPr lang="en-US"/>
          </a:p>
        </p:txBody>
      </p:sp>
      <p:sp>
        <p:nvSpPr>
          <p:cNvPr id="67" name="Shape 65"/>
          <p:cNvSpPr/>
          <p:nvPr/>
        </p:nvSpPr>
        <p:spPr>
          <a:xfrm>
            <a:off x="5769864" y="5596128"/>
            <a:ext cx="0" cy="256032"/>
          </a:xfrm>
          <a:prstGeom prst="line">
            <a:avLst/>
          </a:prstGeom>
          <a:noFill/>
          <a:ln w="12700">
            <a:solidFill>
              <a:srgbClr val="D9CCBC"/>
            </a:solidFill>
            <a:prstDash val="solid"/>
          </a:ln>
        </p:spPr>
        <p:txBody>
          <a:bodyPr/>
          <a:lstStyle/>
          <a:p>
            <a:endParaRPr lang="en-US"/>
          </a:p>
        </p:txBody>
      </p:sp>
      <p:sp>
        <p:nvSpPr>
          <p:cNvPr id="68" name="Shape 66"/>
          <p:cNvSpPr/>
          <p:nvPr/>
        </p:nvSpPr>
        <p:spPr>
          <a:xfrm>
            <a:off x="8074152" y="5596128"/>
            <a:ext cx="0" cy="256032"/>
          </a:xfrm>
          <a:prstGeom prst="line">
            <a:avLst/>
          </a:prstGeom>
          <a:noFill/>
          <a:ln w="12700">
            <a:solidFill>
              <a:srgbClr val="D9CCBC"/>
            </a:solidFill>
            <a:prstDash val="solid"/>
          </a:ln>
        </p:spPr>
        <p:txBody>
          <a:bodyPr/>
          <a:lstStyle/>
          <a:p>
            <a:endParaRPr lang="en-US"/>
          </a:p>
        </p:txBody>
      </p:sp>
      <p:sp>
        <p:nvSpPr>
          <p:cNvPr id="69" name="Shape 67"/>
          <p:cNvSpPr/>
          <p:nvPr/>
        </p:nvSpPr>
        <p:spPr>
          <a:xfrm>
            <a:off x="8887968" y="530352"/>
            <a:ext cx="932688" cy="365760"/>
          </a:xfrm>
          <a:prstGeom prst="roundRect">
            <a:avLst>
              <a:gd name="adj" fmla="val 15000"/>
            </a:avLst>
          </a:prstGeom>
          <a:solidFill>
            <a:srgbClr val="F2E9DE"/>
          </a:solidFill>
          <a:ln w="12700">
            <a:solidFill>
              <a:srgbClr val="D9CCBC"/>
            </a:solidFill>
            <a:prstDash val="solid"/>
          </a:ln>
        </p:spPr>
        <p:txBody>
          <a:bodyPr/>
          <a:lstStyle/>
          <a:p>
            <a:endParaRPr lang="en-US"/>
          </a:p>
        </p:txBody>
      </p:sp>
      <p:sp>
        <p:nvSpPr>
          <p:cNvPr id="70" name="Text 68"/>
          <p:cNvSpPr/>
          <p:nvPr/>
        </p:nvSpPr>
        <p:spPr>
          <a:xfrm>
            <a:off x="8887968" y="603504"/>
            <a:ext cx="932688" cy="219456"/>
          </a:xfrm>
          <a:prstGeom prst="rect">
            <a:avLst/>
          </a:prstGeom>
          <a:noFill/>
          <a:ln/>
        </p:spPr>
        <p:txBody>
          <a:bodyPr wrap="square" lIns="0" tIns="0" rIns="0" bIns="0" rtlCol="0" anchor="ctr"/>
          <a:lstStyle/>
          <a:p>
            <a:pPr marL="0" indent="0" algn="ctr">
              <a:buNone/>
            </a:pPr>
            <a:r>
              <a:rPr lang="en-US" sz="1050" dirty="0">
                <a:solidFill>
                  <a:srgbClr val="53626C"/>
                </a:solidFill>
                <a:latin typeface="Helvetica Neue" pitchFamily="34" charset="0"/>
                <a:ea typeface="Helvetica Neue" pitchFamily="34" charset="-122"/>
                <a:cs typeface="Helvetica Neue" pitchFamily="34" charset="-120"/>
              </a:rPr>
              <a:t>Slide 7</a:t>
            </a:r>
            <a:endParaRPr lang="en-US" sz="1050" dirty="0"/>
          </a:p>
        </p:txBody>
      </p:sp>
      <p:sp>
        <p:nvSpPr>
          <p:cNvPr id="71" name="Shape 69"/>
          <p:cNvSpPr/>
          <p:nvPr/>
        </p:nvSpPr>
        <p:spPr>
          <a:xfrm>
            <a:off x="9948672" y="530352"/>
            <a:ext cx="1335024" cy="365760"/>
          </a:xfrm>
          <a:prstGeom prst="roundRect">
            <a:avLst>
              <a:gd name="adj" fmla="val 15000"/>
            </a:avLst>
          </a:prstGeom>
          <a:solidFill>
            <a:srgbClr val="F2E9DE"/>
          </a:solidFill>
          <a:ln w="12700">
            <a:solidFill>
              <a:srgbClr val="D9CCBC"/>
            </a:solidFill>
            <a:prstDash val="solid"/>
          </a:ln>
        </p:spPr>
        <p:txBody>
          <a:bodyPr/>
          <a:lstStyle/>
          <a:p>
            <a:endParaRPr lang="en-US"/>
          </a:p>
        </p:txBody>
      </p:sp>
      <p:sp>
        <p:nvSpPr>
          <p:cNvPr id="72" name="Text 70"/>
          <p:cNvSpPr/>
          <p:nvPr/>
        </p:nvSpPr>
        <p:spPr>
          <a:xfrm>
            <a:off x="9948672" y="603504"/>
            <a:ext cx="1335024" cy="219456"/>
          </a:xfrm>
          <a:prstGeom prst="rect">
            <a:avLst/>
          </a:prstGeom>
          <a:noFill/>
          <a:ln/>
        </p:spPr>
        <p:txBody>
          <a:bodyPr wrap="square" lIns="0" tIns="0" rIns="0" bIns="0" rtlCol="0" anchor="ctr"/>
          <a:lstStyle/>
          <a:p>
            <a:pPr marL="0" indent="0" algn="ctr">
              <a:buNone/>
            </a:pPr>
            <a:r>
              <a:rPr lang="en-US" sz="1050" dirty="0">
                <a:solidFill>
                  <a:srgbClr val="53626C"/>
                </a:solidFill>
                <a:latin typeface="Helvetica Neue" pitchFamily="34" charset="0"/>
                <a:ea typeface="Helvetica Neue" pitchFamily="34" charset="-122"/>
                <a:cs typeface="Helvetica Neue" pitchFamily="34" charset="-120"/>
              </a:rPr>
              <a:t>Setup</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1E8"/>
        </a:solidFill>
        <a:effectLst/>
      </p:bgPr>
    </p:bg>
    <p:spTree>
      <p:nvGrpSpPr>
        <p:cNvPr id="1" name=""/>
        <p:cNvGrpSpPr/>
        <p:nvPr/>
      </p:nvGrpSpPr>
      <p:grpSpPr>
        <a:xfrm>
          <a:off x="0" y="0"/>
          <a:ext cx="0" cy="0"/>
          <a:chOff x="0" y="0"/>
          <a:chExt cx="0" cy="0"/>
        </a:xfrm>
      </p:grpSpPr>
      <p:sp>
        <p:nvSpPr>
          <p:cNvPr id="2" name="Text 0"/>
          <p:cNvSpPr/>
          <p:nvPr/>
        </p:nvSpPr>
        <p:spPr>
          <a:xfrm>
            <a:off x="868680" y="502920"/>
            <a:ext cx="2103120" cy="133350"/>
          </a:xfrm>
          <a:prstGeom prst="rect">
            <a:avLst/>
          </a:prstGeom>
          <a:noFill/>
          <a:ln/>
        </p:spPr>
        <p:txBody>
          <a:bodyPr wrap="square" lIns="0" tIns="0" rIns="0" bIns="0" rtlCol="0" anchor="ctr"/>
          <a:lstStyle/>
          <a:p>
            <a:pPr marL="0" indent="0">
              <a:buNone/>
            </a:pPr>
            <a:r>
              <a:rPr lang="en-US" sz="1050" b="1" dirty="0">
                <a:solidFill>
                  <a:srgbClr val="B8874F"/>
                </a:solidFill>
                <a:latin typeface="Helvetica Neue" pitchFamily="34" charset="0"/>
                <a:ea typeface="Helvetica Neue" pitchFamily="34" charset="-122"/>
                <a:cs typeface="Helvetica Neue" pitchFamily="34" charset="-120"/>
              </a:rPr>
              <a:t>RESULT 1</a:t>
            </a:r>
            <a:endParaRPr lang="en-US" sz="1050" dirty="0"/>
          </a:p>
        </p:txBody>
      </p:sp>
      <p:sp>
        <p:nvSpPr>
          <p:cNvPr id="3" name="Shape 1"/>
          <p:cNvSpPr/>
          <p:nvPr/>
        </p:nvSpPr>
        <p:spPr>
          <a:xfrm>
            <a:off x="868680" y="822960"/>
            <a:ext cx="914400" cy="0"/>
          </a:xfrm>
          <a:prstGeom prst="line">
            <a:avLst/>
          </a:prstGeom>
          <a:noFill/>
          <a:ln w="12700">
            <a:solidFill>
              <a:srgbClr val="B8874F"/>
            </a:solidFill>
            <a:prstDash val="solid"/>
          </a:ln>
        </p:spPr>
        <p:txBody>
          <a:bodyPr/>
          <a:lstStyle/>
          <a:p>
            <a:endParaRPr lang="en-US"/>
          </a:p>
        </p:txBody>
      </p:sp>
      <p:sp>
        <p:nvSpPr>
          <p:cNvPr id="4" name="Text 2"/>
          <p:cNvSpPr/>
          <p:nvPr/>
        </p:nvSpPr>
        <p:spPr>
          <a:xfrm>
            <a:off x="868680" y="1024128"/>
            <a:ext cx="6035040" cy="731520"/>
          </a:xfrm>
          <a:prstGeom prst="rect">
            <a:avLst/>
          </a:prstGeom>
          <a:noFill/>
          <a:ln/>
        </p:spPr>
        <p:txBody>
          <a:bodyPr wrap="square" lIns="0" tIns="0" rIns="0" bIns="0" rtlCol="0" anchor="ctr">
            <a:normAutofit/>
          </a:bodyPr>
          <a:lstStyle/>
          <a:p>
            <a:pPr marL="0" indent="0">
              <a:buNone/>
            </a:pPr>
            <a:r>
              <a:rPr lang="en-US" sz="2446" b="1" dirty="0">
                <a:solidFill>
                  <a:srgbClr val="22313B"/>
                </a:solidFill>
                <a:latin typeface="Georgia" pitchFamily="34" charset="0"/>
                <a:ea typeface="Georgia" pitchFamily="34" charset="-122"/>
                <a:cs typeface="Georgia" pitchFamily="34" charset="-120"/>
              </a:rPr>
              <a:t>Result: interactive reads</a:t>
            </a:r>
            <a:endParaRPr lang="en-US" sz="2446" dirty="0"/>
          </a:p>
        </p:txBody>
      </p:sp>
      <p:sp>
        <p:nvSpPr>
          <p:cNvPr id="5" name="Text 3"/>
          <p:cNvSpPr/>
          <p:nvPr/>
        </p:nvSpPr>
        <p:spPr>
          <a:xfrm>
            <a:off x="868680" y="1792224"/>
            <a:ext cx="5852160" cy="329184"/>
          </a:xfrm>
          <a:prstGeom prst="rect">
            <a:avLst/>
          </a:prstGeom>
          <a:noFill/>
          <a:ln/>
        </p:spPr>
        <p:txBody>
          <a:bodyPr wrap="square" lIns="0" tIns="0" rIns="0" bIns="0" rtlCol="0" anchor="ctr"/>
          <a:lstStyle/>
          <a:p>
            <a:pPr marL="0" indent="0">
              <a:buNone/>
            </a:pPr>
            <a:r>
              <a:rPr lang="en-US" sz="1420" dirty="0">
                <a:solidFill>
                  <a:srgbClr val="53626C"/>
                </a:solidFill>
                <a:latin typeface="Helvetica Neue" pitchFamily="34" charset="0"/>
                <a:ea typeface="Helvetica Neue" pitchFamily="34" charset="-122"/>
                <a:cs typeface="Helvetica Neue" pitchFamily="34" charset="-120"/>
              </a:rPr>
              <a:t>This is the part users actually feel first.</a:t>
            </a:r>
            <a:endParaRPr lang="en-US" sz="1420" dirty="0"/>
          </a:p>
        </p:txBody>
      </p:sp>
      <p:sp>
        <p:nvSpPr>
          <p:cNvPr id="6" name="Shape 4"/>
          <p:cNvSpPr/>
          <p:nvPr/>
        </p:nvSpPr>
        <p:spPr>
          <a:xfrm>
            <a:off x="868680" y="2212848"/>
            <a:ext cx="10424160" cy="3822192"/>
          </a:xfrm>
          <a:prstGeom prst="roundRect">
            <a:avLst>
              <a:gd name="adj" fmla="val 1914"/>
            </a:avLst>
          </a:prstGeom>
          <a:solidFill>
            <a:srgbClr val="FBF7F1"/>
          </a:solidFill>
          <a:ln w="12700">
            <a:solidFill>
              <a:srgbClr val="D9CCBC"/>
            </a:solidFill>
            <a:prstDash val="solid"/>
          </a:ln>
        </p:spPr>
        <p:txBody>
          <a:bodyPr/>
          <a:lstStyle/>
          <a:p>
            <a:endParaRPr lang="en-US"/>
          </a:p>
        </p:txBody>
      </p:sp>
      <p:sp>
        <p:nvSpPr>
          <p:cNvPr id="7" name="Shape 5"/>
          <p:cNvSpPr/>
          <p:nvPr/>
        </p:nvSpPr>
        <p:spPr>
          <a:xfrm>
            <a:off x="1115568" y="2560320"/>
            <a:ext cx="3794760" cy="987552"/>
          </a:xfrm>
          <a:prstGeom prst="roundRect">
            <a:avLst>
              <a:gd name="adj" fmla="val 7407"/>
            </a:avLst>
          </a:prstGeom>
          <a:solidFill>
            <a:srgbClr val="22313B"/>
          </a:solidFill>
          <a:ln w="12700">
            <a:solidFill>
              <a:srgbClr val="22313B"/>
            </a:solidFill>
            <a:prstDash val="solid"/>
          </a:ln>
        </p:spPr>
        <p:txBody>
          <a:bodyPr/>
          <a:lstStyle/>
          <a:p>
            <a:endParaRPr lang="en-US"/>
          </a:p>
        </p:txBody>
      </p:sp>
      <p:sp>
        <p:nvSpPr>
          <p:cNvPr id="8" name="Shape 6"/>
          <p:cNvSpPr/>
          <p:nvPr/>
        </p:nvSpPr>
        <p:spPr>
          <a:xfrm>
            <a:off x="1274674" y="2907792"/>
            <a:ext cx="1005840" cy="256032"/>
          </a:xfrm>
          <a:prstGeom prst="roundRect">
            <a:avLst>
              <a:gd name="adj" fmla="val 21429"/>
            </a:avLst>
          </a:prstGeom>
          <a:solidFill>
            <a:srgbClr val="B8874F"/>
          </a:solidFill>
          <a:ln w="12700">
            <a:solidFill>
              <a:srgbClr val="B8874F">
                <a:alpha val="0"/>
              </a:srgbClr>
            </a:solidFill>
            <a:prstDash val="solid"/>
          </a:ln>
        </p:spPr>
        <p:txBody>
          <a:bodyPr/>
          <a:lstStyle/>
          <a:p>
            <a:endParaRPr lang="en-US"/>
          </a:p>
        </p:txBody>
      </p:sp>
      <p:sp>
        <p:nvSpPr>
          <p:cNvPr id="9" name="Text 7"/>
          <p:cNvSpPr/>
          <p:nvPr/>
        </p:nvSpPr>
        <p:spPr>
          <a:xfrm>
            <a:off x="1274674" y="2953512"/>
            <a:ext cx="1005840" cy="164592"/>
          </a:xfrm>
          <a:prstGeom prst="rect">
            <a:avLst/>
          </a:prstGeom>
          <a:noFill/>
          <a:ln/>
        </p:spPr>
        <p:txBody>
          <a:bodyPr wrap="square" lIns="0" tIns="0" rIns="0" bIns="0" rtlCol="0" anchor="ctr"/>
          <a:lstStyle/>
          <a:p>
            <a:pPr marL="0" indent="0" algn="ctr">
              <a:buNone/>
            </a:pPr>
            <a:r>
              <a:rPr lang="en-US" sz="840" b="1" dirty="0">
                <a:solidFill>
                  <a:srgbClr val="22313B"/>
                </a:solidFill>
                <a:latin typeface="Helvetica Neue" pitchFamily="34" charset="0"/>
                <a:ea typeface="Helvetica Neue" pitchFamily="34" charset="-122"/>
                <a:cs typeface="Helvetica Neue" pitchFamily="34" charset="-120"/>
              </a:rPr>
              <a:t>Best overall</a:t>
            </a:r>
            <a:endParaRPr lang="en-US" sz="840" dirty="0"/>
          </a:p>
        </p:txBody>
      </p:sp>
      <p:sp>
        <p:nvSpPr>
          <p:cNvPr id="10" name="Text 8"/>
          <p:cNvSpPr/>
          <p:nvPr/>
        </p:nvSpPr>
        <p:spPr>
          <a:xfrm>
            <a:off x="2398471" y="2816352"/>
            <a:ext cx="2514600" cy="219456"/>
          </a:xfrm>
          <a:prstGeom prst="rect">
            <a:avLst/>
          </a:prstGeom>
          <a:noFill/>
          <a:ln/>
        </p:spPr>
        <p:txBody>
          <a:bodyPr wrap="square" lIns="0" tIns="0" rIns="0" bIns="0" rtlCol="0" anchor="ctr"/>
          <a:lstStyle/>
          <a:p>
            <a:pPr marL="0" indent="0">
              <a:buNone/>
            </a:pPr>
            <a:r>
              <a:rPr lang="en-US" sz="1800" b="1" dirty="0">
                <a:solidFill>
                  <a:srgbClr val="FFFFFF"/>
                </a:solidFill>
                <a:latin typeface="Helvetica Neue" pitchFamily="34" charset="0"/>
                <a:ea typeface="Helvetica Neue" pitchFamily="34" charset="-122"/>
                <a:cs typeface="Helvetica Neue" pitchFamily="34" charset="-120"/>
              </a:rPr>
              <a:t>Zarr + zstd</a:t>
            </a:r>
            <a:endParaRPr lang="en-US" sz="1800" dirty="0"/>
          </a:p>
        </p:txBody>
      </p:sp>
      <p:sp>
        <p:nvSpPr>
          <p:cNvPr id="11" name="Text 9"/>
          <p:cNvSpPr/>
          <p:nvPr/>
        </p:nvSpPr>
        <p:spPr>
          <a:xfrm>
            <a:off x="2398471" y="3072384"/>
            <a:ext cx="2514600" cy="182880"/>
          </a:xfrm>
          <a:prstGeom prst="rect">
            <a:avLst/>
          </a:prstGeom>
          <a:noFill/>
          <a:ln/>
        </p:spPr>
        <p:txBody>
          <a:bodyPr wrap="square" lIns="0" tIns="0" rIns="0" bIns="0" rtlCol="0" anchor="ctr"/>
          <a:lstStyle/>
          <a:p>
            <a:pPr marL="0" indent="0">
              <a:buNone/>
            </a:pPr>
            <a:r>
              <a:rPr lang="en-US" sz="1140" dirty="0">
                <a:solidFill>
                  <a:srgbClr val="F2E9DE"/>
                </a:solidFill>
                <a:latin typeface="Helvetica Neue" pitchFamily="34" charset="0"/>
                <a:ea typeface="Helvetica Neue" pitchFamily="34" charset="-122"/>
                <a:cs typeface="Helvetica Neue" pitchFamily="34" charset="-120"/>
              </a:rPr>
              <a:t>≈ 155 ms GM latency</a:t>
            </a:r>
            <a:endParaRPr lang="en-US" sz="1140" dirty="0"/>
          </a:p>
        </p:txBody>
      </p:sp>
      <p:sp>
        <p:nvSpPr>
          <p:cNvPr id="12" name="Shape 10"/>
          <p:cNvSpPr/>
          <p:nvPr/>
        </p:nvSpPr>
        <p:spPr>
          <a:xfrm>
            <a:off x="1115568" y="3730752"/>
            <a:ext cx="3794760" cy="749808"/>
          </a:xfrm>
          <a:prstGeom prst="roundRect">
            <a:avLst>
              <a:gd name="adj" fmla="val 9756"/>
            </a:avLst>
          </a:prstGeom>
          <a:solidFill>
            <a:srgbClr val="E6D6C4"/>
          </a:solidFill>
          <a:ln w="12700">
            <a:solidFill>
              <a:srgbClr val="D9CCBC"/>
            </a:solidFill>
            <a:prstDash val="solid"/>
          </a:ln>
        </p:spPr>
        <p:txBody>
          <a:bodyPr/>
          <a:lstStyle/>
          <a:p>
            <a:endParaRPr lang="en-US"/>
          </a:p>
        </p:txBody>
      </p:sp>
      <p:sp>
        <p:nvSpPr>
          <p:cNvPr id="13" name="Shape 11"/>
          <p:cNvSpPr/>
          <p:nvPr/>
        </p:nvSpPr>
        <p:spPr>
          <a:xfrm>
            <a:off x="1280160" y="4002329"/>
            <a:ext cx="804672" cy="219456"/>
          </a:xfrm>
          <a:prstGeom prst="roundRect">
            <a:avLst>
              <a:gd name="adj" fmla="val 20833"/>
            </a:avLst>
          </a:prstGeom>
          <a:solidFill>
            <a:srgbClr val="B8874F"/>
          </a:solidFill>
          <a:ln w="12700">
            <a:solidFill>
              <a:srgbClr val="B8874F">
                <a:alpha val="0"/>
              </a:srgbClr>
            </a:solidFill>
            <a:prstDash val="solid"/>
          </a:ln>
        </p:spPr>
        <p:txBody>
          <a:bodyPr/>
          <a:lstStyle/>
          <a:p>
            <a:endParaRPr lang="en-US"/>
          </a:p>
        </p:txBody>
      </p:sp>
      <p:sp>
        <p:nvSpPr>
          <p:cNvPr id="14" name="Text 12"/>
          <p:cNvSpPr/>
          <p:nvPr/>
        </p:nvSpPr>
        <p:spPr>
          <a:xfrm>
            <a:off x="1280160" y="4050792"/>
            <a:ext cx="804672" cy="128016"/>
          </a:xfrm>
          <a:prstGeom prst="rect">
            <a:avLst/>
          </a:prstGeom>
          <a:noFill/>
          <a:ln/>
        </p:spPr>
        <p:txBody>
          <a:bodyPr wrap="square" lIns="0" tIns="0" rIns="0" bIns="0" rtlCol="0" anchor="ctr"/>
          <a:lstStyle/>
          <a:p>
            <a:pPr marL="0" indent="0" algn="ctr">
              <a:buNone/>
            </a:pPr>
            <a:r>
              <a:rPr lang="en-US" sz="780" b="1" dirty="0">
                <a:solidFill>
                  <a:srgbClr val="22313B"/>
                </a:solidFill>
                <a:latin typeface="Helvetica Neue" pitchFamily="34" charset="0"/>
                <a:ea typeface="Helvetica Neue" pitchFamily="34" charset="-122"/>
                <a:cs typeface="Helvetica Neue" pitchFamily="34" charset="-120"/>
              </a:rPr>
              <a:t>Exception</a:t>
            </a:r>
            <a:endParaRPr lang="en-US" sz="780" dirty="0"/>
          </a:p>
        </p:txBody>
      </p:sp>
      <p:sp>
        <p:nvSpPr>
          <p:cNvPr id="15" name="Text 13"/>
          <p:cNvSpPr/>
          <p:nvPr/>
        </p:nvSpPr>
        <p:spPr>
          <a:xfrm>
            <a:off x="2249424" y="4020617"/>
            <a:ext cx="2304288" cy="164592"/>
          </a:xfrm>
          <a:prstGeom prst="rect">
            <a:avLst/>
          </a:prstGeom>
          <a:noFill/>
          <a:ln/>
        </p:spPr>
        <p:txBody>
          <a:bodyPr wrap="square" lIns="0" tIns="0" rIns="0" bIns="0" rtlCol="0" anchor="ctr"/>
          <a:lstStyle/>
          <a:p>
            <a:pPr marL="0" indent="0">
              <a:buNone/>
            </a:pPr>
            <a:r>
              <a:rPr lang="en-US" sz="1160" b="1" dirty="0">
                <a:solidFill>
                  <a:srgbClr val="22313B"/>
                </a:solidFill>
                <a:latin typeface="Helvetica Neue" pitchFamily="34" charset="0"/>
                <a:ea typeface="Helvetica Neue" pitchFamily="34" charset="-122"/>
                <a:cs typeface="Helvetica Neue" pitchFamily="34" charset="-120"/>
              </a:rPr>
              <a:t>TileDB wins if gzip is required</a:t>
            </a:r>
            <a:endParaRPr lang="en-US" sz="1160" dirty="0"/>
          </a:p>
        </p:txBody>
      </p:sp>
      <p:sp>
        <p:nvSpPr>
          <p:cNvPr id="16" name="Shape 14"/>
          <p:cNvSpPr/>
          <p:nvPr/>
        </p:nvSpPr>
        <p:spPr>
          <a:xfrm>
            <a:off x="1115568" y="4645152"/>
            <a:ext cx="3794760" cy="749808"/>
          </a:xfrm>
          <a:prstGeom prst="roundRect">
            <a:avLst>
              <a:gd name="adj" fmla="val 9756"/>
            </a:avLst>
          </a:prstGeom>
          <a:solidFill>
            <a:srgbClr val="D7E3EB"/>
          </a:solidFill>
          <a:ln w="12700">
            <a:solidFill>
              <a:srgbClr val="D9CCBC"/>
            </a:solidFill>
            <a:prstDash val="solid"/>
          </a:ln>
        </p:spPr>
        <p:txBody>
          <a:bodyPr/>
          <a:lstStyle/>
          <a:p>
            <a:endParaRPr lang="en-US"/>
          </a:p>
        </p:txBody>
      </p:sp>
      <p:sp>
        <p:nvSpPr>
          <p:cNvPr id="17" name="Shape 15"/>
          <p:cNvSpPr/>
          <p:nvPr/>
        </p:nvSpPr>
        <p:spPr>
          <a:xfrm>
            <a:off x="1280160" y="4937760"/>
            <a:ext cx="804672" cy="219456"/>
          </a:xfrm>
          <a:prstGeom prst="roundRect">
            <a:avLst>
              <a:gd name="adj" fmla="val 20833"/>
            </a:avLst>
          </a:prstGeom>
          <a:solidFill>
            <a:srgbClr val="B9CAD7"/>
          </a:solidFill>
          <a:ln w="12700">
            <a:solidFill>
              <a:srgbClr val="B9CAD7">
                <a:alpha val="0"/>
              </a:srgbClr>
            </a:solidFill>
            <a:prstDash val="solid"/>
          </a:ln>
        </p:spPr>
        <p:txBody>
          <a:bodyPr/>
          <a:lstStyle/>
          <a:p>
            <a:endParaRPr lang="en-US"/>
          </a:p>
        </p:txBody>
      </p:sp>
      <p:sp>
        <p:nvSpPr>
          <p:cNvPr id="18" name="Text 16"/>
          <p:cNvSpPr/>
          <p:nvPr/>
        </p:nvSpPr>
        <p:spPr>
          <a:xfrm>
            <a:off x="1280160" y="4983480"/>
            <a:ext cx="804672" cy="128016"/>
          </a:xfrm>
          <a:prstGeom prst="rect">
            <a:avLst/>
          </a:prstGeom>
          <a:noFill/>
          <a:ln/>
        </p:spPr>
        <p:txBody>
          <a:bodyPr wrap="square" lIns="0" tIns="0" rIns="0" bIns="0" rtlCol="0" anchor="ctr"/>
          <a:lstStyle/>
          <a:p>
            <a:pPr marL="0" indent="0" algn="ctr">
              <a:buNone/>
            </a:pPr>
            <a:r>
              <a:rPr lang="en-US" sz="780" b="1" dirty="0">
                <a:solidFill>
                  <a:srgbClr val="22313B"/>
                </a:solidFill>
                <a:latin typeface="Helvetica Neue" pitchFamily="34" charset="0"/>
                <a:ea typeface="Helvetica Neue" pitchFamily="34" charset="-122"/>
                <a:cs typeface="Helvetica Neue" pitchFamily="34" charset="-120"/>
              </a:rPr>
              <a:t>Product fit</a:t>
            </a:r>
            <a:endParaRPr lang="en-US" sz="780" dirty="0"/>
          </a:p>
        </p:txBody>
      </p:sp>
      <p:sp>
        <p:nvSpPr>
          <p:cNvPr id="19" name="Text 17"/>
          <p:cNvSpPr/>
          <p:nvPr/>
        </p:nvSpPr>
        <p:spPr>
          <a:xfrm>
            <a:off x="2249424" y="4969764"/>
            <a:ext cx="2304288" cy="173736"/>
          </a:xfrm>
          <a:prstGeom prst="rect">
            <a:avLst/>
          </a:prstGeom>
          <a:noFill/>
          <a:ln/>
        </p:spPr>
        <p:txBody>
          <a:bodyPr wrap="square" lIns="0" tIns="0" rIns="0" bIns="0" rtlCol="0" anchor="ctr"/>
          <a:lstStyle/>
          <a:p>
            <a:pPr marL="0" indent="0">
              <a:buNone/>
            </a:pPr>
            <a:r>
              <a:rPr lang="en-US" sz="1160" b="1" dirty="0">
                <a:solidFill>
                  <a:srgbClr val="22313B"/>
                </a:solidFill>
                <a:latin typeface="Helvetica Neue" pitchFamily="34" charset="0"/>
                <a:ea typeface="Helvetica Neue" pitchFamily="34" charset="-122"/>
                <a:cs typeface="Helvetica Neue" pitchFamily="34" charset="-120"/>
              </a:rPr>
              <a:t>Best fit for latency-first product access</a:t>
            </a:r>
            <a:endParaRPr lang="en-US" sz="1160" dirty="0"/>
          </a:p>
        </p:txBody>
      </p:sp>
      <p:sp>
        <p:nvSpPr>
          <p:cNvPr id="20" name="Shape 18"/>
          <p:cNvSpPr/>
          <p:nvPr/>
        </p:nvSpPr>
        <p:spPr>
          <a:xfrm>
            <a:off x="5212080" y="2523744"/>
            <a:ext cx="5440680" cy="3255264"/>
          </a:xfrm>
          <a:prstGeom prst="roundRect">
            <a:avLst>
              <a:gd name="adj" fmla="val 2247"/>
            </a:avLst>
          </a:prstGeom>
          <a:solidFill>
            <a:srgbClr val="FFFFFF"/>
          </a:solidFill>
          <a:ln w="12700">
            <a:solidFill>
              <a:srgbClr val="D9CCBC"/>
            </a:solidFill>
            <a:prstDash val="solid"/>
          </a:ln>
        </p:spPr>
        <p:txBody>
          <a:bodyPr/>
          <a:lstStyle/>
          <a:p>
            <a:endParaRPr lang="en-US"/>
          </a:p>
        </p:txBody>
      </p:sp>
      <p:sp>
        <p:nvSpPr>
          <p:cNvPr id="21" name="Text 19"/>
          <p:cNvSpPr/>
          <p:nvPr/>
        </p:nvSpPr>
        <p:spPr>
          <a:xfrm>
            <a:off x="5449824" y="2706624"/>
            <a:ext cx="1554480" cy="164592"/>
          </a:xfrm>
          <a:prstGeom prst="rect">
            <a:avLst/>
          </a:prstGeom>
          <a:noFill/>
          <a:ln/>
        </p:spPr>
        <p:txBody>
          <a:bodyPr wrap="square" lIns="0" tIns="0" rIns="0" bIns="0" rtlCol="0" anchor="ctr"/>
          <a:lstStyle/>
          <a:p>
            <a:pPr marL="0" indent="0">
              <a:buNone/>
            </a:pPr>
            <a:r>
              <a:rPr lang="en-US" sz="1020" b="1" dirty="0">
                <a:solidFill>
                  <a:srgbClr val="B8874F"/>
                </a:solidFill>
                <a:latin typeface="Helvetica Neue" pitchFamily="34" charset="0"/>
                <a:ea typeface="Helvetica Neue" pitchFamily="34" charset="-122"/>
                <a:cs typeface="Helvetica Neue" pitchFamily="34" charset="-120"/>
              </a:rPr>
              <a:t>Slice latency only</a:t>
            </a:r>
            <a:endParaRPr lang="en-US" sz="1020" dirty="0"/>
          </a:p>
        </p:txBody>
      </p:sp>
      <p:sp>
        <p:nvSpPr>
          <p:cNvPr id="22" name="Text 20"/>
          <p:cNvSpPr/>
          <p:nvPr/>
        </p:nvSpPr>
        <p:spPr>
          <a:xfrm>
            <a:off x="5449824" y="2907792"/>
            <a:ext cx="3108960" cy="146304"/>
          </a:xfrm>
          <a:prstGeom prst="rect">
            <a:avLst/>
          </a:prstGeom>
          <a:noFill/>
          <a:ln/>
        </p:spPr>
        <p:txBody>
          <a:bodyPr wrap="square" lIns="0" tIns="0" rIns="0" bIns="0" rtlCol="0" anchor="ctr"/>
          <a:lstStyle/>
          <a:p>
            <a:pPr marL="0" indent="0">
              <a:buNone/>
            </a:pPr>
            <a:r>
              <a:rPr lang="en-US" sz="940" dirty="0">
                <a:solidFill>
                  <a:srgbClr val="53626C"/>
                </a:solidFill>
                <a:latin typeface="Helvetica Neue" pitchFamily="34" charset="0"/>
                <a:ea typeface="Helvetica Neue" pitchFamily="34" charset="-122"/>
                <a:cs typeface="Helvetica Neue" pitchFamily="34" charset="-120"/>
              </a:rPr>
              <a:t>Top half of the benchmark chart. Lower is better.</a:t>
            </a:r>
            <a:endParaRPr lang="en-US" sz="940" dirty="0"/>
          </a:p>
        </p:txBody>
      </p:sp>
      <p:sp>
        <p:nvSpPr>
          <p:cNvPr id="23" name="Shape 21"/>
          <p:cNvSpPr/>
          <p:nvPr/>
        </p:nvSpPr>
        <p:spPr>
          <a:xfrm>
            <a:off x="9345168" y="2697480"/>
            <a:ext cx="164592" cy="109728"/>
          </a:xfrm>
          <a:prstGeom prst="roundRect">
            <a:avLst>
              <a:gd name="adj" fmla="val 25000"/>
            </a:avLst>
          </a:prstGeom>
          <a:solidFill>
            <a:srgbClr val="4E79A7"/>
          </a:solidFill>
          <a:ln w="12700">
            <a:solidFill>
              <a:srgbClr val="4E79A7">
                <a:alpha val="0"/>
              </a:srgbClr>
            </a:solidFill>
            <a:prstDash val="solid"/>
          </a:ln>
        </p:spPr>
        <p:txBody>
          <a:bodyPr/>
          <a:lstStyle/>
          <a:p>
            <a:endParaRPr lang="en-US"/>
          </a:p>
        </p:txBody>
      </p:sp>
      <p:sp>
        <p:nvSpPr>
          <p:cNvPr id="24" name="Text 22"/>
          <p:cNvSpPr/>
          <p:nvPr/>
        </p:nvSpPr>
        <p:spPr>
          <a:xfrm>
            <a:off x="9564624" y="2683764"/>
            <a:ext cx="384048" cy="128016"/>
          </a:xfrm>
          <a:prstGeom prst="rect">
            <a:avLst/>
          </a:prstGeom>
          <a:noFill/>
          <a:ln/>
        </p:spPr>
        <p:txBody>
          <a:bodyPr wrap="square" lIns="0" tIns="0" rIns="0" bIns="0" rtlCol="0" anchor="ctr"/>
          <a:lstStyle/>
          <a:p>
            <a:pPr marL="0" indent="0">
              <a:buNone/>
            </a:pPr>
            <a:r>
              <a:rPr lang="en-US" sz="740" dirty="0">
                <a:solidFill>
                  <a:srgbClr val="22313B"/>
                </a:solidFill>
                <a:latin typeface="Helvetica Neue" pitchFamily="34" charset="0"/>
                <a:ea typeface="Helvetica Neue" pitchFamily="34" charset="-122"/>
                <a:cs typeface="Helvetica Neue" pitchFamily="34" charset="-120"/>
              </a:rPr>
              <a:t>gzip</a:t>
            </a:r>
            <a:endParaRPr lang="en-US" sz="740" dirty="0"/>
          </a:p>
        </p:txBody>
      </p:sp>
      <p:sp>
        <p:nvSpPr>
          <p:cNvPr id="25" name="Shape 23"/>
          <p:cNvSpPr/>
          <p:nvPr/>
        </p:nvSpPr>
        <p:spPr>
          <a:xfrm>
            <a:off x="9345168" y="2862072"/>
            <a:ext cx="164592" cy="109728"/>
          </a:xfrm>
          <a:prstGeom prst="roundRect">
            <a:avLst>
              <a:gd name="adj" fmla="val 25000"/>
            </a:avLst>
          </a:prstGeom>
          <a:solidFill>
            <a:srgbClr val="F28E2B"/>
          </a:solidFill>
          <a:ln w="12700">
            <a:solidFill>
              <a:srgbClr val="F28E2B">
                <a:alpha val="0"/>
              </a:srgbClr>
            </a:solidFill>
            <a:prstDash val="solid"/>
          </a:ln>
        </p:spPr>
        <p:txBody>
          <a:bodyPr/>
          <a:lstStyle/>
          <a:p>
            <a:endParaRPr lang="en-US"/>
          </a:p>
        </p:txBody>
      </p:sp>
      <p:sp>
        <p:nvSpPr>
          <p:cNvPr id="26" name="Text 24"/>
          <p:cNvSpPr/>
          <p:nvPr/>
        </p:nvSpPr>
        <p:spPr>
          <a:xfrm>
            <a:off x="9564624" y="2848356"/>
            <a:ext cx="384048" cy="128016"/>
          </a:xfrm>
          <a:prstGeom prst="rect">
            <a:avLst/>
          </a:prstGeom>
          <a:noFill/>
          <a:ln/>
        </p:spPr>
        <p:txBody>
          <a:bodyPr wrap="square" lIns="0" tIns="0" rIns="0" bIns="0" rtlCol="0" anchor="ctr"/>
          <a:lstStyle/>
          <a:p>
            <a:pPr marL="0" indent="0">
              <a:buNone/>
            </a:pPr>
            <a:r>
              <a:rPr lang="en-US" sz="740" dirty="0">
                <a:solidFill>
                  <a:srgbClr val="22313B"/>
                </a:solidFill>
                <a:latin typeface="Helvetica Neue" pitchFamily="34" charset="0"/>
                <a:ea typeface="Helvetica Neue" pitchFamily="34" charset="-122"/>
                <a:cs typeface="Helvetica Neue" pitchFamily="34" charset="-120"/>
              </a:rPr>
              <a:t>lz4</a:t>
            </a:r>
            <a:endParaRPr lang="en-US" sz="740" dirty="0"/>
          </a:p>
        </p:txBody>
      </p:sp>
      <p:sp>
        <p:nvSpPr>
          <p:cNvPr id="27" name="Shape 25"/>
          <p:cNvSpPr/>
          <p:nvPr/>
        </p:nvSpPr>
        <p:spPr>
          <a:xfrm>
            <a:off x="9345168" y="3026664"/>
            <a:ext cx="164592" cy="109728"/>
          </a:xfrm>
          <a:prstGeom prst="roundRect">
            <a:avLst>
              <a:gd name="adj" fmla="val 25000"/>
            </a:avLst>
          </a:prstGeom>
          <a:solidFill>
            <a:srgbClr val="59A14F"/>
          </a:solidFill>
          <a:ln w="12700">
            <a:solidFill>
              <a:srgbClr val="59A14F">
                <a:alpha val="0"/>
              </a:srgbClr>
            </a:solidFill>
            <a:prstDash val="solid"/>
          </a:ln>
        </p:spPr>
        <p:txBody>
          <a:bodyPr/>
          <a:lstStyle/>
          <a:p>
            <a:endParaRPr lang="en-US"/>
          </a:p>
        </p:txBody>
      </p:sp>
      <p:sp>
        <p:nvSpPr>
          <p:cNvPr id="28" name="Text 26"/>
          <p:cNvSpPr/>
          <p:nvPr/>
        </p:nvSpPr>
        <p:spPr>
          <a:xfrm>
            <a:off x="9564624" y="3012948"/>
            <a:ext cx="384048" cy="128016"/>
          </a:xfrm>
          <a:prstGeom prst="rect">
            <a:avLst/>
          </a:prstGeom>
          <a:noFill/>
          <a:ln/>
        </p:spPr>
        <p:txBody>
          <a:bodyPr wrap="square" lIns="0" tIns="0" rIns="0" bIns="0" rtlCol="0" anchor="ctr"/>
          <a:lstStyle/>
          <a:p>
            <a:pPr marL="0" indent="0">
              <a:buNone/>
            </a:pPr>
            <a:r>
              <a:rPr lang="en-US" sz="740" dirty="0">
                <a:solidFill>
                  <a:srgbClr val="22313B"/>
                </a:solidFill>
                <a:latin typeface="Helvetica Neue" pitchFamily="34" charset="0"/>
                <a:ea typeface="Helvetica Neue" pitchFamily="34" charset="-122"/>
                <a:cs typeface="Helvetica Neue" pitchFamily="34" charset="-120"/>
              </a:rPr>
              <a:t>zstd</a:t>
            </a:r>
            <a:endParaRPr lang="en-US" sz="740" dirty="0"/>
          </a:p>
        </p:txBody>
      </p:sp>
      <p:sp>
        <p:nvSpPr>
          <p:cNvPr id="29" name="Shape 27"/>
          <p:cNvSpPr/>
          <p:nvPr/>
        </p:nvSpPr>
        <p:spPr>
          <a:xfrm>
            <a:off x="6053328" y="5093208"/>
            <a:ext cx="4005072" cy="0"/>
          </a:xfrm>
          <a:prstGeom prst="line">
            <a:avLst/>
          </a:prstGeom>
          <a:noFill/>
          <a:ln w="12700">
            <a:solidFill>
              <a:srgbClr val="D8E0E8"/>
            </a:solidFill>
            <a:prstDash val="solid"/>
          </a:ln>
        </p:spPr>
        <p:txBody>
          <a:bodyPr/>
          <a:lstStyle/>
          <a:p>
            <a:endParaRPr lang="en-US"/>
          </a:p>
        </p:txBody>
      </p:sp>
      <p:sp>
        <p:nvSpPr>
          <p:cNvPr id="30" name="Text 28"/>
          <p:cNvSpPr/>
          <p:nvPr/>
        </p:nvSpPr>
        <p:spPr>
          <a:xfrm>
            <a:off x="5504688" y="5020056"/>
            <a:ext cx="438912" cy="146304"/>
          </a:xfrm>
          <a:prstGeom prst="rect">
            <a:avLst/>
          </a:prstGeom>
          <a:noFill/>
          <a:ln/>
        </p:spPr>
        <p:txBody>
          <a:bodyPr wrap="square" lIns="0" tIns="0" rIns="0" bIns="0" rtlCol="0" anchor="ctr"/>
          <a:lstStyle/>
          <a:p>
            <a:pPr marL="0" indent="0" algn="r">
              <a:buNone/>
            </a:pPr>
            <a:r>
              <a:rPr lang="en-US" sz="760" dirty="0">
                <a:solidFill>
                  <a:srgbClr val="53626C"/>
                </a:solidFill>
                <a:latin typeface="Helvetica Neue" pitchFamily="34" charset="0"/>
                <a:ea typeface="Helvetica Neue" pitchFamily="34" charset="-122"/>
                <a:cs typeface="Helvetica Neue" pitchFamily="34" charset="-120"/>
              </a:rPr>
              <a:t>0</a:t>
            </a:r>
            <a:endParaRPr lang="en-US" sz="760" dirty="0"/>
          </a:p>
        </p:txBody>
      </p:sp>
      <p:sp>
        <p:nvSpPr>
          <p:cNvPr id="31" name="Shape 29"/>
          <p:cNvSpPr/>
          <p:nvPr/>
        </p:nvSpPr>
        <p:spPr>
          <a:xfrm>
            <a:off x="6053328" y="4686808"/>
            <a:ext cx="4005072" cy="0"/>
          </a:xfrm>
          <a:prstGeom prst="line">
            <a:avLst/>
          </a:prstGeom>
          <a:noFill/>
          <a:ln w="12700">
            <a:solidFill>
              <a:srgbClr val="D8E0E8"/>
            </a:solidFill>
            <a:prstDash val="solid"/>
          </a:ln>
        </p:spPr>
        <p:txBody>
          <a:bodyPr/>
          <a:lstStyle/>
          <a:p>
            <a:endParaRPr lang="en-US"/>
          </a:p>
        </p:txBody>
      </p:sp>
      <p:sp>
        <p:nvSpPr>
          <p:cNvPr id="32" name="Text 30"/>
          <p:cNvSpPr/>
          <p:nvPr/>
        </p:nvSpPr>
        <p:spPr>
          <a:xfrm>
            <a:off x="5504688" y="4613656"/>
            <a:ext cx="438912" cy="146304"/>
          </a:xfrm>
          <a:prstGeom prst="rect">
            <a:avLst/>
          </a:prstGeom>
          <a:noFill/>
          <a:ln/>
        </p:spPr>
        <p:txBody>
          <a:bodyPr wrap="square" lIns="0" tIns="0" rIns="0" bIns="0" rtlCol="0" anchor="ctr"/>
          <a:lstStyle/>
          <a:p>
            <a:pPr marL="0" indent="0" algn="r">
              <a:buNone/>
            </a:pPr>
            <a:r>
              <a:rPr lang="en-US" sz="760" dirty="0">
                <a:solidFill>
                  <a:srgbClr val="53626C"/>
                </a:solidFill>
                <a:latin typeface="Helvetica Neue" pitchFamily="34" charset="0"/>
                <a:ea typeface="Helvetica Neue" pitchFamily="34" charset="-122"/>
                <a:cs typeface="Helvetica Neue" pitchFamily="34" charset="-120"/>
              </a:rPr>
              <a:t>100</a:t>
            </a:r>
            <a:endParaRPr lang="en-US" sz="760" dirty="0"/>
          </a:p>
        </p:txBody>
      </p:sp>
      <p:sp>
        <p:nvSpPr>
          <p:cNvPr id="33" name="Shape 31"/>
          <p:cNvSpPr/>
          <p:nvPr/>
        </p:nvSpPr>
        <p:spPr>
          <a:xfrm>
            <a:off x="6053328" y="4280408"/>
            <a:ext cx="4005072" cy="0"/>
          </a:xfrm>
          <a:prstGeom prst="line">
            <a:avLst/>
          </a:prstGeom>
          <a:noFill/>
          <a:ln w="12700">
            <a:solidFill>
              <a:srgbClr val="D8E0E8"/>
            </a:solidFill>
            <a:prstDash val="solid"/>
          </a:ln>
        </p:spPr>
        <p:txBody>
          <a:bodyPr/>
          <a:lstStyle/>
          <a:p>
            <a:endParaRPr lang="en-US"/>
          </a:p>
        </p:txBody>
      </p:sp>
      <p:sp>
        <p:nvSpPr>
          <p:cNvPr id="34" name="Text 32"/>
          <p:cNvSpPr/>
          <p:nvPr/>
        </p:nvSpPr>
        <p:spPr>
          <a:xfrm>
            <a:off x="5504688" y="4207256"/>
            <a:ext cx="438912" cy="146304"/>
          </a:xfrm>
          <a:prstGeom prst="rect">
            <a:avLst/>
          </a:prstGeom>
          <a:noFill/>
          <a:ln/>
        </p:spPr>
        <p:txBody>
          <a:bodyPr wrap="square" lIns="0" tIns="0" rIns="0" bIns="0" rtlCol="0" anchor="ctr"/>
          <a:lstStyle/>
          <a:p>
            <a:pPr marL="0" indent="0" algn="r">
              <a:buNone/>
            </a:pPr>
            <a:r>
              <a:rPr lang="en-US" sz="760" dirty="0">
                <a:solidFill>
                  <a:srgbClr val="53626C"/>
                </a:solidFill>
                <a:latin typeface="Helvetica Neue" pitchFamily="34" charset="0"/>
                <a:ea typeface="Helvetica Neue" pitchFamily="34" charset="-122"/>
                <a:cs typeface="Helvetica Neue" pitchFamily="34" charset="-120"/>
              </a:rPr>
              <a:t>200</a:t>
            </a:r>
            <a:endParaRPr lang="en-US" sz="760" dirty="0"/>
          </a:p>
        </p:txBody>
      </p:sp>
      <p:sp>
        <p:nvSpPr>
          <p:cNvPr id="35" name="Shape 33"/>
          <p:cNvSpPr/>
          <p:nvPr/>
        </p:nvSpPr>
        <p:spPr>
          <a:xfrm>
            <a:off x="6053328" y="3874008"/>
            <a:ext cx="4005072" cy="0"/>
          </a:xfrm>
          <a:prstGeom prst="line">
            <a:avLst/>
          </a:prstGeom>
          <a:noFill/>
          <a:ln w="12700">
            <a:solidFill>
              <a:srgbClr val="D8E0E8"/>
            </a:solidFill>
            <a:prstDash val="solid"/>
          </a:ln>
        </p:spPr>
        <p:txBody>
          <a:bodyPr/>
          <a:lstStyle/>
          <a:p>
            <a:endParaRPr lang="en-US"/>
          </a:p>
        </p:txBody>
      </p:sp>
      <p:sp>
        <p:nvSpPr>
          <p:cNvPr id="36" name="Text 34"/>
          <p:cNvSpPr/>
          <p:nvPr/>
        </p:nvSpPr>
        <p:spPr>
          <a:xfrm>
            <a:off x="5504688" y="3800856"/>
            <a:ext cx="438912" cy="146304"/>
          </a:xfrm>
          <a:prstGeom prst="rect">
            <a:avLst/>
          </a:prstGeom>
          <a:noFill/>
          <a:ln/>
        </p:spPr>
        <p:txBody>
          <a:bodyPr wrap="square" lIns="0" tIns="0" rIns="0" bIns="0" rtlCol="0" anchor="ctr"/>
          <a:lstStyle/>
          <a:p>
            <a:pPr marL="0" indent="0" algn="r">
              <a:buNone/>
            </a:pPr>
            <a:r>
              <a:rPr lang="en-US" sz="760" dirty="0">
                <a:solidFill>
                  <a:srgbClr val="53626C"/>
                </a:solidFill>
                <a:latin typeface="Helvetica Neue" pitchFamily="34" charset="0"/>
                <a:ea typeface="Helvetica Neue" pitchFamily="34" charset="-122"/>
                <a:cs typeface="Helvetica Neue" pitchFamily="34" charset="-120"/>
              </a:rPr>
              <a:t>300</a:t>
            </a:r>
            <a:endParaRPr lang="en-US" sz="760" dirty="0"/>
          </a:p>
        </p:txBody>
      </p:sp>
      <p:sp>
        <p:nvSpPr>
          <p:cNvPr id="37" name="Shape 35"/>
          <p:cNvSpPr/>
          <p:nvPr/>
        </p:nvSpPr>
        <p:spPr>
          <a:xfrm>
            <a:off x="6053328" y="3467608"/>
            <a:ext cx="4005072" cy="0"/>
          </a:xfrm>
          <a:prstGeom prst="line">
            <a:avLst/>
          </a:prstGeom>
          <a:noFill/>
          <a:ln w="12700">
            <a:solidFill>
              <a:srgbClr val="D8E0E8"/>
            </a:solidFill>
            <a:prstDash val="solid"/>
          </a:ln>
        </p:spPr>
        <p:txBody>
          <a:bodyPr/>
          <a:lstStyle/>
          <a:p>
            <a:endParaRPr lang="en-US"/>
          </a:p>
        </p:txBody>
      </p:sp>
      <p:sp>
        <p:nvSpPr>
          <p:cNvPr id="38" name="Text 36"/>
          <p:cNvSpPr/>
          <p:nvPr/>
        </p:nvSpPr>
        <p:spPr>
          <a:xfrm>
            <a:off x="5504688" y="3394456"/>
            <a:ext cx="438912" cy="146304"/>
          </a:xfrm>
          <a:prstGeom prst="rect">
            <a:avLst/>
          </a:prstGeom>
          <a:noFill/>
          <a:ln/>
        </p:spPr>
        <p:txBody>
          <a:bodyPr wrap="square" lIns="0" tIns="0" rIns="0" bIns="0" rtlCol="0" anchor="ctr"/>
          <a:lstStyle/>
          <a:p>
            <a:pPr marL="0" indent="0" algn="r">
              <a:buNone/>
            </a:pPr>
            <a:r>
              <a:rPr lang="en-US" sz="760" dirty="0">
                <a:solidFill>
                  <a:srgbClr val="53626C"/>
                </a:solidFill>
                <a:latin typeface="Helvetica Neue" pitchFamily="34" charset="0"/>
                <a:ea typeface="Helvetica Neue" pitchFamily="34" charset="-122"/>
                <a:cs typeface="Helvetica Neue" pitchFamily="34" charset="-120"/>
              </a:rPr>
              <a:t>400</a:t>
            </a:r>
            <a:endParaRPr lang="en-US" sz="760" dirty="0"/>
          </a:p>
        </p:txBody>
      </p:sp>
      <p:pic>
        <p:nvPicPr>
          <p:cNvPr id="39"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449824" y="3529584"/>
            <a:ext cx="182880" cy="1389888"/>
          </a:xfrm>
          <a:prstGeom prst="rect">
            <a:avLst/>
          </a:prstGeom>
        </p:spPr>
      </p:pic>
      <p:sp>
        <p:nvSpPr>
          <p:cNvPr id="40" name="Shape 37"/>
          <p:cNvSpPr/>
          <p:nvPr/>
        </p:nvSpPr>
        <p:spPr>
          <a:xfrm>
            <a:off x="6053328" y="3264408"/>
            <a:ext cx="0" cy="1828800"/>
          </a:xfrm>
          <a:prstGeom prst="line">
            <a:avLst/>
          </a:prstGeom>
          <a:noFill/>
          <a:ln w="12700">
            <a:solidFill>
              <a:srgbClr val="22313B"/>
            </a:solidFill>
            <a:prstDash val="solid"/>
          </a:ln>
        </p:spPr>
        <p:txBody>
          <a:bodyPr/>
          <a:lstStyle/>
          <a:p>
            <a:endParaRPr lang="en-US"/>
          </a:p>
        </p:txBody>
      </p:sp>
      <p:sp>
        <p:nvSpPr>
          <p:cNvPr id="41" name="Shape 38"/>
          <p:cNvSpPr/>
          <p:nvPr/>
        </p:nvSpPr>
        <p:spPr>
          <a:xfrm>
            <a:off x="6053328" y="5093208"/>
            <a:ext cx="4005072" cy="0"/>
          </a:xfrm>
          <a:prstGeom prst="line">
            <a:avLst/>
          </a:prstGeom>
          <a:noFill/>
          <a:ln w="12700">
            <a:solidFill>
              <a:srgbClr val="22313B"/>
            </a:solidFill>
            <a:prstDash val="solid"/>
          </a:ln>
        </p:spPr>
        <p:txBody>
          <a:bodyPr/>
          <a:lstStyle/>
          <a:p>
            <a:endParaRPr lang="en-US"/>
          </a:p>
        </p:txBody>
      </p:sp>
      <p:sp>
        <p:nvSpPr>
          <p:cNvPr id="42" name="Shape 39"/>
          <p:cNvSpPr/>
          <p:nvPr/>
        </p:nvSpPr>
        <p:spPr>
          <a:xfrm>
            <a:off x="6199632" y="4113052"/>
            <a:ext cx="146304" cy="980156"/>
          </a:xfrm>
          <a:prstGeom prst="rect">
            <a:avLst/>
          </a:prstGeom>
          <a:solidFill>
            <a:srgbClr val="4E79A7"/>
          </a:solidFill>
          <a:ln w="12700">
            <a:solidFill>
              <a:srgbClr val="4E79A7">
                <a:alpha val="0"/>
              </a:srgbClr>
            </a:solidFill>
            <a:prstDash val="solid"/>
          </a:ln>
        </p:spPr>
        <p:txBody>
          <a:bodyPr/>
          <a:lstStyle/>
          <a:p>
            <a:endParaRPr lang="en-US"/>
          </a:p>
        </p:txBody>
      </p:sp>
      <p:sp>
        <p:nvSpPr>
          <p:cNvPr id="43" name="Shape 40"/>
          <p:cNvSpPr/>
          <p:nvPr/>
        </p:nvSpPr>
        <p:spPr>
          <a:xfrm>
            <a:off x="6272784" y="4069324"/>
            <a:ext cx="0" cy="82540"/>
          </a:xfrm>
          <a:prstGeom prst="line">
            <a:avLst/>
          </a:prstGeom>
          <a:noFill/>
          <a:ln w="12700">
            <a:solidFill>
              <a:srgbClr val="22313B"/>
            </a:solidFill>
            <a:prstDash val="solid"/>
          </a:ln>
        </p:spPr>
        <p:txBody>
          <a:bodyPr/>
          <a:lstStyle/>
          <a:p>
            <a:endParaRPr lang="en-US"/>
          </a:p>
        </p:txBody>
      </p:sp>
      <p:sp>
        <p:nvSpPr>
          <p:cNvPr id="44" name="Shape 41"/>
          <p:cNvSpPr/>
          <p:nvPr/>
        </p:nvSpPr>
        <p:spPr>
          <a:xfrm>
            <a:off x="6236208" y="4069324"/>
            <a:ext cx="73152" cy="0"/>
          </a:xfrm>
          <a:prstGeom prst="line">
            <a:avLst/>
          </a:prstGeom>
          <a:noFill/>
          <a:ln w="12700">
            <a:solidFill>
              <a:srgbClr val="22313B"/>
            </a:solidFill>
            <a:prstDash val="solid"/>
          </a:ln>
        </p:spPr>
        <p:txBody>
          <a:bodyPr/>
          <a:lstStyle/>
          <a:p>
            <a:endParaRPr lang="en-US"/>
          </a:p>
        </p:txBody>
      </p:sp>
      <p:sp>
        <p:nvSpPr>
          <p:cNvPr id="45" name="Shape 42"/>
          <p:cNvSpPr/>
          <p:nvPr/>
        </p:nvSpPr>
        <p:spPr>
          <a:xfrm>
            <a:off x="6236208" y="4151864"/>
            <a:ext cx="73152" cy="0"/>
          </a:xfrm>
          <a:prstGeom prst="line">
            <a:avLst/>
          </a:prstGeom>
          <a:noFill/>
          <a:ln w="12700">
            <a:solidFill>
              <a:srgbClr val="22313B"/>
            </a:solidFill>
            <a:prstDash val="solid"/>
          </a:ln>
        </p:spPr>
        <p:txBody>
          <a:bodyPr/>
          <a:lstStyle/>
          <a:p>
            <a:endParaRPr lang="en-US"/>
          </a:p>
        </p:txBody>
      </p:sp>
      <p:sp>
        <p:nvSpPr>
          <p:cNvPr id="46" name="Shape 43"/>
          <p:cNvSpPr/>
          <p:nvPr/>
        </p:nvSpPr>
        <p:spPr>
          <a:xfrm>
            <a:off x="6391656" y="4189578"/>
            <a:ext cx="146304" cy="903630"/>
          </a:xfrm>
          <a:prstGeom prst="rect">
            <a:avLst/>
          </a:prstGeom>
          <a:solidFill>
            <a:srgbClr val="F28E2B"/>
          </a:solidFill>
          <a:ln w="12700">
            <a:solidFill>
              <a:srgbClr val="F28E2B">
                <a:alpha val="0"/>
              </a:srgbClr>
            </a:solidFill>
            <a:prstDash val="solid"/>
          </a:ln>
        </p:spPr>
        <p:txBody>
          <a:bodyPr/>
          <a:lstStyle/>
          <a:p>
            <a:endParaRPr lang="en-US"/>
          </a:p>
        </p:txBody>
      </p:sp>
      <p:sp>
        <p:nvSpPr>
          <p:cNvPr id="47" name="Shape 44"/>
          <p:cNvSpPr/>
          <p:nvPr/>
        </p:nvSpPr>
        <p:spPr>
          <a:xfrm>
            <a:off x="6464808" y="4160398"/>
            <a:ext cx="0" cy="59294"/>
          </a:xfrm>
          <a:prstGeom prst="line">
            <a:avLst/>
          </a:prstGeom>
          <a:noFill/>
          <a:ln w="12700">
            <a:solidFill>
              <a:srgbClr val="22313B"/>
            </a:solidFill>
            <a:prstDash val="solid"/>
          </a:ln>
        </p:spPr>
        <p:txBody>
          <a:bodyPr/>
          <a:lstStyle/>
          <a:p>
            <a:endParaRPr lang="en-US"/>
          </a:p>
        </p:txBody>
      </p:sp>
      <p:sp>
        <p:nvSpPr>
          <p:cNvPr id="48" name="Shape 45"/>
          <p:cNvSpPr/>
          <p:nvPr/>
        </p:nvSpPr>
        <p:spPr>
          <a:xfrm>
            <a:off x="6428232" y="4160398"/>
            <a:ext cx="73152" cy="0"/>
          </a:xfrm>
          <a:prstGeom prst="line">
            <a:avLst/>
          </a:prstGeom>
          <a:noFill/>
          <a:ln w="12700">
            <a:solidFill>
              <a:srgbClr val="22313B"/>
            </a:solidFill>
            <a:prstDash val="solid"/>
          </a:ln>
        </p:spPr>
        <p:txBody>
          <a:bodyPr/>
          <a:lstStyle/>
          <a:p>
            <a:endParaRPr lang="en-US"/>
          </a:p>
        </p:txBody>
      </p:sp>
      <p:sp>
        <p:nvSpPr>
          <p:cNvPr id="49" name="Shape 46"/>
          <p:cNvSpPr/>
          <p:nvPr/>
        </p:nvSpPr>
        <p:spPr>
          <a:xfrm>
            <a:off x="6428232" y="4219692"/>
            <a:ext cx="73152" cy="0"/>
          </a:xfrm>
          <a:prstGeom prst="line">
            <a:avLst/>
          </a:prstGeom>
          <a:noFill/>
          <a:ln w="12700">
            <a:solidFill>
              <a:srgbClr val="22313B"/>
            </a:solidFill>
            <a:prstDash val="solid"/>
          </a:ln>
        </p:spPr>
        <p:txBody>
          <a:bodyPr/>
          <a:lstStyle/>
          <a:p>
            <a:endParaRPr lang="en-US"/>
          </a:p>
        </p:txBody>
      </p:sp>
      <p:sp>
        <p:nvSpPr>
          <p:cNvPr id="50" name="Shape 47"/>
          <p:cNvSpPr/>
          <p:nvPr/>
        </p:nvSpPr>
        <p:spPr>
          <a:xfrm>
            <a:off x="6583680" y="4239768"/>
            <a:ext cx="146304" cy="853440"/>
          </a:xfrm>
          <a:prstGeom prst="rect">
            <a:avLst/>
          </a:prstGeom>
          <a:solidFill>
            <a:srgbClr val="59A14F"/>
          </a:solidFill>
          <a:ln w="12700">
            <a:solidFill>
              <a:srgbClr val="59A14F">
                <a:alpha val="0"/>
              </a:srgbClr>
            </a:solidFill>
            <a:prstDash val="solid"/>
          </a:ln>
        </p:spPr>
        <p:txBody>
          <a:bodyPr/>
          <a:lstStyle/>
          <a:p>
            <a:endParaRPr lang="en-US"/>
          </a:p>
        </p:txBody>
      </p:sp>
      <p:sp>
        <p:nvSpPr>
          <p:cNvPr id="51" name="Shape 48"/>
          <p:cNvSpPr/>
          <p:nvPr/>
        </p:nvSpPr>
        <p:spPr>
          <a:xfrm>
            <a:off x="6656832" y="4218635"/>
            <a:ext cx="0" cy="40965"/>
          </a:xfrm>
          <a:prstGeom prst="line">
            <a:avLst/>
          </a:prstGeom>
          <a:noFill/>
          <a:ln w="12700">
            <a:solidFill>
              <a:srgbClr val="22313B"/>
            </a:solidFill>
            <a:prstDash val="solid"/>
          </a:ln>
        </p:spPr>
        <p:txBody>
          <a:bodyPr/>
          <a:lstStyle/>
          <a:p>
            <a:endParaRPr lang="en-US"/>
          </a:p>
        </p:txBody>
      </p:sp>
      <p:sp>
        <p:nvSpPr>
          <p:cNvPr id="52" name="Shape 49"/>
          <p:cNvSpPr/>
          <p:nvPr/>
        </p:nvSpPr>
        <p:spPr>
          <a:xfrm>
            <a:off x="6620256" y="4218635"/>
            <a:ext cx="73152" cy="0"/>
          </a:xfrm>
          <a:prstGeom prst="line">
            <a:avLst/>
          </a:prstGeom>
          <a:noFill/>
          <a:ln w="12700">
            <a:solidFill>
              <a:srgbClr val="22313B"/>
            </a:solidFill>
            <a:prstDash val="solid"/>
          </a:ln>
        </p:spPr>
        <p:txBody>
          <a:bodyPr/>
          <a:lstStyle/>
          <a:p>
            <a:endParaRPr lang="en-US"/>
          </a:p>
        </p:txBody>
      </p:sp>
      <p:sp>
        <p:nvSpPr>
          <p:cNvPr id="53" name="Shape 50"/>
          <p:cNvSpPr/>
          <p:nvPr/>
        </p:nvSpPr>
        <p:spPr>
          <a:xfrm>
            <a:off x="6620256" y="4259600"/>
            <a:ext cx="73152" cy="0"/>
          </a:xfrm>
          <a:prstGeom prst="line">
            <a:avLst/>
          </a:prstGeom>
          <a:noFill/>
          <a:ln w="12700">
            <a:solidFill>
              <a:srgbClr val="22313B"/>
            </a:solidFill>
            <a:prstDash val="solid"/>
          </a:ln>
        </p:spPr>
        <p:txBody>
          <a:bodyPr/>
          <a:lstStyle/>
          <a:p>
            <a:endParaRPr lang="en-US"/>
          </a:p>
        </p:txBody>
      </p:sp>
      <p:sp>
        <p:nvSpPr>
          <p:cNvPr id="54" name="Text 51"/>
          <p:cNvSpPr/>
          <p:nvPr/>
        </p:nvSpPr>
        <p:spPr>
          <a:xfrm>
            <a:off x="6126480" y="5175504"/>
            <a:ext cx="768096" cy="146304"/>
          </a:xfrm>
          <a:prstGeom prst="rect">
            <a:avLst/>
          </a:prstGeom>
          <a:noFill/>
          <a:ln/>
        </p:spPr>
        <p:txBody>
          <a:bodyPr wrap="square" lIns="0" tIns="0" rIns="0" bIns="0" rtlCol="0" anchor="ctr"/>
          <a:lstStyle/>
          <a:p>
            <a:pPr marL="0" indent="0" algn="ctr">
              <a:buNone/>
            </a:pPr>
            <a:r>
              <a:rPr lang="en-US" sz="810" dirty="0">
                <a:solidFill>
                  <a:srgbClr val="22313B"/>
                </a:solidFill>
                <a:latin typeface="Helvetica Neue" pitchFamily="34" charset="0"/>
                <a:ea typeface="Helvetica Neue" pitchFamily="34" charset="-122"/>
                <a:cs typeface="Helvetica Neue" pitchFamily="34" charset="-120"/>
              </a:rPr>
              <a:t>hdf5</a:t>
            </a:r>
            <a:endParaRPr lang="en-US" sz="810" dirty="0"/>
          </a:p>
        </p:txBody>
      </p:sp>
      <p:sp>
        <p:nvSpPr>
          <p:cNvPr id="55" name="Shape 52"/>
          <p:cNvSpPr/>
          <p:nvPr/>
        </p:nvSpPr>
        <p:spPr>
          <a:xfrm>
            <a:off x="7168896" y="4161333"/>
            <a:ext cx="146304" cy="931875"/>
          </a:xfrm>
          <a:prstGeom prst="rect">
            <a:avLst/>
          </a:prstGeom>
          <a:solidFill>
            <a:srgbClr val="4E79A7"/>
          </a:solidFill>
          <a:ln w="12700">
            <a:solidFill>
              <a:srgbClr val="4E79A7">
                <a:alpha val="0"/>
              </a:srgbClr>
            </a:solidFill>
            <a:prstDash val="solid"/>
          </a:ln>
        </p:spPr>
        <p:txBody>
          <a:bodyPr/>
          <a:lstStyle/>
          <a:p>
            <a:endParaRPr lang="en-US"/>
          </a:p>
        </p:txBody>
      </p:sp>
      <p:sp>
        <p:nvSpPr>
          <p:cNvPr id="56" name="Shape 53"/>
          <p:cNvSpPr/>
          <p:nvPr/>
        </p:nvSpPr>
        <p:spPr>
          <a:xfrm>
            <a:off x="7242048" y="4132519"/>
            <a:ext cx="0" cy="55555"/>
          </a:xfrm>
          <a:prstGeom prst="line">
            <a:avLst/>
          </a:prstGeom>
          <a:noFill/>
          <a:ln w="12700">
            <a:solidFill>
              <a:srgbClr val="22313B"/>
            </a:solidFill>
            <a:prstDash val="solid"/>
          </a:ln>
        </p:spPr>
        <p:txBody>
          <a:bodyPr/>
          <a:lstStyle/>
          <a:p>
            <a:endParaRPr lang="en-US"/>
          </a:p>
        </p:txBody>
      </p:sp>
      <p:sp>
        <p:nvSpPr>
          <p:cNvPr id="57" name="Shape 54"/>
          <p:cNvSpPr/>
          <p:nvPr/>
        </p:nvSpPr>
        <p:spPr>
          <a:xfrm>
            <a:off x="7205472" y="4132519"/>
            <a:ext cx="73152" cy="0"/>
          </a:xfrm>
          <a:prstGeom prst="line">
            <a:avLst/>
          </a:prstGeom>
          <a:noFill/>
          <a:ln w="12700">
            <a:solidFill>
              <a:srgbClr val="22313B"/>
            </a:solidFill>
            <a:prstDash val="solid"/>
          </a:ln>
        </p:spPr>
        <p:txBody>
          <a:bodyPr/>
          <a:lstStyle/>
          <a:p>
            <a:endParaRPr lang="en-US"/>
          </a:p>
        </p:txBody>
      </p:sp>
      <p:sp>
        <p:nvSpPr>
          <p:cNvPr id="58" name="Shape 55"/>
          <p:cNvSpPr/>
          <p:nvPr/>
        </p:nvSpPr>
        <p:spPr>
          <a:xfrm>
            <a:off x="7205472" y="4188074"/>
            <a:ext cx="73152" cy="0"/>
          </a:xfrm>
          <a:prstGeom prst="line">
            <a:avLst/>
          </a:prstGeom>
          <a:noFill/>
          <a:ln w="12700">
            <a:solidFill>
              <a:srgbClr val="22313B"/>
            </a:solidFill>
            <a:prstDash val="solid"/>
          </a:ln>
        </p:spPr>
        <p:txBody>
          <a:bodyPr/>
          <a:lstStyle/>
          <a:p>
            <a:endParaRPr lang="en-US"/>
          </a:p>
        </p:txBody>
      </p:sp>
      <p:sp>
        <p:nvSpPr>
          <p:cNvPr id="59" name="Shape 56"/>
          <p:cNvSpPr/>
          <p:nvPr/>
        </p:nvSpPr>
        <p:spPr>
          <a:xfrm>
            <a:off x="7360920" y="4378594"/>
            <a:ext cx="146304" cy="714614"/>
          </a:xfrm>
          <a:prstGeom prst="rect">
            <a:avLst/>
          </a:prstGeom>
          <a:solidFill>
            <a:srgbClr val="F28E2B"/>
          </a:solidFill>
          <a:ln w="12700">
            <a:solidFill>
              <a:srgbClr val="F28E2B">
                <a:alpha val="0"/>
              </a:srgbClr>
            </a:solidFill>
            <a:prstDash val="solid"/>
          </a:ln>
        </p:spPr>
        <p:txBody>
          <a:bodyPr/>
          <a:lstStyle/>
          <a:p>
            <a:endParaRPr lang="en-US"/>
          </a:p>
        </p:txBody>
      </p:sp>
      <p:sp>
        <p:nvSpPr>
          <p:cNvPr id="60" name="Shape 57"/>
          <p:cNvSpPr/>
          <p:nvPr/>
        </p:nvSpPr>
        <p:spPr>
          <a:xfrm>
            <a:off x="7434072" y="4301663"/>
            <a:ext cx="0" cy="145938"/>
          </a:xfrm>
          <a:prstGeom prst="line">
            <a:avLst/>
          </a:prstGeom>
          <a:noFill/>
          <a:ln w="12700">
            <a:solidFill>
              <a:srgbClr val="22313B"/>
            </a:solidFill>
            <a:prstDash val="solid"/>
          </a:ln>
        </p:spPr>
        <p:txBody>
          <a:bodyPr/>
          <a:lstStyle/>
          <a:p>
            <a:endParaRPr lang="en-US"/>
          </a:p>
        </p:txBody>
      </p:sp>
      <p:sp>
        <p:nvSpPr>
          <p:cNvPr id="61" name="Shape 58"/>
          <p:cNvSpPr/>
          <p:nvPr/>
        </p:nvSpPr>
        <p:spPr>
          <a:xfrm>
            <a:off x="7397496" y="4301663"/>
            <a:ext cx="73152" cy="0"/>
          </a:xfrm>
          <a:prstGeom prst="line">
            <a:avLst/>
          </a:prstGeom>
          <a:noFill/>
          <a:ln w="12700">
            <a:solidFill>
              <a:srgbClr val="22313B"/>
            </a:solidFill>
            <a:prstDash val="solid"/>
          </a:ln>
        </p:spPr>
        <p:txBody>
          <a:bodyPr/>
          <a:lstStyle/>
          <a:p>
            <a:endParaRPr lang="en-US"/>
          </a:p>
        </p:txBody>
      </p:sp>
      <p:sp>
        <p:nvSpPr>
          <p:cNvPr id="62" name="Shape 59"/>
          <p:cNvSpPr/>
          <p:nvPr/>
        </p:nvSpPr>
        <p:spPr>
          <a:xfrm>
            <a:off x="7397496" y="4447601"/>
            <a:ext cx="73152" cy="0"/>
          </a:xfrm>
          <a:prstGeom prst="line">
            <a:avLst/>
          </a:prstGeom>
          <a:noFill/>
          <a:ln w="12700">
            <a:solidFill>
              <a:srgbClr val="22313B"/>
            </a:solidFill>
            <a:prstDash val="solid"/>
          </a:ln>
        </p:spPr>
        <p:txBody>
          <a:bodyPr/>
          <a:lstStyle/>
          <a:p>
            <a:endParaRPr lang="en-US"/>
          </a:p>
        </p:txBody>
      </p:sp>
      <p:sp>
        <p:nvSpPr>
          <p:cNvPr id="63" name="Shape 60"/>
          <p:cNvSpPr/>
          <p:nvPr/>
        </p:nvSpPr>
        <p:spPr>
          <a:xfrm>
            <a:off x="7552944" y="4462922"/>
            <a:ext cx="146304" cy="630286"/>
          </a:xfrm>
          <a:prstGeom prst="rect">
            <a:avLst/>
          </a:prstGeom>
          <a:solidFill>
            <a:srgbClr val="59A14F"/>
          </a:solidFill>
          <a:ln w="12700">
            <a:solidFill>
              <a:srgbClr val="59A14F">
                <a:alpha val="0"/>
              </a:srgbClr>
            </a:solidFill>
            <a:prstDash val="solid"/>
          </a:ln>
        </p:spPr>
        <p:txBody>
          <a:bodyPr/>
          <a:lstStyle/>
          <a:p>
            <a:endParaRPr lang="en-US"/>
          </a:p>
        </p:txBody>
      </p:sp>
      <p:sp>
        <p:nvSpPr>
          <p:cNvPr id="64" name="Shape 61"/>
          <p:cNvSpPr/>
          <p:nvPr/>
        </p:nvSpPr>
        <p:spPr>
          <a:xfrm>
            <a:off x="7626096" y="4435206"/>
            <a:ext cx="0" cy="51694"/>
          </a:xfrm>
          <a:prstGeom prst="line">
            <a:avLst/>
          </a:prstGeom>
          <a:noFill/>
          <a:ln w="12700">
            <a:solidFill>
              <a:srgbClr val="22313B"/>
            </a:solidFill>
            <a:prstDash val="solid"/>
          </a:ln>
        </p:spPr>
        <p:txBody>
          <a:bodyPr/>
          <a:lstStyle/>
          <a:p>
            <a:endParaRPr lang="en-US"/>
          </a:p>
        </p:txBody>
      </p:sp>
      <p:sp>
        <p:nvSpPr>
          <p:cNvPr id="65" name="Shape 62"/>
          <p:cNvSpPr/>
          <p:nvPr/>
        </p:nvSpPr>
        <p:spPr>
          <a:xfrm>
            <a:off x="7589520" y="4435206"/>
            <a:ext cx="73152" cy="0"/>
          </a:xfrm>
          <a:prstGeom prst="line">
            <a:avLst/>
          </a:prstGeom>
          <a:noFill/>
          <a:ln w="12700">
            <a:solidFill>
              <a:srgbClr val="22313B"/>
            </a:solidFill>
            <a:prstDash val="solid"/>
          </a:ln>
        </p:spPr>
        <p:txBody>
          <a:bodyPr/>
          <a:lstStyle/>
          <a:p>
            <a:endParaRPr lang="en-US"/>
          </a:p>
        </p:txBody>
      </p:sp>
      <p:sp>
        <p:nvSpPr>
          <p:cNvPr id="66" name="Shape 63"/>
          <p:cNvSpPr/>
          <p:nvPr/>
        </p:nvSpPr>
        <p:spPr>
          <a:xfrm>
            <a:off x="7589520" y="4486900"/>
            <a:ext cx="73152" cy="0"/>
          </a:xfrm>
          <a:prstGeom prst="line">
            <a:avLst/>
          </a:prstGeom>
          <a:noFill/>
          <a:ln w="12700">
            <a:solidFill>
              <a:srgbClr val="22313B"/>
            </a:solidFill>
            <a:prstDash val="solid"/>
          </a:ln>
        </p:spPr>
        <p:txBody>
          <a:bodyPr/>
          <a:lstStyle/>
          <a:p>
            <a:endParaRPr lang="en-US"/>
          </a:p>
        </p:txBody>
      </p:sp>
      <p:sp>
        <p:nvSpPr>
          <p:cNvPr id="67" name="Text 64"/>
          <p:cNvSpPr/>
          <p:nvPr/>
        </p:nvSpPr>
        <p:spPr>
          <a:xfrm>
            <a:off x="7095744" y="5175504"/>
            <a:ext cx="768096" cy="146304"/>
          </a:xfrm>
          <a:prstGeom prst="rect">
            <a:avLst/>
          </a:prstGeom>
          <a:noFill/>
          <a:ln/>
        </p:spPr>
        <p:txBody>
          <a:bodyPr wrap="square" lIns="0" tIns="0" rIns="0" bIns="0" rtlCol="0" anchor="ctr"/>
          <a:lstStyle/>
          <a:p>
            <a:pPr marL="0" indent="0" algn="ctr">
              <a:buNone/>
            </a:pPr>
            <a:r>
              <a:rPr lang="en-US" sz="810" dirty="0">
                <a:solidFill>
                  <a:srgbClr val="22313B"/>
                </a:solidFill>
                <a:latin typeface="Helvetica Neue" pitchFamily="34" charset="0"/>
                <a:ea typeface="Helvetica Neue" pitchFamily="34" charset="-122"/>
                <a:cs typeface="Helvetica Neue" pitchFamily="34" charset="-120"/>
              </a:rPr>
              <a:t>zarr</a:t>
            </a:r>
            <a:endParaRPr lang="en-US" sz="810" dirty="0"/>
          </a:p>
        </p:txBody>
      </p:sp>
      <p:sp>
        <p:nvSpPr>
          <p:cNvPr id="68" name="Shape 65"/>
          <p:cNvSpPr/>
          <p:nvPr/>
        </p:nvSpPr>
        <p:spPr>
          <a:xfrm>
            <a:off x="8138160" y="4299387"/>
            <a:ext cx="146304" cy="793821"/>
          </a:xfrm>
          <a:prstGeom prst="rect">
            <a:avLst/>
          </a:prstGeom>
          <a:solidFill>
            <a:srgbClr val="4E79A7"/>
          </a:solidFill>
          <a:ln w="12700">
            <a:solidFill>
              <a:srgbClr val="4E79A7">
                <a:alpha val="0"/>
              </a:srgbClr>
            </a:solidFill>
            <a:prstDash val="solid"/>
          </a:ln>
        </p:spPr>
        <p:txBody>
          <a:bodyPr/>
          <a:lstStyle/>
          <a:p>
            <a:endParaRPr lang="en-US"/>
          </a:p>
        </p:txBody>
      </p:sp>
      <p:sp>
        <p:nvSpPr>
          <p:cNvPr id="69" name="Shape 66"/>
          <p:cNvSpPr/>
          <p:nvPr/>
        </p:nvSpPr>
        <p:spPr>
          <a:xfrm>
            <a:off x="8211312" y="4240825"/>
            <a:ext cx="0" cy="115092"/>
          </a:xfrm>
          <a:prstGeom prst="line">
            <a:avLst/>
          </a:prstGeom>
          <a:noFill/>
          <a:ln w="12700">
            <a:solidFill>
              <a:srgbClr val="22313B"/>
            </a:solidFill>
            <a:prstDash val="solid"/>
          </a:ln>
        </p:spPr>
        <p:txBody>
          <a:bodyPr/>
          <a:lstStyle/>
          <a:p>
            <a:endParaRPr lang="en-US"/>
          </a:p>
        </p:txBody>
      </p:sp>
      <p:sp>
        <p:nvSpPr>
          <p:cNvPr id="70" name="Shape 67"/>
          <p:cNvSpPr/>
          <p:nvPr/>
        </p:nvSpPr>
        <p:spPr>
          <a:xfrm>
            <a:off x="8174736" y="4240825"/>
            <a:ext cx="73152" cy="0"/>
          </a:xfrm>
          <a:prstGeom prst="line">
            <a:avLst/>
          </a:prstGeom>
          <a:noFill/>
          <a:ln w="12700">
            <a:solidFill>
              <a:srgbClr val="22313B"/>
            </a:solidFill>
            <a:prstDash val="solid"/>
          </a:ln>
        </p:spPr>
        <p:txBody>
          <a:bodyPr/>
          <a:lstStyle/>
          <a:p>
            <a:endParaRPr lang="en-US"/>
          </a:p>
        </p:txBody>
      </p:sp>
      <p:sp>
        <p:nvSpPr>
          <p:cNvPr id="71" name="Shape 68"/>
          <p:cNvSpPr/>
          <p:nvPr/>
        </p:nvSpPr>
        <p:spPr>
          <a:xfrm>
            <a:off x="8174736" y="4355917"/>
            <a:ext cx="73152" cy="0"/>
          </a:xfrm>
          <a:prstGeom prst="line">
            <a:avLst/>
          </a:prstGeom>
          <a:noFill/>
          <a:ln w="12700">
            <a:solidFill>
              <a:srgbClr val="22313B"/>
            </a:solidFill>
            <a:prstDash val="solid"/>
          </a:ln>
        </p:spPr>
        <p:txBody>
          <a:bodyPr/>
          <a:lstStyle/>
          <a:p>
            <a:endParaRPr lang="en-US"/>
          </a:p>
        </p:txBody>
      </p:sp>
      <p:sp>
        <p:nvSpPr>
          <p:cNvPr id="72" name="Shape 69"/>
          <p:cNvSpPr/>
          <p:nvPr/>
        </p:nvSpPr>
        <p:spPr>
          <a:xfrm>
            <a:off x="8330184" y="4222415"/>
            <a:ext cx="146304" cy="870793"/>
          </a:xfrm>
          <a:prstGeom prst="rect">
            <a:avLst/>
          </a:prstGeom>
          <a:solidFill>
            <a:srgbClr val="F28E2B"/>
          </a:solidFill>
          <a:ln w="12700">
            <a:solidFill>
              <a:srgbClr val="F28E2B">
                <a:alpha val="0"/>
              </a:srgbClr>
            </a:solidFill>
            <a:prstDash val="solid"/>
          </a:ln>
        </p:spPr>
        <p:txBody>
          <a:bodyPr/>
          <a:lstStyle/>
          <a:p>
            <a:endParaRPr lang="en-US"/>
          </a:p>
        </p:txBody>
      </p:sp>
      <p:sp>
        <p:nvSpPr>
          <p:cNvPr id="73" name="Shape 70"/>
          <p:cNvSpPr/>
          <p:nvPr/>
        </p:nvSpPr>
        <p:spPr>
          <a:xfrm>
            <a:off x="8403336" y="4168851"/>
            <a:ext cx="0" cy="97658"/>
          </a:xfrm>
          <a:prstGeom prst="line">
            <a:avLst/>
          </a:prstGeom>
          <a:noFill/>
          <a:ln w="12700">
            <a:solidFill>
              <a:srgbClr val="22313B"/>
            </a:solidFill>
            <a:prstDash val="solid"/>
          </a:ln>
        </p:spPr>
        <p:txBody>
          <a:bodyPr/>
          <a:lstStyle/>
          <a:p>
            <a:endParaRPr lang="en-US"/>
          </a:p>
        </p:txBody>
      </p:sp>
      <p:sp>
        <p:nvSpPr>
          <p:cNvPr id="74" name="Shape 71"/>
          <p:cNvSpPr/>
          <p:nvPr/>
        </p:nvSpPr>
        <p:spPr>
          <a:xfrm>
            <a:off x="8366760" y="4168851"/>
            <a:ext cx="73152" cy="0"/>
          </a:xfrm>
          <a:prstGeom prst="line">
            <a:avLst/>
          </a:prstGeom>
          <a:noFill/>
          <a:ln w="12700">
            <a:solidFill>
              <a:srgbClr val="22313B"/>
            </a:solidFill>
            <a:prstDash val="solid"/>
          </a:ln>
        </p:spPr>
        <p:txBody>
          <a:bodyPr/>
          <a:lstStyle/>
          <a:p>
            <a:endParaRPr lang="en-US"/>
          </a:p>
        </p:txBody>
      </p:sp>
      <p:sp>
        <p:nvSpPr>
          <p:cNvPr id="75" name="Shape 72"/>
          <p:cNvSpPr/>
          <p:nvPr/>
        </p:nvSpPr>
        <p:spPr>
          <a:xfrm>
            <a:off x="8366760" y="4266509"/>
            <a:ext cx="73152" cy="0"/>
          </a:xfrm>
          <a:prstGeom prst="line">
            <a:avLst/>
          </a:prstGeom>
          <a:noFill/>
          <a:ln w="12700">
            <a:solidFill>
              <a:srgbClr val="22313B"/>
            </a:solidFill>
            <a:prstDash val="solid"/>
          </a:ln>
        </p:spPr>
        <p:txBody>
          <a:bodyPr/>
          <a:lstStyle/>
          <a:p>
            <a:endParaRPr lang="en-US"/>
          </a:p>
        </p:txBody>
      </p:sp>
      <p:sp>
        <p:nvSpPr>
          <p:cNvPr id="76" name="Shape 73"/>
          <p:cNvSpPr/>
          <p:nvPr/>
        </p:nvSpPr>
        <p:spPr>
          <a:xfrm>
            <a:off x="8522208" y="4374571"/>
            <a:ext cx="146304" cy="718637"/>
          </a:xfrm>
          <a:prstGeom prst="rect">
            <a:avLst/>
          </a:prstGeom>
          <a:solidFill>
            <a:srgbClr val="59A14F"/>
          </a:solidFill>
          <a:ln w="12700">
            <a:solidFill>
              <a:srgbClr val="59A14F">
                <a:alpha val="0"/>
              </a:srgbClr>
            </a:solidFill>
            <a:prstDash val="solid"/>
          </a:ln>
        </p:spPr>
        <p:txBody>
          <a:bodyPr/>
          <a:lstStyle/>
          <a:p>
            <a:endParaRPr lang="en-US"/>
          </a:p>
        </p:txBody>
      </p:sp>
      <p:sp>
        <p:nvSpPr>
          <p:cNvPr id="77" name="Shape 74"/>
          <p:cNvSpPr/>
          <p:nvPr/>
        </p:nvSpPr>
        <p:spPr>
          <a:xfrm>
            <a:off x="8595360" y="4321536"/>
            <a:ext cx="0" cy="101194"/>
          </a:xfrm>
          <a:prstGeom prst="line">
            <a:avLst/>
          </a:prstGeom>
          <a:noFill/>
          <a:ln w="12700">
            <a:solidFill>
              <a:srgbClr val="22313B"/>
            </a:solidFill>
            <a:prstDash val="solid"/>
          </a:ln>
        </p:spPr>
        <p:txBody>
          <a:bodyPr/>
          <a:lstStyle/>
          <a:p>
            <a:endParaRPr lang="en-US"/>
          </a:p>
        </p:txBody>
      </p:sp>
      <p:sp>
        <p:nvSpPr>
          <p:cNvPr id="78" name="Shape 75"/>
          <p:cNvSpPr/>
          <p:nvPr/>
        </p:nvSpPr>
        <p:spPr>
          <a:xfrm>
            <a:off x="8558784" y="4321536"/>
            <a:ext cx="73152" cy="0"/>
          </a:xfrm>
          <a:prstGeom prst="line">
            <a:avLst/>
          </a:prstGeom>
          <a:noFill/>
          <a:ln w="12700">
            <a:solidFill>
              <a:srgbClr val="22313B"/>
            </a:solidFill>
            <a:prstDash val="solid"/>
          </a:ln>
        </p:spPr>
        <p:txBody>
          <a:bodyPr/>
          <a:lstStyle/>
          <a:p>
            <a:endParaRPr lang="en-US"/>
          </a:p>
        </p:txBody>
      </p:sp>
      <p:sp>
        <p:nvSpPr>
          <p:cNvPr id="79" name="Shape 76"/>
          <p:cNvSpPr/>
          <p:nvPr/>
        </p:nvSpPr>
        <p:spPr>
          <a:xfrm>
            <a:off x="8558784" y="4422729"/>
            <a:ext cx="73152" cy="0"/>
          </a:xfrm>
          <a:prstGeom prst="line">
            <a:avLst/>
          </a:prstGeom>
          <a:noFill/>
          <a:ln w="12700">
            <a:solidFill>
              <a:srgbClr val="22313B"/>
            </a:solidFill>
            <a:prstDash val="solid"/>
          </a:ln>
        </p:spPr>
        <p:txBody>
          <a:bodyPr/>
          <a:lstStyle/>
          <a:p>
            <a:endParaRPr lang="en-US"/>
          </a:p>
        </p:txBody>
      </p:sp>
      <p:sp>
        <p:nvSpPr>
          <p:cNvPr id="80" name="Text 77"/>
          <p:cNvSpPr/>
          <p:nvPr/>
        </p:nvSpPr>
        <p:spPr>
          <a:xfrm>
            <a:off x="8065008" y="5175504"/>
            <a:ext cx="768096" cy="146304"/>
          </a:xfrm>
          <a:prstGeom prst="rect">
            <a:avLst/>
          </a:prstGeom>
          <a:noFill/>
          <a:ln/>
        </p:spPr>
        <p:txBody>
          <a:bodyPr wrap="square" lIns="0" tIns="0" rIns="0" bIns="0" rtlCol="0" anchor="ctr"/>
          <a:lstStyle/>
          <a:p>
            <a:pPr marL="0" indent="0" algn="ctr">
              <a:buNone/>
            </a:pPr>
            <a:r>
              <a:rPr lang="en-US" sz="810" dirty="0">
                <a:solidFill>
                  <a:srgbClr val="22313B"/>
                </a:solidFill>
                <a:latin typeface="Helvetica Neue" pitchFamily="34" charset="0"/>
                <a:ea typeface="Helvetica Neue" pitchFamily="34" charset="-122"/>
                <a:cs typeface="Helvetica Neue" pitchFamily="34" charset="-120"/>
              </a:rPr>
              <a:t>tiledb</a:t>
            </a:r>
            <a:endParaRPr lang="en-US" sz="810" dirty="0"/>
          </a:p>
        </p:txBody>
      </p:sp>
      <p:sp>
        <p:nvSpPr>
          <p:cNvPr id="81" name="Shape 78"/>
          <p:cNvSpPr/>
          <p:nvPr/>
        </p:nvSpPr>
        <p:spPr>
          <a:xfrm>
            <a:off x="9107424" y="3442045"/>
            <a:ext cx="146304" cy="1651163"/>
          </a:xfrm>
          <a:prstGeom prst="rect">
            <a:avLst/>
          </a:prstGeom>
          <a:solidFill>
            <a:srgbClr val="4E79A7"/>
          </a:solidFill>
          <a:ln w="12700">
            <a:solidFill>
              <a:srgbClr val="4E79A7">
                <a:alpha val="0"/>
              </a:srgbClr>
            </a:solidFill>
            <a:prstDash val="solid"/>
          </a:ln>
        </p:spPr>
        <p:txBody>
          <a:bodyPr/>
          <a:lstStyle/>
          <a:p>
            <a:endParaRPr lang="en-US"/>
          </a:p>
        </p:txBody>
      </p:sp>
      <p:sp>
        <p:nvSpPr>
          <p:cNvPr id="82" name="Shape 79"/>
          <p:cNvSpPr/>
          <p:nvPr/>
        </p:nvSpPr>
        <p:spPr>
          <a:xfrm>
            <a:off x="9180576" y="3402421"/>
            <a:ext cx="0" cy="78842"/>
          </a:xfrm>
          <a:prstGeom prst="line">
            <a:avLst/>
          </a:prstGeom>
          <a:noFill/>
          <a:ln w="12700">
            <a:solidFill>
              <a:srgbClr val="22313B"/>
            </a:solidFill>
            <a:prstDash val="solid"/>
          </a:ln>
        </p:spPr>
        <p:txBody>
          <a:bodyPr/>
          <a:lstStyle/>
          <a:p>
            <a:endParaRPr lang="en-US"/>
          </a:p>
        </p:txBody>
      </p:sp>
      <p:sp>
        <p:nvSpPr>
          <p:cNvPr id="83" name="Shape 80"/>
          <p:cNvSpPr/>
          <p:nvPr/>
        </p:nvSpPr>
        <p:spPr>
          <a:xfrm>
            <a:off x="9144000" y="3402421"/>
            <a:ext cx="73152" cy="0"/>
          </a:xfrm>
          <a:prstGeom prst="line">
            <a:avLst/>
          </a:prstGeom>
          <a:noFill/>
          <a:ln w="12700">
            <a:solidFill>
              <a:srgbClr val="22313B"/>
            </a:solidFill>
            <a:prstDash val="solid"/>
          </a:ln>
        </p:spPr>
        <p:txBody>
          <a:bodyPr/>
          <a:lstStyle/>
          <a:p>
            <a:endParaRPr lang="en-US"/>
          </a:p>
        </p:txBody>
      </p:sp>
      <p:sp>
        <p:nvSpPr>
          <p:cNvPr id="84" name="Shape 81"/>
          <p:cNvSpPr/>
          <p:nvPr/>
        </p:nvSpPr>
        <p:spPr>
          <a:xfrm>
            <a:off x="9144000" y="3481263"/>
            <a:ext cx="73152" cy="0"/>
          </a:xfrm>
          <a:prstGeom prst="line">
            <a:avLst/>
          </a:prstGeom>
          <a:noFill/>
          <a:ln w="12700">
            <a:solidFill>
              <a:srgbClr val="22313B"/>
            </a:solidFill>
            <a:prstDash val="solid"/>
          </a:ln>
        </p:spPr>
        <p:txBody>
          <a:bodyPr/>
          <a:lstStyle/>
          <a:p>
            <a:endParaRPr lang="en-US"/>
          </a:p>
        </p:txBody>
      </p:sp>
      <p:sp>
        <p:nvSpPr>
          <p:cNvPr id="85" name="Shape 82"/>
          <p:cNvSpPr/>
          <p:nvPr/>
        </p:nvSpPr>
        <p:spPr>
          <a:xfrm>
            <a:off x="9299448" y="3758956"/>
            <a:ext cx="146304" cy="1334252"/>
          </a:xfrm>
          <a:prstGeom prst="rect">
            <a:avLst/>
          </a:prstGeom>
          <a:solidFill>
            <a:srgbClr val="F28E2B"/>
          </a:solidFill>
          <a:ln w="12700">
            <a:solidFill>
              <a:srgbClr val="F28E2B">
                <a:alpha val="0"/>
              </a:srgbClr>
            </a:solidFill>
            <a:prstDash val="solid"/>
          </a:ln>
        </p:spPr>
        <p:txBody>
          <a:bodyPr/>
          <a:lstStyle/>
          <a:p>
            <a:endParaRPr lang="en-US"/>
          </a:p>
        </p:txBody>
      </p:sp>
      <p:sp>
        <p:nvSpPr>
          <p:cNvPr id="86" name="Shape 83"/>
          <p:cNvSpPr/>
          <p:nvPr/>
        </p:nvSpPr>
        <p:spPr>
          <a:xfrm>
            <a:off x="9372600" y="3696614"/>
            <a:ext cx="0" cy="120294"/>
          </a:xfrm>
          <a:prstGeom prst="line">
            <a:avLst/>
          </a:prstGeom>
          <a:noFill/>
          <a:ln w="12700">
            <a:solidFill>
              <a:srgbClr val="22313B"/>
            </a:solidFill>
            <a:prstDash val="solid"/>
          </a:ln>
        </p:spPr>
        <p:txBody>
          <a:bodyPr/>
          <a:lstStyle/>
          <a:p>
            <a:endParaRPr lang="en-US"/>
          </a:p>
        </p:txBody>
      </p:sp>
      <p:sp>
        <p:nvSpPr>
          <p:cNvPr id="87" name="Shape 84"/>
          <p:cNvSpPr/>
          <p:nvPr/>
        </p:nvSpPr>
        <p:spPr>
          <a:xfrm>
            <a:off x="9336024" y="3696614"/>
            <a:ext cx="73152" cy="0"/>
          </a:xfrm>
          <a:prstGeom prst="line">
            <a:avLst/>
          </a:prstGeom>
          <a:noFill/>
          <a:ln w="12700">
            <a:solidFill>
              <a:srgbClr val="22313B"/>
            </a:solidFill>
            <a:prstDash val="solid"/>
          </a:ln>
        </p:spPr>
        <p:txBody>
          <a:bodyPr/>
          <a:lstStyle/>
          <a:p>
            <a:endParaRPr lang="en-US"/>
          </a:p>
        </p:txBody>
      </p:sp>
      <p:sp>
        <p:nvSpPr>
          <p:cNvPr id="88" name="Shape 85"/>
          <p:cNvSpPr/>
          <p:nvPr/>
        </p:nvSpPr>
        <p:spPr>
          <a:xfrm>
            <a:off x="9336024" y="3816909"/>
            <a:ext cx="73152" cy="0"/>
          </a:xfrm>
          <a:prstGeom prst="line">
            <a:avLst/>
          </a:prstGeom>
          <a:noFill/>
          <a:ln w="12700">
            <a:solidFill>
              <a:srgbClr val="22313B"/>
            </a:solidFill>
            <a:prstDash val="solid"/>
          </a:ln>
        </p:spPr>
        <p:txBody>
          <a:bodyPr/>
          <a:lstStyle/>
          <a:p>
            <a:endParaRPr lang="en-US"/>
          </a:p>
        </p:txBody>
      </p:sp>
      <p:sp>
        <p:nvSpPr>
          <p:cNvPr id="89" name="Shape 86"/>
          <p:cNvSpPr/>
          <p:nvPr/>
        </p:nvSpPr>
        <p:spPr>
          <a:xfrm>
            <a:off x="9491472" y="3999504"/>
            <a:ext cx="146304" cy="1093704"/>
          </a:xfrm>
          <a:prstGeom prst="rect">
            <a:avLst/>
          </a:prstGeom>
          <a:solidFill>
            <a:srgbClr val="59A14F"/>
          </a:solidFill>
          <a:ln w="12700">
            <a:solidFill>
              <a:srgbClr val="59A14F">
                <a:alpha val="0"/>
              </a:srgbClr>
            </a:solidFill>
            <a:prstDash val="solid"/>
          </a:ln>
        </p:spPr>
        <p:txBody>
          <a:bodyPr/>
          <a:lstStyle/>
          <a:p>
            <a:endParaRPr lang="en-US"/>
          </a:p>
        </p:txBody>
      </p:sp>
      <p:sp>
        <p:nvSpPr>
          <p:cNvPr id="90" name="Shape 87"/>
          <p:cNvSpPr/>
          <p:nvPr/>
        </p:nvSpPr>
        <p:spPr>
          <a:xfrm>
            <a:off x="9564624" y="3975974"/>
            <a:ext cx="0" cy="45029"/>
          </a:xfrm>
          <a:prstGeom prst="line">
            <a:avLst/>
          </a:prstGeom>
          <a:noFill/>
          <a:ln w="12700">
            <a:solidFill>
              <a:srgbClr val="22313B"/>
            </a:solidFill>
            <a:prstDash val="solid"/>
          </a:ln>
        </p:spPr>
        <p:txBody>
          <a:bodyPr/>
          <a:lstStyle/>
          <a:p>
            <a:endParaRPr lang="en-US"/>
          </a:p>
        </p:txBody>
      </p:sp>
      <p:sp>
        <p:nvSpPr>
          <p:cNvPr id="91" name="Shape 88"/>
          <p:cNvSpPr/>
          <p:nvPr/>
        </p:nvSpPr>
        <p:spPr>
          <a:xfrm>
            <a:off x="9528048" y="3975974"/>
            <a:ext cx="73152" cy="0"/>
          </a:xfrm>
          <a:prstGeom prst="line">
            <a:avLst/>
          </a:prstGeom>
          <a:noFill/>
          <a:ln w="12700">
            <a:solidFill>
              <a:srgbClr val="22313B"/>
            </a:solidFill>
            <a:prstDash val="solid"/>
          </a:ln>
        </p:spPr>
        <p:txBody>
          <a:bodyPr/>
          <a:lstStyle/>
          <a:p>
            <a:endParaRPr lang="en-US"/>
          </a:p>
        </p:txBody>
      </p:sp>
      <p:sp>
        <p:nvSpPr>
          <p:cNvPr id="92" name="Shape 89"/>
          <p:cNvSpPr/>
          <p:nvPr/>
        </p:nvSpPr>
        <p:spPr>
          <a:xfrm>
            <a:off x="9528048" y="4021003"/>
            <a:ext cx="73152" cy="0"/>
          </a:xfrm>
          <a:prstGeom prst="line">
            <a:avLst/>
          </a:prstGeom>
          <a:noFill/>
          <a:ln w="12700">
            <a:solidFill>
              <a:srgbClr val="22313B"/>
            </a:solidFill>
            <a:prstDash val="solid"/>
          </a:ln>
        </p:spPr>
        <p:txBody>
          <a:bodyPr/>
          <a:lstStyle/>
          <a:p>
            <a:endParaRPr lang="en-US"/>
          </a:p>
        </p:txBody>
      </p:sp>
      <p:sp>
        <p:nvSpPr>
          <p:cNvPr id="93" name="Text 90"/>
          <p:cNvSpPr/>
          <p:nvPr/>
        </p:nvSpPr>
        <p:spPr>
          <a:xfrm>
            <a:off x="9034272" y="5175504"/>
            <a:ext cx="768096" cy="146304"/>
          </a:xfrm>
          <a:prstGeom prst="rect">
            <a:avLst/>
          </a:prstGeom>
          <a:noFill/>
          <a:ln/>
        </p:spPr>
        <p:txBody>
          <a:bodyPr wrap="square" lIns="0" tIns="0" rIns="0" bIns="0" rtlCol="0" anchor="ctr"/>
          <a:lstStyle/>
          <a:p>
            <a:pPr marL="0" indent="0" algn="ctr">
              <a:buNone/>
            </a:pPr>
            <a:r>
              <a:rPr lang="en-US" sz="810" dirty="0">
                <a:solidFill>
                  <a:srgbClr val="22313B"/>
                </a:solidFill>
                <a:latin typeface="Helvetica Neue" pitchFamily="34" charset="0"/>
                <a:ea typeface="Helvetica Neue" pitchFamily="34" charset="-122"/>
                <a:cs typeface="Helvetica Neue" pitchFamily="34" charset="-120"/>
              </a:rPr>
              <a:t>root</a:t>
            </a:r>
            <a:endParaRPr lang="en-US" sz="810" dirty="0"/>
          </a:p>
        </p:txBody>
      </p:sp>
      <p:sp>
        <p:nvSpPr>
          <p:cNvPr id="94" name="Shape 91"/>
          <p:cNvSpPr/>
          <p:nvPr/>
        </p:nvSpPr>
        <p:spPr>
          <a:xfrm>
            <a:off x="8887968" y="530352"/>
            <a:ext cx="932688" cy="365760"/>
          </a:xfrm>
          <a:prstGeom prst="roundRect">
            <a:avLst>
              <a:gd name="adj" fmla="val 15000"/>
            </a:avLst>
          </a:prstGeom>
          <a:solidFill>
            <a:srgbClr val="F2E9DE"/>
          </a:solidFill>
          <a:ln w="12700">
            <a:solidFill>
              <a:srgbClr val="D9CCBC"/>
            </a:solidFill>
            <a:prstDash val="solid"/>
          </a:ln>
        </p:spPr>
        <p:txBody>
          <a:bodyPr/>
          <a:lstStyle/>
          <a:p>
            <a:endParaRPr lang="en-US"/>
          </a:p>
        </p:txBody>
      </p:sp>
      <p:sp>
        <p:nvSpPr>
          <p:cNvPr id="95" name="Text 92"/>
          <p:cNvSpPr/>
          <p:nvPr/>
        </p:nvSpPr>
        <p:spPr>
          <a:xfrm>
            <a:off x="8887968" y="603504"/>
            <a:ext cx="932688" cy="219456"/>
          </a:xfrm>
          <a:prstGeom prst="rect">
            <a:avLst/>
          </a:prstGeom>
          <a:noFill/>
          <a:ln/>
        </p:spPr>
        <p:txBody>
          <a:bodyPr wrap="square" lIns="0" tIns="0" rIns="0" bIns="0" rtlCol="0" anchor="ctr"/>
          <a:lstStyle/>
          <a:p>
            <a:pPr marL="0" indent="0" algn="ctr">
              <a:buNone/>
            </a:pPr>
            <a:r>
              <a:rPr lang="en-US" sz="1050" dirty="0">
                <a:solidFill>
                  <a:srgbClr val="53626C"/>
                </a:solidFill>
                <a:latin typeface="Helvetica Neue" pitchFamily="34" charset="0"/>
                <a:ea typeface="Helvetica Neue" pitchFamily="34" charset="-122"/>
                <a:cs typeface="Helvetica Neue" pitchFamily="34" charset="-120"/>
              </a:rPr>
              <a:t>Slide 8</a:t>
            </a:r>
            <a:endParaRPr lang="en-US" sz="1050" dirty="0"/>
          </a:p>
        </p:txBody>
      </p:sp>
      <p:sp>
        <p:nvSpPr>
          <p:cNvPr id="96" name="Shape 93"/>
          <p:cNvSpPr/>
          <p:nvPr/>
        </p:nvSpPr>
        <p:spPr>
          <a:xfrm>
            <a:off x="9948672" y="530352"/>
            <a:ext cx="1335024" cy="365760"/>
          </a:xfrm>
          <a:prstGeom prst="roundRect">
            <a:avLst>
              <a:gd name="adj" fmla="val 15000"/>
            </a:avLst>
          </a:prstGeom>
          <a:solidFill>
            <a:srgbClr val="F2E9DE"/>
          </a:solidFill>
          <a:ln w="12700">
            <a:solidFill>
              <a:srgbClr val="D9CCBC"/>
            </a:solidFill>
            <a:prstDash val="solid"/>
          </a:ln>
        </p:spPr>
        <p:txBody>
          <a:bodyPr/>
          <a:lstStyle/>
          <a:p>
            <a:endParaRPr lang="en-US"/>
          </a:p>
        </p:txBody>
      </p:sp>
      <p:sp>
        <p:nvSpPr>
          <p:cNvPr id="97" name="Text 94"/>
          <p:cNvSpPr/>
          <p:nvPr/>
        </p:nvSpPr>
        <p:spPr>
          <a:xfrm>
            <a:off x="9948672" y="603504"/>
            <a:ext cx="1335024" cy="219456"/>
          </a:xfrm>
          <a:prstGeom prst="rect">
            <a:avLst/>
          </a:prstGeom>
          <a:noFill/>
          <a:ln/>
        </p:spPr>
        <p:txBody>
          <a:bodyPr wrap="square" lIns="0" tIns="0" rIns="0" bIns="0" rtlCol="0" anchor="ctr"/>
          <a:lstStyle/>
          <a:p>
            <a:pPr marL="0" indent="0" algn="ctr">
              <a:buNone/>
            </a:pPr>
            <a:r>
              <a:rPr lang="en-US" sz="1050" dirty="0">
                <a:solidFill>
                  <a:srgbClr val="53626C"/>
                </a:solidFill>
                <a:latin typeface="Helvetica Neue" pitchFamily="34" charset="0"/>
                <a:ea typeface="Helvetica Neue" pitchFamily="34" charset="-122"/>
                <a:cs typeface="Helvetica Neue" pitchFamily="34" charset="-120"/>
              </a:rPr>
              <a:t>Results</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1E8"/>
        </a:solidFill>
        <a:effectLst/>
      </p:bgPr>
    </p:bg>
    <p:spTree>
      <p:nvGrpSpPr>
        <p:cNvPr id="1" name=""/>
        <p:cNvGrpSpPr/>
        <p:nvPr/>
      </p:nvGrpSpPr>
      <p:grpSpPr>
        <a:xfrm>
          <a:off x="0" y="0"/>
          <a:ext cx="0" cy="0"/>
          <a:chOff x="0" y="0"/>
          <a:chExt cx="0" cy="0"/>
        </a:xfrm>
      </p:grpSpPr>
      <p:sp>
        <p:nvSpPr>
          <p:cNvPr id="2" name="Text 0"/>
          <p:cNvSpPr/>
          <p:nvPr/>
        </p:nvSpPr>
        <p:spPr>
          <a:xfrm>
            <a:off x="868680" y="502920"/>
            <a:ext cx="2103120" cy="133350"/>
          </a:xfrm>
          <a:prstGeom prst="rect">
            <a:avLst/>
          </a:prstGeom>
          <a:noFill/>
          <a:ln/>
        </p:spPr>
        <p:txBody>
          <a:bodyPr wrap="square" lIns="0" tIns="0" rIns="0" bIns="0" rtlCol="0" anchor="ctr"/>
          <a:lstStyle/>
          <a:p>
            <a:pPr marL="0" indent="0">
              <a:buNone/>
            </a:pPr>
            <a:r>
              <a:rPr lang="en-US" sz="1050" b="1" dirty="0">
                <a:solidFill>
                  <a:srgbClr val="B8874F"/>
                </a:solidFill>
                <a:latin typeface="Helvetica Neue" pitchFamily="34" charset="0"/>
                <a:ea typeface="Helvetica Neue" pitchFamily="34" charset="-122"/>
                <a:cs typeface="Helvetica Neue" pitchFamily="34" charset="-120"/>
              </a:rPr>
              <a:t>RESULT 2</a:t>
            </a:r>
            <a:endParaRPr lang="en-US" sz="1050" dirty="0"/>
          </a:p>
        </p:txBody>
      </p:sp>
      <p:sp>
        <p:nvSpPr>
          <p:cNvPr id="3" name="Shape 1"/>
          <p:cNvSpPr/>
          <p:nvPr/>
        </p:nvSpPr>
        <p:spPr>
          <a:xfrm>
            <a:off x="868680" y="822960"/>
            <a:ext cx="914400" cy="0"/>
          </a:xfrm>
          <a:prstGeom prst="line">
            <a:avLst/>
          </a:prstGeom>
          <a:noFill/>
          <a:ln w="12700">
            <a:solidFill>
              <a:srgbClr val="B8874F"/>
            </a:solidFill>
            <a:prstDash val="solid"/>
          </a:ln>
        </p:spPr>
        <p:txBody>
          <a:bodyPr/>
          <a:lstStyle/>
          <a:p>
            <a:endParaRPr lang="en-US"/>
          </a:p>
        </p:txBody>
      </p:sp>
      <p:sp>
        <p:nvSpPr>
          <p:cNvPr id="4" name="Text 2"/>
          <p:cNvSpPr/>
          <p:nvPr/>
        </p:nvSpPr>
        <p:spPr>
          <a:xfrm>
            <a:off x="868680" y="1024128"/>
            <a:ext cx="6766560" cy="731520"/>
          </a:xfrm>
          <a:prstGeom prst="rect">
            <a:avLst/>
          </a:prstGeom>
          <a:noFill/>
          <a:ln/>
        </p:spPr>
        <p:txBody>
          <a:bodyPr wrap="square" lIns="0" tIns="0" rIns="0" bIns="0" rtlCol="0" anchor="ctr">
            <a:normAutofit/>
          </a:bodyPr>
          <a:lstStyle/>
          <a:p>
            <a:pPr marL="0" indent="0">
              <a:buNone/>
            </a:pPr>
            <a:r>
              <a:rPr lang="en-US" sz="2446" b="1" dirty="0">
                <a:solidFill>
                  <a:srgbClr val="22313B"/>
                </a:solidFill>
                <a:latin typeface="Georgia" pitchFamily="34" charset="0"/>
                <a:ea typeface="Georgia" pitchFamily="34" charset="-122"/>
                <a:cs typeface="Georgia" pitchFamily="34" charset="-120"/>
              </a:rPr>
              <a:t>Result: throughput and cost posture</a:t>
            </a:r>
            <a:endParaRPr lang="en-US" sz="2446" dirty="0"/>
          </a:p>
        </p:txBody>
      </p:sp>
      <p:sp>
        <p:nvSpPr>
          <p:cNvPr id="5" name="Text 3"/>
          <p:cNvSpPr/>
          <p:nvPr/>
        </p:nvSpPr>
        <p:spPr>
          <a:xfrm>
            <a:off x="868680" y="1792224"/>
            <a:ext cx="6217920" cy="329184"/>
          </a:xfrm>
          <a:prstGeom prst="rect">
            <a:avLst/>
          </a:prstGeom>
          <a:noFill/>
          <a:ln/>
        </p:spPr>
        <p:txBody>
          <a:bodyPr wrap="square" lIns="0" tIns="0" rIns="0" bIns="0" rtlCol="0" anchor="ctr"/>
          <a:lstStyle/>
          <a:p>
            <a:pPr marL="0" indent="0">
              <a:buNone/>
            </a:pPr>
            <a:r>
              <a:rPr lang="en-US" sz="1420" dirty="0">
                <a:solidFill>
                  <a:srgbClr val="53626C"/>
                </a:solidFill>
                <a:latin typeface="Helvetica Neue" pitchFamily="34" charset="0"/>
                <a:ea typeface="Helvetica Neue" pitchFamily="34" charset="-122"/>
                <a:cs typeface="Helvetica Neue" pitchFamily="34" charset="-120"/>
              </a:rPr>
              <a:t>If full-scan time dominates, the winner changes.</a:t>
            </a:r>
            <a:endParaRPr lang="en-US" sz="1420" dirty="0"/>
          </a:p>
        </p:txBody>
      </p:sp>
      <p:sp>
        <p:nvSpPr>
          <p:cNvPr id="6" name="Shape 4"/>
          <p:cNvSpPr/>
          <p:nvPr/>
        </p:nvSpPr>
        <p:spPr>
          <a:xfrm>
            <a:off x="868680" y="2212848"/>
            <a:ext cx="10424160" cy="3822192"/>
          </a:xfrm>
          <a:prstGeom prst="roundRect">
            <a:avLst>
              <a:gd name="adj" fmla="val 1914"/>
            </a:avLst>
          </a:prstGeom>
          <a:solidFill>
            <a:srgbClr val="FBF7F1"/>
          </a:solidFill>
          <a:ln w="12700">
            <a:solidFill>
              <a:srgbClr val="D9CCBC"/>
            </a:solidFill>
            <a:prstDash val="solid"/>
          </a:ln>
        </p:spPr>
        <p:txBody>
          <a:bodyPr/>
          <a:lstStyle/>
          <a:p>
            <a:endParaRPr lang="en-US"/>
          </a:p>
        </p:txBody>
      </p:sp>
      <p:sp>
        <p:nvSpPr>
          <p:cNvPr id="7" name="Shape 5"/>
          <p:cNvSpPr/>
          <p:nvPr/>
        </p:nvSpPr>
        <p:spPr>
          <a:xfrm>
            <a:off x="1115568" y="2560320"/>
            <a:ext cx="3794760" cy="987552"/>
          </a:xfrm>
          <a:prstGeom prst="roundRect">
            <a:avLst>
              <a:gd name="adj" fmla="val 7407"/>
            </a:avLst>
          </a:prstGeom>
          <a:solidFill>
            <a:srgbClr val="22313B"/>
          </a:solidFill>
          <a:ln w="12700">
            <a:solidFill>
              <a:srgbClr val="22313B"/>
            </a:solidFill>
            <a:prstDash val="solid"/>
          </a:ln>
        </p:spPr>
        <p:txBody>
          <a:bodyPr/>
          <a:lstStyle/>
          <a:p>
            <a:endParaRPr lang="en-US"/>
          </a:p>
        </p:txBody>
      </p:sp>
      <p:sp>
        <p:nvSpPr>
          <p:cNvPr id="8" name="Shape 6"/>
          <p:cNvSpPr/>
          <p:nvPr/>
        </p:nvSpPr>
        <p:spPr>
          <a:xfrm>
            <a:off x="1274674" y="2907792"/>
            <a:ext cx="1225296" cy="256032"/>
          </a:xfrm>
          <a:prstGeom prst="roundRect">
            <a:avLst>
              <a:gd name="adj" fmla="val 21429"/>
            </a:avLst>
          </a:prstGeom>
          <a:solidFill>
            <a:srgbClr val="B8874F"/>
          </a:solidFill>
          <a:ln w="12700">
            <a:solidFill>
              <a:srgbClr val="B8874F">
                <a:alpha val="0"/>
              </a:srgbClr>
            </a:solidFill>
            <a:prstDash val="solid"/>
          </a:ln>
        </p:spPr>
        <p:txBody>
          <a:bodyPr/>
          <a:lstStyle/>
          <a:p>
            <a:endParaRPr lang="en-US"/>
          </a:p>
        </p:txBody>
      </p:sp>
      <p:sp>
        <p:nvSpPr>
          <p:cNvPr id="9" name="Text 7"/>
          <p:cNvSpPr/>
          <p:nvPr/>
        </p:nvSpPr>
        <p:spPr>
          <a:xfrm>
            <a:off x="1274674" y="2953512"/>
            <a:ext cx="1225296" cy="164592"/>
          </a:xfrm>
          <a:prstGeom prst="rect">
            <a:avLst/>
          </a:prstGeom>
          <a:noFill/>
          <a:ln/>
        </p:spPr>
        <p:txBody>
          <a:bodyPr wrap="square" lIns="0" tIns="0" rIns="0" bIns="0" rtlCol="0" anchor="ctr"/>
          <a:lstStyle/>
          <a:p>
            <a:pPr marL="0" indent="0" algn="ctr">
              <a:buNone/>
            </a:pPr>
            <a:r>
              <a:rPr lang="en-US" sz="820" b="1" dirty="0">
                <a:solidFill>
                  <a:srgbClr val="22313B"/>
                </a:solidFill>
                <a:latin typeface="Helvetica Neue" pitchFamily="34" charset="0"/>
                <a:ea typeface="Helvetica Neue" pitchFamily="34" charset="-122"/>
                <a:cs typeface="Helvetica Neue" pitchFamily="34" charset="-120"/>
              </a:rPr>
              <a:t>Throughput leader</a:t>
            </a:r>
            <a:endParaRPr lang="en-US" sz="820" dirty="0"/>
          </a:p>
        </p:txBody>
      </p:sp>
      <p:sp>
        <p:nvSpPr>
          <p:cNvPr id="10" name="Text 8"/>
          <p:cNvSpPr/>
          <p:nvPr/>
        </p:nvSpPr>
        <p:spPr>
          <a:xfrm>
            <a:off x="2670048" y="2816352"/>
            <a:ext cx="1993392" cy="219456"/>
          </a:xfrm>
          <a:prstGeom prst="rect">
            <a:avLst/>
          </a:prstGeom>
          <a:noFill/>
          <a:ln/>
        </p:spPr>
        <p:txBody>
          <a:bodyPr wrap="square" lIns="0" tIns="0" rIns="0" bIns="0" rtlCol="0" anchor="ctr"/>
          <a:lstStyle/>
          <a:p>
            <a:pPr marL="0" indent="0">
              <a:buNone/>
            </a:pPr>
            <a:r>
              <a:rPr lang="en-US" sz="1820" b="1" dirty="0">
                <a:solidFill>
                  <a:srgbClr val="FFFFFF"/>
                </a:solidFill>
                <a:latin typeface="Helvetica Neue" pitchFamily="34" charset="0"/>
                <a:ea typeface="Helvetica Neue" pitchFamily="34" charset="-122"/>
                <a:cs typeface="Helvetica Neue" pitchFamily="34" charset="-120"/>
              </a:rPr>
              <a:t>TileDB dominates</a:t>
            </a:r>
            <a:endParaRPr lang="en-US" sz="1820" dirty="0"/>
          </a:p>
        </p:txBody>
      </p:sp>
      <p:sp>
        <p:nvSpPr>
          <p:cNvPr id="11" name="Text 9"/>
          <p:cNvSpPr/>
          <p:nvPr/>
        </p:nvSpPr>
        <p:spPr>
          <a:xfrm>
            <a:off x="2670048" y="3072384"/>
            <a:ext cx="1993392" cy="182880"/>
          </a:xfrm>
          <a:prstGeom prst="rect">
            <a:avLst/>
          </a:prstGeom>
          <a:noFill/>
          <a:ln/>
        </p:spPr>
        <p:txBody>
          <a:bodyPr wrap="square" lIns="0" tIns="0" rIns="0" bIns="0" rtlCol="0" anchor="ctr"/>
          <a:lstStyle/>
          <a:p>
            <a:pPr marL="0" indent="0">
              <a:buNone/>
            </a:pPr>
            <a:r>
              <a:rPr lang="en-US" sz="1120" dirty="0">
                <a:solidFill>
                  <a:srgbClr val="F2E9DE"/>
                </a:solidFill>
                <a:latin typeface="Helvetica Neue" pitchFamily="34" charset="0"/>
                <a:ea typeface="Helvetica Neue" pitchFamily="34" charset="-122"/>
                <a:cs typeface="Helvetica Neue" pitchFamily="34" charset="-120"/>
              </a:rPr>
              <a:t>2.2-3.2x faster than Zarr</a:t>
            </a:r>
            <a:endParaRPr lang="en-US" sz="1120" dirty="0"/>
          </a:p>
        </p:txBody>
      </p:sp>
      <p:sp>
        <p:nvSpPr>
          <p:cNvPr id="12" name="Shape 10"/>
          <p:cNvSpPr/>
          <p:nvPr/>
        </p:nvSpPr>
        <p:spPr>
          <a:xfrm>
            <a:off x="1115568" y="3712464"/>
            <a:ext cx="3794760" cy="859536"/>
          </a:xfrm>
          <a:prstGeom prst="roundRect">
            <a:avLst>
              <a:gd name="adj" fmla="val 8511"/>
            </a:avLst>
          </a:prstGeom>
          <a:solidFill>
            <a:srgbClr val="E6D6C4"/>
          </a:solidFill>
          <a:ln w="12700">
            <a:solidFill>
              <a:srgbClr val="D9CCBC"/>
            </a:solidFill>
            <a:prstDash val="solid"/>
          </a:ln>
        </p:spPr>
        <p:txBody>
          <a:bodyPr/>
          <a:lstStyle/>
          <a:p>
            <a:endParaRPr lang="en-US"/>
          </a:p>
        </p:txBody>
      </p:sp>
      <p:sp>
        <p:nvSpPr>
          <p:cNvPr id="13" name="Shape 11"/>
          <p:cNvSpPr/>
          <p:nvPr/>
        </p:nvSpPr>
        <p:spPr>
          <a:xfrm>
            <a:off x="1280160" y="4032504"/>
            <a:ext cx="987552" cy="219456"/>
          </a:xfrm>
          <a:prstGeom prst="roundRect">
            <a:avLst>
              <a:gd name="adj" fmla="val 20833"/>
            </a:avLst>
          </a:prstGeom>
          <a:solidFill>
            <a:srgbClr val="B8874F"/>
          </a:solidFill>
          <a:ln w="12700">
            <a:solidFill>
              <a:srgbClr val="B8874F">
                <a:alpha val="0"/>
              </a:srgbClr>
            </a:solidFill>
            <a:prstDash val="solid"/>
          </a:ln>
        </p:spPr>
        <p:txBody>
          <a:bodyPr/>
          <a:lstStyle/>
          <a:p>
            <a:endParaRPr lang="en-US"/>
          </a:p>
        </p:txBody>
      </p:sp>
      <p:sp>
        <p:nvSpPr>
          <p:cNvPr id="14" name="Text 12"/>
          <p:cNvSpPr/>
          <p:nvPr/>
        </p:nvSpPr>
        <p:spPr>
          <a:xfrm>
            <a:off x="1280160" y="4082796"/>
            <a:ext cx="987552" cy="128016"/>
          </a:xfrm>
          <a:prstGeom prst="rect">
            <a:avLst/>
          </a:prstGeom>
          <a:noFill/>
          <a:ln/>
        </p:spPr>
        <p:txBody>
          <a:bodyPr wrap="square" lIns="0" tIns="0" rIns="0" bIns="0" rtlCol="0" anchor="ctr"/>
          <a:lstStyle/>
          <a:p>
            <a:pPr marL="0" indent="0" algn="ctr">
              <a:buNone/>
            </a:pPr>
            <a:r>
              <a:rPr lang="en-US" sz="780" b="1" dirty="0">
                <a:solidFill>
                  <a:srgbClr val="22313B"/>
                </a:solidFill>
                <a:latin typeface="Helvetica Neue" pitchFamily="34" charset="0"/>
                <a:ea typeface="Helvetica Neue" pitchFamily="34" charset="-122"/>
                <a:cs typeface="Helvetica Neue" pitchFamily="34" charset="-120"/>
              </a:rPr>
              <a:t>zstd full scan</a:t>
            </a:r>
            <a:endParaRPr lang="en-US" sz="780" dirty="0"/>
          </a:p>
        </p:txBody>
      </p:sp>
      <p:sp>
        <p:nvSpPr>
          <p:cNvPr id="15" name="Text 13"/>
          <p:cNvSpPr/>
          <p:nvPr/>
        </p:nvSpPr>
        <p:spPr>
          <a:xfrm>
            <a:off x="2487168" y="3877056"/>
            <a:ext cx="2011680" cy="164592"/>
          </a:xfrm>
          <a:prstGeom prst="rect">
            <a:avLst/>
          </a:prstGeom>
          <a:noFill/>
          <a:ln/>
        </p:spPr>
        <p:txBody>
          <a:bodyPr wrap="square" lIns="0" tIns="0" rIns="0" bIns="0" rtlCol="0" anchor="ctr"/>
          <a:lstStyle/>
          <a:p>
            <a:pPr marL="0" indent="0">
              <a:buNone/>
            </a:pPr>
            <a:r>
              <a:rPr lang="en-US" sz="1170" b="1" dirty="0">
                <a:solidFill>
                  <a:srgbClr val="22313B"/>
                </a:solidFill>
                <a:latin typeface="Helvetica Neue" pitchFamily="34" charset="0"/>
                <a:ea typeface="Helvetica Neue" pitchFamily="34" charset="-122"/>
                <a:cs typeface="Helvetica Neue" pitchFamily="34" charset="-120"/>
              </a:rPr>
              <a:t>10.4 s / 1.06 GiB/s</a:t>
            </a:r>
            <a:endParaRPr lang="en-US" sz="1170" dirty="0"/>
          </a:p>
        </p:txBody>
      </p:sp>
      <p:sp>
        <p:nvSpPr>
          <p:cNvPr id="16" name="Text 14"/>
          <p:cNvSpPr/>
          <p:nvPr/>
        </p:nvSpPr>
        <p:spPr>
          <a:xfrm>
            <a:off x="2487168" y="4114800"/>
            <a:ext cx="2029968" cy="146304"/>
          </a:xfrm>
          <a:prstGeom prst="rect">
            <a:avLst/>
          </a:prstGeom>
          <a:noFill/>
          <a:ln/>
        </p:spPr>
        <p:txBody>
          <a:bodyPr wrap="square" lIns="0" tIns="0" rIns="0" bIns="0" rtlCol="0" anchor="ctr"/>
          <a:lstStyle/>
          <a:p>
            <a:pPr marL="0" indent="0">
              <a:buNone/>
            </a:pPr>
            <a:r>
              <a:rPr lang="en-US" sz="920" dirty="0">
                <a:solidFill>
                  <a:srgbClr val="53626C"/>
                </a:solidFill>
                <a:latin typeface="Helvetica Neue" pitchFamily="34" charset="0"/>
                <a:ea typeface="Helvetica Neue" pitchFamily="34" charset="-122"/>
                <a:cs typeface="Helvetica Neue" pitchFamily="34" charset="-120"/>
              </a:rPr>
              <a:t>vs Zarr 30.4 s / 0.35 GiB/s</a:t>
            </a:r>
            <a:endParaRPr lang="en-US" sz="920" dirty="0"/>
          </a:p>
        </p:txBody>
      </p:sp>
      <p:sp>
        <p:nvSpPr>
          <p:cNvPr id="17" name="Shape 15"/>
          <p:cNvSpPr/>
          <p:nvPr/>
        </p:nvSpPr>
        <p:spPr>
          <a:xfrm>
            <a:off x="1115568" y="4736592"/>
            <a:ext cx="3794760" cy="804672"/>
          </a:xfrm>
          <a:prstGeom prst="roundRect">
            <a:avLst>
              <a:gd name="adj" fmla="val 9091"/>
            </a:avLst>
          </a:prstGeom>
          <a:solidFill>
            <a:srgbClr val="D7E3EB"/>
          </a:solidFill>
          <a:ln w="12700">
            <a:solidFill>
              <a:srgbClr val="D9CCBC"/>
            </a:solidFill>
            <a:prstDash val="solid"/>
          </a:ln>
        </p:spPr>
        <p:txBody>
          <a:bodyPr/>
          <a:lstStyle/>
          <a:p>
            <a:endParaRPr lang="en-US"/>
          </a:p>
        </p:txBody>
      </p:sp>
      <p:sp>
        <p:nvSpPr>
          <p:cNvPr id="18" name="Shape 16"/>
          <p:cNvSpPr/>
          <p:nvPr/>
        </p:nvSpPr>
        <p:spPr>
          <a:xfrm>
            <a:off x="1280160" y="5029200"/>
            <a:ext cx="987552" cy="219456"/>
          </a:xfrm>
          <a:prstGeom prst="roundRect">
            <a:avLst>
              <a:gd name="adj" fmla="val 20833"/>
            </a:avLst>
          </a:prstGeom>
          <a:solidFill>
            <a:srgbClr val="B9CAD7"/>
          </a:solidFill>
          <a:ln w="12700">
            <a:solidFill>
              <a:srgbClr val="B9CAD7">
                <a:alpha val="0"/>
              </a:srgbClr>
            </a:solidFill>
            <a:prstDash val="solid"/>
          </a:ln>
        </p:spPr>
        <p:txBody>
          <a:bodyPr/>
          <a:lstStyle/>
          <a:p>
            <a:endParaRPr lang="en-US"/>
          </a:p>
        </p:txBody>
      </p:sp>
      <p:sp>
        <p:nvSpPr>
          <p:cNvPr id="19" name="Text 17"/>
          <p:cNvSpPr/>
          <p:nvPr/>
        </p:nvSpPr>
        <p:spPr>
          <a:xfrm>
            <a:off x="1280160" y="5074920"/>
            <a:ext cx="987552" cy="128016"/>
          </a:xfrm>
          <a:prstGeom prst="rect">
            <a:avLst/>
          </a:prstGeom>
          <a:noFill/>
          <a:ln/>
        </p:spPr>
        <p:txBody>
          <a:bodyPr wrap="square" lIns="0" tIns="0" rIns="0" bIns="0" rtlCol="0" anchor="ctr"/>
          <a:lstStyle/>
          <a:p>
            <a:pPr marL="0" indent="0" algn="ctr">
              <a:buNone/>
            </a:pPr>
            <a:r>
              <a:rPr lang="en-US" sz="780" b="1" dirty="0">
                <a:solidFill>
                  <a:srgbClr val="22313B"/>
                </a:solidFill>
                <a:latin typeface="Helvetica Neue" pitchFamily="34" charset="0"/>
                <a:ea typeface="Helvetica Neue" pitchFamily="34" charset="-122"/>
                <a:cs typeface="Helvetica Neue" pitchFamily="34" charset="-120"/>
              </a:rPr>
              <a:t>Mechanism</a:t>
            </a:r>
            <a:endParaRPr lang="en-US" sz="780" dirty="0"/>
          </a:p>
        </p:txBody>
      </p:sp>
      <p:sp>
        <p:nvSpPr>
          <p:cNvPr id="20" name="Text 18"/>
          <p:cNvSpPr/>
          <p:nvPr/>
        </p:nvSpPr>
        <p:spPr>
          <a:xfrm>
            <a:off x="2487168" y="4919472"/>
            <a:ext cx="2011680" cy="164592"/>
          </a:xfrm>
          <a:prstGeom prst="rect">
            <a:avLst/>
          </a:prstGeom>
          <a:noFill/>
          <a:ln/>
        </p:spPr>
        <p:txBody>
          <a:bodyPr wrap="square" lIns="0" tIns="0" rIns="0" bIns="0" rtlCol="0" anchor="ctr"/>
          <a:lstStyle/>
          <a:p>
            <a:pPr marL="0" indent="0">
              <a:buNone/>
            </a:pPr>
            <a:r>
              <a:rPr lang="en-US" sz="1170" b="1" dirty="0">
                <a:solidFill>
                  <a:srgbClr val="22313B"/>
                </a:solidFill>
                <a:latin typeface="Helvetica Neue" pitchFamily="34" charset="0"/>
                <a:ea typeface="Helvetica Neue" pitchFamily="34" charset="-122"/>
                <a:cs typeface="Helvetica Neue" pitchFamily="34" charset="-120"/>
              </a:rPr>
              <a:t>Layout drives GETs / GiB</a:t>
            </a:r>
            <a:endParaRPr lang="en-US" sz="1170" dirty="0"/>
          </a:p>
        </p:txBody>
      </p:sp>
      <p:sp>
        <p:nvSpPr>
          <p:cNvPr id="21" name="Text 19"/>
          <p:cNvSpPr/>
          <p:nvPr/>
        </p:nvSpPr>
        <p:spPr>
          <a:xfrm>
            <a:off x="2487168" y="5157216"/>
            <a:ext cx="2029968" cy="146304"/>
          </a:xfrm>
          <a:prstGeom prst="rect">
            <a:avLst/>
          </a:prstGeom>
          <a:noFill/>
          <a:ln/>
        </p:spPr>
        <p:txBody>
          <a:bodyPr wrap="square" lIns="0" tIns="0" rIns="0" bIns="0" rtlCol="0" anchor="ctr"/>
          <a:lstStyle/>
          <a:p>
            <a:pPr marL="0" indent="0">
              <a:buNone/>
            </a:pPr>
            <a:r>
              <a:rPr lang="en-US" sz="920" dirty="0">
                <a:solidFill>
                  <a:srgbClr val="53626C"/>
                </a:solidFill>
                <a:latin typeface="Helvetica Neue" pitchFamily="34" charset="0"/>
                <a:ea typeface="Helvetica Neue" pitchFamily="34" charset="-122"/>
                <a:cs typeface="Helvetica Neue" pitchFamily="34" charset="-120"/>
              </a:rPr>
              <a:t>Codec choice mainly drives stored bytes</a:t>
            </a:r>
            <a:endParaRPr lang="en-US" sz="920" dirty="0"/>
          </a:p>
        </p:txBody>
      </p:sp>
      <p:sp>
        <p:nvSpPr>
          <p:cNvPr id="22" name="Shape 20"/>
          <p:cNvSpPr/>
          <p:nvPr/>
        </p:nvSpPr>
        <p:spPr>
          <a:xfrm>
            <a:off x="5212080" y="2523744"/>
            <a:ext cx="5440680" cy="3255264"/>
          </a:xfrm>
          <a:prstGeom prst="roundRect">
            <a:avLst>
              <a:gd name="adj" fmla="val 2247"/>
            </a:avLst>
          </a:prstGeom>
          <a:solidFill>
            <a:srgbClr val="FFFFFF"/>
          </a:solidFill>
          <a:ln w="12700">
            <a:solidFill>
              <a:srgbClr val="D9CCBC"/>
            </a:solidFill>
            <a:prstDash val="solid"/>
          </a:ln>
        </p:spPr>
        <p:txBody>
          <a:bodyPr/>
          <a:lstStyle/>
          <a:p>
            <a:endParaRPr lang="en-US"/>
          </a:p>
        </p:txBody>
      </p:sp>
      <p:sp>
        <p:nvSpPr>
          <p:cNvPr id="23" name="Text 21"/>
          <p:cNvSpPr/>
          <p:nvPr/>
        </p:nvSpPr>
        <p:spPr>
          <a:xfrm>
            <a:off x="5449824" y="2706624"/>
            <a:ext cx="1737360" cy="164592"/>
          </a:xfrm>
          <a:prstGeom prst="rect">
            <a:avLst/>
          </a:prstGeom>
          <a:noFill/>
          <a:ln/>
        </p:spPr>
        <p:txBody>
          <a:bodyPr wrap="square" lIns="0" tIns="0" rIns="0" bIns="0" rtlCol="0" anchor="ctr"/>
          <a:lstStyle/>
          <a:p>
            <a:pPr marL="0" indent="0">
              <a:buNone/>
            </a:pPr>
            <a:r>
              <a:rPr lang="en-US" sz="1020" b="1" dirty="0">
                <a:solidFill>
                  <a:srgbClr val="B8874F"/>
                </a:solidFill>
                <a:latin typeface="Helvetica Neue" pitchFamily="34" charset="0"/>
                <a:ea typeface="Helvetica Neue" pitchFamily="34" charset="-122"/>
                <a:cs typeface="Helvetica Neue" pitchFamily="34" charset="-120"/>
              </a:rPr>
              <a:t>Full-scan throughput</a:t>
            </a:r>
            <a:endParaRPr lang="en-US" sz="1020" dirty="0"/>
          </a:p>
        </p:txBody>
      </p:sp>
      <p:sp>
        <p:nvSpPr>
          <p:cNvPr id="24" name="Text 22"/>
          <p:cNvSpPr/>
          <p:nvPr/>
        </p:nvSpPr>
        <p:spPr>
          <a:xfrm>
            <a:off x="5449824" y="2907792"/>
            <a:ext cx="3383280" cy="146304"/>
          </a:xfrm>
          <a:prstGeom prst="rect">
            <a:avLst/>
          </a:prstGeom>
          <a:noFill/>
          <a:ln/>
        </p:spPr>
        <p:txBody>
          <a:bodyPr wrap="square" lIns="0" tIns="0" rIns="0" bIns="0" rtlCol="0" anchor="ctr"/>
          <a:lstStyle/>
          <a:p>
            <a:pPr marL="0" indent="0">
              <a:buNone/>
            </a:pPr>
            <a:r>
              <a:rPr lang="en-US" sz="940" dirty="0">
                <a:solidFill>
                  <a:srgbClr val="53626C"/>
                </a:solidFill>
                <a:latin typeface="Helvetica Neue" pitchFamily="34" charset="0"/>
                <a:ea typeface="Helvetica Neue" pitchFamily="34" charset="-122"/>
                <a:cs typeface="Helvetica Neue" pitchFamily="34" charset="-120"/>
              </a:rPr>
              <a:t>Bottom half of the benchmark story. Higher is better.</a:t>
            </a:r>
            <a:endParaRPr lang="en-US" sz="940" dirty="0"/>
          </a:p>
        </p:txBody>
      </p:sp>
      <p:sp>
        <p:nvSpPr>
          <p:cNvPr id="25" name="Shape 23"/>
          <p:cNvSpPr/>
          <p:nvPr/>
        </p:nvSpPr>
        <p:spPr>
          <a:xfrm>
            <a:off x="9345168" y="2697480"/>
            <a:ext cx="164592" cy="109728"/>
          </a:xfrm>
          <a:prstGeom prst="roundRect">
            <a:avLst>
              <a:gd name="adj" fmla="val 25000"/>
            </a:avLst>
          </a:prstGeom>
          <a:solidFill>
            <a:srgbClr val="4E79A7"/>
          </a:solidFill>
          <a:ln w="12700">
            <a:solidFill>
              <a:srgbClr val="4E79A7">
                <a:alpha val="0"/>
              </a:srgbClr>
            </a:solidFill>
            <a:prstDash val="solid"/>
          </a:ln>
        </p:spPr>
        <p:txBody>
          <a:bodyPr/>
          <a:lstStyle/>
          <a:p>
            <a:endParaRPr lang="en-US"/>
          </a:p>
        </p:txBody>
      </p:sp>
      <p:sp>
        <p:nvSpPr>
          <p:cNvPr id="26" name="Text 24"/>
          <p:cNvSpPr/>
          <p:nvPr/>
        </p:nvSpPr>
        <p:spPr>
          <a:xfrm>
            <a:off x="9564624" y="2683764"/>
            <a:ext cx="384048" cy="128016"/>
          </a:xfrm>
          <a:prstGeom prst="rect">
            <a:avLst/>
          </a:prstGeom>
          <a:noFill/>
          <a:ln/>
        </p:spPr>
        <p:txBody>
          <a:bodyPr wrap="square" lIns="0" tIns="0" rIns="0" bIns="0" rtlCol="0" anchor="ctr"/>
          <a:lstStyle/>
          <a:p>
            <a:pPr marL="0" indent="0">
              <a:buNone/>
            </a:pPr>
            <a:r>
              <a:rPr lang="en-US" sz="740" dirty="0">
                <a:solidFill>
                  <a:srgbClr val="22313B"/>
                </a:solidFill>
                <a:latin typeface="Helvetica Neue" pitchFamily="34" charset="0"/>
                <a:ea typeface="Helvetica Neue" pitchFamily="34" charset="-122"/>
                <a:cs typeface="Helvetica Neue" pitchFamily="34" charset="-120"/>
              </a:rPr>
              <a:t>gzip</a:t>
            </a:r>
            <a:endParaRPr lang="en-US" sz="740" dirty="0"/>
          </a:p>
        </p:txBody>
      </p:sp>
      <p:sp>
        <p:nvSpPr>
          <p:cNvPr id="27" name="Shape 25"/>
          <p:cNvSpPr/>
          <p:nvPr/>
        </p:nvSpPr>
        <p:spPr>
          <a:xfrm>
            <a:off x="9345168" y="2862072"/>
            <a:ext cx="164592" cy="109728"/>
          </a:xfrm>
          <a:prstGeom prst="roundRect">
            <a:avLst>
              <a:gd name="adj" fmla="val 25000"/>
            </a:avLst>
          </a:prstGeom>
          <a:solidFill>
            <a:srgbClr val="F28E2B"/>
          </a:solidFill>
          <a:ln w="12700">
            <a:solidFill>
              <a:srgbClr val="F28E2B">
                <a:alpha val="0"/>
              </a:srgbClr>
            </a:solidFill>
            <a:prstDash val="solid"/>
          </a:ln>
        </p:spPr>
        <p:txBody>
          <a:bodyPr/>
          <a:lstStyle/>
          <a:p>
            <a:endParaRPr lang="en-US"/>
          </a:p>
        </p:txBody>
      </p:sp>
      <p:sp>
        <p:nvSpPr>
          <p:cNvPr id="28" name="Text 26"/>
          <p:cNvSpPr/>
          <p:nvPr/>
        </p:nvSpPr>
        <p:spPr>
          <a:xfrm>
            <a:off x="9564624" y="2848356"/>
            <a:ext cx="384048" cy="128016"/>
          </a:xfrm>
          <a:prstGeom prst="rect">
            <a:avLst/>
          </a:prstGeom>
          <a:noFill/>
          <a:ln/>
        </p:spPr>
        <p:txBody>
          <a:bodyPr wrap="square" lIns="0" tIns="0" rIns="0" bIns="0" rtlCol="0" anchor="ctr"/>
          <a:lstStyle/>
          <a:p>
            <a:pPr marL="0" indent="0">
              <a:buNone/>
            </a:pPr>
            <a:r>
              <a:rPr lang="en-US" sz="740" dirty="0">
                <a:solidFill>
                  <a:srgbClr val="22313B"/>
                </a:solidFill>
                <a:latin typeface="Helvetica Neue" pitchFamily="34" charset="0"/>
                <a:ea typeface="Helvetica Neue" pitchFamily="34" charset="-122"/>
                <a:cs typeface="Helvetica Neue" pitchFamily="34" charset="-120"/>
              </a:rPr>
              <a:t>lz4</a:t>
            </a:r>
            <a:endParaRPr lang="en-US" sz="740" dirty="0"/>
          </a:p>
        </p:txBody>
      </p:sp>
      <p:sp>
        <p:nvSpPr>
          <p:cNvPr id="29" name="Shape 27"/>
          <p:cNvSpPr/>
          <p:nvPr/>
        </p:nvSpPr>
        <p:spPr>
          <a:xfrm>
            <a:off x="9345168" y="3026664"/>
            <a:ext cx="164592" cy="109728"/>
          </a:xfrm>
          <a:prstGeom prst="roundRect">
            <a:avLst>
              <a:gd name="adj" fmla="val 25000"/>
            </a:avLst>
          </a:prstGeom>
          <a:solidFill>
            <a:srgbClr val="59A14F"/>
          </a:solidFill>
          <a:ln w="12700">
            <a:solidFill>
              <a:srgbClr val="59A14F">
                <a:alpha val="0"/>
              </a:srgbClr>
            </a:solidFill>
            <a:prstDash val="solid"/>
          </a:ln>
        </p:spPr>
        <p:txBody>
          <a:bodyPr/>
          <a:lstStyle/>
          <a:p>
            <a:endParaRPr lang="en-US"/>
          </a:p>
        </p:txBody>
      </p:sp>
      <p:sp>
        <p:nvSpPr>
          <p:cNvPr id="30" name="Text 28"/>
          <p:cNvSpPr/>
          <p:nvPr/>
        </p:nvSpPr>
        <p:spPr>
          <a:xfrm>
            <a:off x="9564624" y="3012948"/>
            <a:ext cx="384048" cy="128016"/>
          </a:xfrm>
          <a:prstGeom prst="rect">
            <a:avLst/>
          </a:prstGeom>
          <a:noFill/>
          <a:ln/>
        </p:spPr>
        <p:txBody>
          <a:bodyPr wrap="square" lIns="0" tIns="0" rIns="0" bIns="0" rtlCol="0" anchor="ctr"/>
          <a:lstStyle/>
          <a:p>
            <a:pPr marL="0" indent="0">
              <a:buNone/>
            </a:pPr>
            <a:r>
              <a:rPr lang="en-US" sz="740" dirty="0">
                <a:solidFill>
                  <a:srgbClr val="22313B"/>
                </a:solidFill>
                <a:latin typeface="Helvetica Neue" pitchFamily="34" charset="0"/>
                <a:ea typeface="Helvetica Neue" pitchFamily="34" charset="-122"/>
                <a:cs typeface="Helvetica Neue" pitchFamily="34" charset="-120"/>
              </a:rPr>
              <a:t>zstd</a:t>
            </a:r>
            <a:endParaRPr lang="en-US" sz="740" dirty="0"/>
          </a:p>
        </p:txBody>
      </p:sp>
      <p:sp>
        <p:nvSpPr>
          <p:cNvPr id="31" name="Shape 29"/>
          <p:cNvSpPr/>
          <p:nvPr/>
        </p:nvSpPr>
        <p:spPr>
          <a:xfrm>
            <a:off x="6053328" y="4837176"/>
            <a:ext cx="4005072" cy="0"/>
          </a:xfrm>
          <a:prstGeom prst="line">
            <a:avLst/>
          </a:prstGeom>
          <a:noFill/>
          <a:ln w="12700">
            <a:solidFill>
              <a:srgbClr val="D8E0E8"/>
            </a:solidFill>
            <a:prstDash val="solid"/>
          </a:ln>
        </p:spPr>
        <p:txBody>
          <a:bodyPr/>
          <a:lstStyle/>
          <a:p>
            <a:endParaRPr lang="en-US"/>
          </a:p>
        </p:txBody>
      </p:sp>
      <p:sp>
        <p:nvSpPr>
          <p:cNvPr id="32" name="Text 30"/>
          <p:cNvSpPr/>
          <p:nvPr/>
        </p:nvSpPr>
        <p:spPr>
          <a:xfrm>
            <a:off x="5504688" y="4764024"/>
            <a:ext cx="438912" cy="146304"/>
          </a:xfrm>
          <a:prstGeom prst="rect">
            <a:avLst/>
          </a:prstGeom>
          <a:noFill/>
          <a:ln/>
        </p:spPr>
        <p:txBody>
          <a:bodyPr wrap="square" lIns="0" tIns="0" rIns="0" bIns="0" rtlCol="0" anchor="ctr"/>
          <a:lstStyle/>
          <a:p>
            <a:pPr marL="0" indent="0" algn="r">
              <a:buNone/>
            </a:pPr>
            <a:r>
              <a:rPr lang="en-US" sz="760" dirty="0">
                <a:solidFill>
                  <a:srgbClr val="53626C"/>
                </a:solidFill>
                <a:latin typeface="Helvetica Neue" pitchFamily="34" charset="0"/>
                <a:ea typeface="Helvetica Neue" pitchFamily="34" charset="-122"/>
                <a:cs typeface="Helvetica Neue" pitchFamily="34" charset="-120"/>
              </a:rPr>
              <a:t>0.0</a:t>
            </a:r>
            <a:endParaRPr lang="en-US" sz="760" dirty="0"/>
          </a:p>
        </p:txBody>
      </p:sp>
      <p:sp>
        <p:nvSpPr>
          <p:cNvPr id="33" name="Shape 31"/>
          <p:cNvSpPr/>
          <p:nvPr/>
        </p:nvSpPr>
        <p:spPr>
          <a:xfrm>
            <a:off x="6053328" y="4443984"/>
            <a:ext cx="4005072" cy="0"/>
          </a:xfrm>
          <a:prstGeom prst="line">
            <a:avLst/>
          </a:prstGeom>
          <a:noFill/>
          <a:ln w="12700">
            <a:solidFill>
              <a:srgbClr val="D8E0E8"/>
            </a:solidFill>
            <a:prstDash val="solid"/>
          </a:ln>
        </p:spPr>
        <p:txBody>
          <a:bodyPr/>
          <a:lstStyle/>
          <a:p>
            <a:endParaRPr lang="en-US"/>
          </a:p>
        </p:txBody>
      </p:sp>
      <p:sp>
        <p:nvSpPr>
          <p:cNvPr id="34" name="Text 32"/>
          <p:cNvSpPr/>
          <p:nvPr/>
        </p:nvSpPr>
        <p:spPr>
          <a:xfrm>
            <a:off x="5504688" y="4370832"/>
            <a:ext cx="438912" cy="146304"/>
          </a:xfrm>
          <a:prstGeom prst="rect">
            <a:avLst/>
          </a:prstGeom>
          <a:noFill/>
          <a:ln/>
        </p:spPr>
        <p:txBody>
          <a:bodyPr wrap="square" lIns="0" tIns="0" rIns="0" bIns="0" rtlCol="0" anchor="ctr"/>
          <a:lstStyle/>
          <a:p>
            <a:pPr marL="0" indent="0" algn="r">
              <a:buNone/>
            </a:pPr>
            <a:r>
              <a:rPr lang="en-US" sz="760" dirty="0">
                <a:solidFill>
                  <a:srgbClr val="53626C"/>
                </a:solidFill>
                <a:latin typeface="Helvetica Neue" pitchFamily="34" charset="0"/>
                <a:ea typeface="Helvetica Neue" pitchFamily="34" charset="-122"/>
                <a:cs typeface="Helvetica Neue" pitchFamily="34" charset="-120"/>
              </a:rPr>
              <a:t>0.3</a:t>
            </a:r>
            <a:endParaRPr lang="en-US" sz="760" dirty="0"/>
          </a:p>
        </p:txBody>
      </p:sp>
      <p:sp>
        <p:nvSpPr>
          <p:cNvPr id="35" name="Shape 33"/>
          <p:cNvSpPr/>
          <p:nvPr/>
        </p:nvSpPr>
        <p:spPr>
          <a:xfrm>
            <a:off x="6053328" y="4050792"/>
            <a:ext cx="4005072" cy="0"/>
          </a:xfrm>
          <a:prstGeom prst="line">
            <a:avLst/>
          </a:prstGeom>
          <a:noFill/>
          <a:ln w="12700">
            <a:solidFill>
              <a:srgbClr val="D8E0E8"/>
            </a:solidFill>
            <a:prstDash val="solid"/>
          </a:ln>
        </p:spPr>
        <p:txBody>
          <a:bodyPr/>
          <a:lstStyle/>
          <a:p>
            <a:endParaRPr lang="en-US"/>
          </a:p>
        </p:txBody>
      </p:sp>
      <p:sp>
        <p:nvSpPr>
          <p:cNvPr id="36" name="Text 34"/>
          <p:cNvSpPr/>
          <p:nvPr/>
        </p:nvSpPr>
        <p:spPr>
          <a:xfrm>
            <a:off x="5504688" y="3977640"/>
            <a:ext cx="438912" cy="146304"/>
          </a:xfrm>
          <a:prstGeom prst="rect">
            <a:avLst/>
          </a:prstGeom>
          <a:noFill/>
          <a:ln/>
        </p:spPr>
        <p:txBody>
          <a:bodyPr wrap="square" lIns="0" tIns="0" rIns="0" bIns="0" rtlCol="0" anchor="ctr"/>
          <a:lstStyle/>
          <a:p>
            <a:pPr marL="0" indent="0" algn="r">
              <a:buNone/>
            </a:pPr>
            <a:r>
              <a:rPr lang="en-US" sz="760" dirty="0">
                <a:solidFill>
                  <a:srgbClr val="53626C"/>
                </a:solidFill>
                <a:latin typeface="Helvetica Neue" pitchFamily="34" charset="0"/>
                <a:ea typeface="Helvetica Neue" pitchFamily="34" charset="-122"/>
                <a:cs typeface="Helvetica Neue" pitchFamily="34" charset="-120"/>
              </a:rPr>
              <a:t>0.6</a:t>
            </a:r>
            <a:endParaRPr lang="en-US" sz="760" dirty="0"/>
          </a:p>
        </p:txBody>
      </p:sp>
      <p:sp>
        <p:nvSpPr>
          <p:cNvPr id="37" name="Shape 35"/>
          <p:cNvSpPr/>
          <p:nvPr/>
        </p:nvSpPr>
        <p:spPr>
          <a:xfrm>
            <a:off x="6053328" y="3657600"/>
            <a:ext cx="4005072" cy="0"/>
          </a:xfrm>
          <a:prstGeom prst="line">
            <a:avLst/>
          </a:prstGeom>
          <a:noFill/>
          <a:ln w="12700">
            <a:solidFill>
              <a:srgbClr val="D8E0E8"/>
            </a:solidFill>
            <a:prstDash val="solid"/>
          </a:ln>
        </p:spPr>
        <p:txBody>
          <a:bodyPr/>
          <a:lstStyle/>
          <a:p>
            <a:endParaRPr lang="en-US"/>
          </a:p>
        </p:txBody>
      </p:sp>
      <p:sp>
        <p:nvSpPr>
          <p:cNvPr id="38" name="Text 36"/>
          <p:cNvSpPr/>
          <p:nvPr/>
        </p:nvSpPr>
        <p:spPr>
          <a:xfrm>
            <a:off x="5504688" y="3584448"/>
            <a:ext cx="438912" cy="146304"/>
          </a:xfrm>
          <a:prstGeom prst="rect">
            <a:avLst/>
          </a:prstGeom>
          <a:noFill/>
          <a:ln/>
        </p:spPr>
        <p:txBody>
          <a:bodyPr wrap="square" lIns="0" tIns="0" rIns="0" bIns="0" rtlCol="0" anchor="ctr"/>
          <a:lstStyle/>
          <a:p>
            <a:pPr marL="0" indent="0" algn="r">
              <a:buNone/>
            </a:pPr>
            <a:r>
              <a:rPr lang="en-US" sz="760" dirty="0">
                <a:solidFill>
                  <a:srgbClr val="53626C"/>
                </a:solidFill>
                <a:latin typeface="Helvetica Neue" pitchFamily="34" charset="0"/>
                <a:ea typeface="Helvetica Neue" pitchFamily="34" charset="-122"/>
                <a:cs typeface="Helvetica Neue" pitchFamily="34" charset="-120"/>
              </a:rPr>
              <a:t>0.9</a:t>
            </a:r>
            <a:endParaRPr lang="en-US" sz="760" dirty="0"/>
          </a:p>
        </p:txBody>
      </p:sp>
      <p:sp>
        <p:nvSpPr>
          <p:cNvPr id="39" name="Shape 37"/>
          <p:cNvSpPr/>
          <p:nvPr/>
        </p:nvSpPr>
        <p:spPr>
          <a:xfrm>
            <a:off x="6053328" y="3264408"/>
            <a:ext cx="4005072" cy="0"/>
          </a:xfrm>
          <a:prstGeom prst="line">
            <a:avLst/>
          </a:prstGeom>
          <a:noFill/>
          <a:ln w="12700">
            <a:solidFill>
              <a:srgbClr val="D8E0E8"/>
            </a:solidFill>
            <a:prstDash val="solid"/>
          </a:ln>
        </p:spPr>
        <p:txBody>
          <a:bodyPr/>
          <a:lstStyle/>
          <a:p>
            <a:endParaRPr lang="en-US"/>
          </a:p>
        </p:txBody>
      </p:sp>
      <p:sp>
        <p:nvSpPr>
          <p:cNvPr id="40" name="Text 38"/>
          <p:cNvSpPr/>
          <p:nvPr/>
        </p:nvSpPr>
        <p:spPr>
          <a:xfrm>
            <a:off x="5504688" y="3191256"/>
            <a:ext cx="438912" cy="146304"/>
          </a:xfrm>
          <a:prstGeom prst="rect">
            <a:avLst/>
          </a:prstGeom>
          <a:noFill/>
          <a:ln/>
        </p:spPr>
        <p:txBody>
          <a:bodyPr wrap="square" lIns="0" tIns="0" rIns="0" bIns="0" rtlCol="0" anchor="ctr"/>
          <a:lstStyle/>
          <a:p>
            <a:pPr marL="0" indent="0" algn="r">
              <a:buNone/>
            </a:pPr>
            <a:r>
              <a:rPr lang="en-US" sz="760" dirty="0">
                <a:solidFill>
                  <a:srgbClr val="53626C"/>
                </a:solidFill>
                <a:latin typeface="Helvetica Neue" pitchFamily="34" charset="0"/>
                <a:ea typeface="Helvetica Neue" pitchFamily="34" charset="-122"/>
                <a:cs typeface="Helvetica Neue" pitchFamily="34" charset="-120"/>
              </a:rPr>
              <a:t>1.2</a:t>
            </a:r>
            <a:endParaRPr lang="en-US" sz="760" dirty="0"/>
          </a:p>
        </p:txBody>
      </p:sp>
      <p:pic>
        <p:nvPicPr>
          <p:cNvPr id="41"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449824" y="3493008"/>
            <a:ext cx="182880" cy="1444752"/>
          </a:xfrm>
          <a:prstGeom prst="rect">
            <a:avLst/>
          </a:prstGeom>
        </p:spPr>
      </p:pic>
      <p:sp>
        <p:nvSpPr>
          <p:cNvPr id="42" name="Shape 39"/>
          <p:cNvSpPr/>
          <p:nvPr/>
        </p:nvSpPr>
        <p:spPr>
          <a:xfrm>
            <a:off x="6053328" y="3264408"/>
            <a:ext cx="0" cy="1572768"/>
          </a:xfrm>
          <a:prstGeom prst="line">
            <a:avLst/>
          </a:prstGeom>
          <a:noFill/>
          <a:ln w="12700">
            <a:solidFill>
              <a:srgbClr val="22313B"/>
            </a:solidFill>
            <a:prstDash val="solid"/>
          </a:ln>
        </p:spPr>
        <p:txBody>
          <a:bodyPr/>
          <a:lstStyle/>
          <a:p>
            <a:endParaRPr lang="en-US"/>
          </a:p>
        </p:txBody>
      </p:sp>
      <p:sp>
        <p:nvSpPr>
          <p:cNvPr id="43" name="Shape 40"/>
          <p:cNvSpPr/>
          <p:nvPr/>
        </p:nvSpPr>
        <p:spPr>
          <a:xfrm>
            <a:off x="6053328" y="4837176"/>
            <a:ext cx="4005072" cy="0"/>
          </a:xfrm>
          <a:prstGeom prst="line">
            <a:avLst/>
          </a:prstGeom>
          <a:noFill/>
          <a:ln w="12700">
            <a:solidFill>
              <a:srgbClr val="22313B"/>
            </a:solidFill>
            <a:prstDash val="solid"/>
          </a:ln>
        </p:spPr>
        <p:txBody>
          <a:bodyPr/>
          <a:lstStyle/>
          <a:p>
            <a:endParaRPr lang="en-US"/>
          </a:p>
        </p:txBody>
      </p:sp>
      <p:sp>
        <p:nvSpPr>
          <p:cNvPr id="44" name="Shape 41"/>
          <p:cNvSpPr/>
          <p:nvPr/>
        </p:nvSpPr>
        <p:spPr>
          <a:xfrm>
            <a:off x="6199632" y="4742810"/>
            <a:ext cx="146304" cy="94366"/>
          </a:xfrm>
          <a:prstGeom prst="rect">
            <a:avLst/>
          </a:prstGeom>
          <a:solidFill>
            <a:srgbClr val="4E79A7"/>
          </a:solidFill>
          <a:ln w="12700">
            <a:solidFill>
              <a:srgbClr val="4E79A7">
                <a:alpha val="0"/>
              </a:srgbClr>
            </a:solidFill>
            <a:prstDash val="solid"/>
          </a:ln>
        </p:spPr>
        <p:txBody>
          <a:bodyPr/>
          <a:lstStyle/>
          <a:p>
            <a:endParaRPr lang="en-US"/>
          </a:p>
        </p:txBody>
      </p:sp>
      <p:sp>
        <p:nvSpPr>
          <p:cNvPr id="45" name="Shape 42"/>
          <p:cNvSpPr/>
          <p:nvPr/>
        </p:nvSpPr>
        <p:spPr>
          <a:xfrm>
            <a:off x="6272784" y="4742810"/>
            <a:ext cx="0" cy="0"/>
          </a:xfrm>
          <a:prstGeom prst="line">
            <a:avLst/>
          </a:prstGeom>
          <a:noFill/>
          <a:ln w="12700">
            <a:solidFill>
              <a:srgbClr val="22313B"/>
            </a:solidFill>
            <a:prstDash val="solid"/>
          </a:ln>
        </p:spPr>
        <p:txBody>
          <a:bodyPr/>
          <a:lstStyle/>
          <a:p>
            <a:endParaRPr lang="en-US"/>
          </a:p>
        </p:txBody>
      </p:sp>
      <p:sp>
        <p:nvSpPr>
          <p:cNvPr id="46" name="Shape 43"/>
          <p:cNvSpPr/>
          <p:nvPr/>
        </p:nvSpPr>
        <p:spPr>
          <a:xfrm>
            <a:off x="6236208" y="4742810"/>
            <a:ext cx="73152" cy="0"/>
          </a:xfrm>
          <a:prstGeom prst="line">
            <a:avLst/>
          </a:prstGeom>
          <a:noFill/>
          <a:ln w="12700">
            <a:solidFill>
              <a:srgbClr val="22313B"/>
            </a:solidFill>
            <a:prstDash val="solid"/>
          </a:ln>
        </p:spPr>
        <p:txBody>
          <a:bodyPr/>
          <a:lstStyle/>
          <a:p>
            <a:endParaRPr lang="en-US"/>
          </a:p>
        </p:txBody>
      </p:sp>
      <p:sp>
        <p:nvSpPr>
          <p:cNvPr id="47" name="Shape 44"/>
          <p:cNvSpPr/>
          <p:nvPr/>
        </p:nvSpPr>
        <p:spPr>
          <a:xfrm>
            <a:off x="6236208" y="4742810"/>
            <a:ext cx="73152" cy="0"/>
          </a:xfrm>
          <a:prstGeom prst="line">
            <a:avLst/>
          </a:prstGeom>
          <a:noFill/>
          <a:ln w="12700">
            <a:solidFill>
              <a:srgbClr val="22313B"/>
            </a:solidFill>
            <a:prstDash val="solid"/>
          </a:ln>
        </p:spPr>
        <p:txBody>
          <a:bodyPr/>
          <a:lstStyle/>
          <a:p>
            <a:endParaRPr lang="en-US"/>
          </a:p>
        </p:txBody>
      </p:sp>
      <p:sp>
        <p:nvSpPr>
          <p:cNvPr id="48" name="Shape 45"/>
          <p:cNvSpPr/>
          <p:nvPr/>
        </p:nvSpPr>
        <p:spPr>
          <a:xfrm>
            <a:off x="6391656" y="4668103"/>
            <a:ext cx="146304" cy="169073"/>
          </a:xfrm>
          <a:prstGeom prst="rect">
            <a:avLst/>
          </a:prstGeom>
          <a:solidFill>
            <a:srgbClr val="F28E2B"/>
          </a:solidFill>
          <a:ln w="12700">
            <a:solidFill>
              <a:srgbClr val="F28E2B">
                <a:alpha val="0"/>
              </a:srgbClr>
            </a:solidFill>
            <a:prstDash val="solid"/>
          </a:ln>
        </p:spPr>
        <p:txBody>
          <a:bodyPr/>
          <a:lstStyle/>
          <a:p>
            <a:endParaRPr lang="en-US"/>
          </a:p>
        </p:txBody>
      </p:sp>
      <p:sp>
        <p:nvSpPr>
          <p:cNvPr id="49" name="Shape 46"/>
          <p:cNvSpPr/>
          <p:nvPr/>
        </p:nvSpPr>
        <p:spPr>
          <a:xfrm>
            <a:off x="6464808" y="4668103"/>
            <a:ext cx="0" cy="0"/>
          </a:xfrm>
          <a:prstGeom prst="line">
            <a:avLst/>
          </a:prstGeom>
          <a:noFill/>
          <a:ln w="12700">
            <a:solidFill>
              <a:srgbClr val="22313B"/>
            </a:solidFill>
            <a:prstDash val="solid"/>
          </a:ln>
        </p:spPr>
        <p:txBody>
          <a:bodyPr/>
          <a:lstStyle/>
          <a:p>
            <a:endParaRPr lang="en-US"/>
          </a:p>
        </p:txBody>
      </p:sp>
      <p:sp>
        <p:nvSpPr>
          <p:cNvPr id="50" name="Shape 47"/>
          <p:cNvSpPr/>
          <p:nvPr/>
        </p:nvSpPr>
        <p:spPr>
          <a:xfrm>
            <a:off x="6428232" y="4668103"/>
            <a:ext cx="73152" cy="0"/>
          </a:xfrm>
          <a:prstGeom prst="line">
            <a:avLst/>
          </a:prstGeom>
          <a:noFill/>
          <a:ln w="12700">
            <a:solidFill>
              <a:srgbClr val="22313B"/>
            </a:solidFill>
            <a:prstDash val="solid"/>
          </a:ln>
        </p:spPr>
        <p:txBody>
          <a:bodyPr/>
          <a:lstStyle/>
          <a:p>
            <a:endParaRPr lang="en-US"/>
          </a:p>
        </p:txBody>
      </p:sp>
      <p:sp>
        <p:nvSpPr>
          <p:cNvPr id="51" name="Shape 48"/>
          <p:cNvSpPr/>
          <p:nvPr/>
        </p:nvSpPr>
        <p:spPr>
          <a:xfrm>
            <a:off x="6428232" y="4668103"/>
            <a:ext cx="73152" cy="0"/>
          </a:xfrm>
          <a:prstGeom prst="line">
            <a:avLst/>
          </a:prstGeom>
          <a:noFill/>
          <a:ln w="12700">
            <a:solidFill>
              <a:srgbClr val="22313B"/>
            </a:solidFill>
            <a:prstDash val="solid"/>
          </a:ln>
        </p:spPr>
        <p:txBody>
          <a:bodyPr/>
          <a:lstStyle/>
          <a:p>
            <a:endParaRPr lang="en-US"/>
          </a:p>
        </p:txBody>
      </p:sp>
      <p:sp>
        <p:nvSpPr>
          <p:cNvPr id="52" name="Shape 49"/>
          <p:cNvSpPr/>
          <p:nvPr/>
        </p:nvSpPr>
        <p:spPr>
          <a:xfrm>
            <a:off x="6583680" y="4742810"/>
            <a:ext cx="146304" cy="94366"/>
          </a:xfrm>
          <a:prstGeom prst="rect">
            <a:avLst/>
          </a:prstGeom>
          <a:solidFill>
            <a:srgbClr val="59A14F"/>
          </a:solidFill>
          <a:ln w="12700">
            <a:solidFill>
              <a:srgbClr val="59A14F">
                <a:alpha val="0"/>
              </a:srgbClr>
            </a:solidFill>
            <a:prstDash val="solid"/>
          </a:ln>
        </p:spPr>
        <p:txBody>
          <a:bodyPr/>
          <a:lstStyle/>
          <a:p>
            <a:endParaRPr lang="en-US"/>
          </a:p>
        </p:txBody>
      </p:sp>
      <p:sp>
        <p:nvSpPr>
          <p:cNvPr id="53" name="Shape 50"/>
          <p:cNvSpPr/>
          <p:nvPr/>
        </p:nvSpPr>
        <p:spPr>
          <a:xfrm>
            <a:off x="6656832" y="4742810"/>
            <a:ext cx="0" cy="0"/>
          </a:xfrm>
          <a:prstGeom prst="line">
            <a:avLst/>
          </a:prstGeom>
          <a:noFill/>
          <a:ln w="12700">
            <a:solidFill>
              <a:srgbClr val="22313B"/>
            </a:solidFill>
            <a:prstDash val="solid"/>
          </a:ln>
        </p:spPr>
        <p:txBody>
          <a:bodyPr/>
          <a:lstStyle/>
          <a:p>
            <a:endParaRPr lang="en-US"/>
          </a:p>
        </p:txBody>
      </p:sp>
      <p:sp>
        <p:nvSpPr>
          <p:cNvPr id="54" name="Shape 51"/>
          <p:cNvSpPr/>
          <p:nvPr/>
        </p:nvSpPr>
        <p:spPr>
          <a:xfrm>
            <a:off x="6620256" y="4742810"/>
            <a:ext cx="73152" cy="0"/>
          </a:xfrm>
          <a:prstGeom prst="line">
            <a:avLst/>
          </a:prstGeom>
          <a:noFill/>
          <a:ln w="12700">
            <a:solidFill>
              <a:srgbClr val="22313B"/>
            </a:solidFill>
            <a:prstDash val="solid"/>
          </a:ln>
        </p:spPr>
        <p:txBody>
          <a:bodyPr/>
          <a:lstStyle/>
          <a:p>
            <a:endParaRPr lang="en-US"/>
          </a:p>
        </p:txBody>
      </p:sp>
      <p:sp>
        <p:nvSpPr>
          <p:cNvPr id="55" name="Shape 52"/>
          <p:cNvSpPr/>
          <p:nvPr/>
        </p:nvSpPr>
        <p:spPr>
          <a:xfrm>
            <a:off x="6620256" y="4742810"/>
            <a:ext cx="73152" cy="0"/>
          </a:xfrm>
          <a:prstGeom prst="line">
            <a:avLst/>
          </a:prstGeom>
          <a:noFill/>
          <a:ln w="12700">
            <a:solidFill>
              <a:srgbClr val="22313B"/>
            </a:solidFill>
            <a:prstDash val="solid"/>
          </a:ln>
        </p:spPr>
        <p:txBody>
          <a:bodyPr/>
          <a:lstStyle/>
          <a:p>
            <a:endParaRPr lang="en-US"/>
          </a:p>
        </p:txBody>
      </p:sp>
      <p:sp>
        <p:nvSpPr>
          <p:cNvPr id="56" name="Text 53"/>
          <p:cNvSpPr/>
          <p:nvPr/>
        </p:nvSpPr>
        <p:spPr>
          <a:xfrm>
            <a:off x="6126480" y="4910328"/>
            <a:ext cx="768096" cy="146304"/>
          </a:xfrm>
          <a:prstGeom prst="rect">
            <a:avLst/>
          </a:prstGeom>
          <a:noFill/>
          <a:ln/>
        </p:spPr>
        <p:txBody>
          <a:bodyPr wrap="square" lIns="0" tIns="0" rIns="0" bIns="0" rtlCol="0" anchor="ctr"/>
          <a:lstStyle/>
          <a:p>
            <a:pPr marL="0" indent="0" algn="ctr">
              <a:buNone/>
            </a:pPr>
            <a:r>
              <a:rPr lang="en-US" sz="810" dirty="0">
                <a:solidFill>
                  <a:srgbClr val="22313B"/>
                </a:solidFill>
                <a:latin typeface="Helvetica Neue" pitchFamily="34" charset="0"/>
                <a:ea typeface="Helvetica Neue" pitchFamily="34" charset="-122"/>
                <a:cs typeface="Helvetica Neue" pitchFamily="34" charset="-120"/>
              </a:rPr>
              <a:t>hdf5</a:t>
            </a:r>
            <a:endParaRPr lang="en-US" sz="810" dirty="0"/>
          </a:p>
        </p:txBody>
      </p:sp>
      <p:sp>
        <p:nvSpPr>
          <p:cNvPr id="57" name="Shape 54"/>
          <p:cNvSpPr/>
          <p:nvPr/>
        </p:nvSpPr>
        <p:spPr>
          <a:xfrm>
            <a:off x="7168896" y="4420392"/>
            <a:ext cx="146304" cy="416784"/>
          </a:xfrm>
          <a:prstGeom prst="rect">
            <a:avLst/>
          </a:prstGeom>
          <a:solidFill>
            <a:srgbClr val="4E79A7"/>
          </a:solidFill>
          <a:ln w="12700">
            <a:solidFill>
              <a:srgbClr val="4E79A7">
                <a:alpha val="0"/>
              </a:srgbClr>
            </a:solidFill>
            <a:prstDash val="solid"/>
          </a:ln>
        </p:spPr>
        <p:txBody>
          <a:bodyPr/>
          <a:lstStyle/>
          <a:p>
            <a:endParaRPr lang="en-US"/>
          </a:p>
        </p:txBody>
      </p:sp>
      <p:sp>
        <p:nvSpPr>
          <p:cNvPr id="58" name="Shape 55"/>
          <p:cNvSpPr/>
          <p:nvPr/>
        </p:nvSpPr>
        <p:spPr>
          <a:xfrm>
            <a:off x="7242048" y="4416461"/>
            <a:ext cx="0" cy="7864"/>
          </a:xfrm>
          <a:prstGeom prst="line">
            <a:avLst/>
          </a:prstGeom>
          <a:noFill/>
          <a:ln w="12700">
            <a:solidFill>
              <a:srgbClr val="22313B"/>
            </a:solidFill>
            <a:prstDash val="solid"/>
          </a:ln>
        </p:spPr>
        <p:txBody>
          <a:bodyPr/>
          <a:lstStyle/>
          <a:p>
            <a:endParaRPr lang="en-US"/>
          </a:p>
        </p:txBody>
      </p:sp>
      <p:sp>
        <p:nvSpPr>
          <p:cNvPr id="59" name="Shape 56"/>
          <p:cNvSpPr/>
          <p:nvPr/>
        </p:nvSpPr>
        <p:spPr>
          <a:xfrm>
            <a:off x="7205472" y="4416461"/>
            <a:ext cx="73152" cy="0"/>
          </a:xfrm>
          <a:prstGeom prst="line">
            <a:avLst/>
          </a:prstGeom>
          <a:noFill/>
          <a:ln w="12700">
            <a:solidFill>
              <a:srgbClr val="22313B"/>
            </a:solidFill>
            <a:prstDash val="solid"/>
          </a:ln>
        </p:spPr>
        <p:txBody>
          <a:bodyPr/>
          <a:lstStyle/>
          <a:p>
            <a:endParaRPr lang="en-US"/>
          </a:p>
        </p:txBody>
      </p:sp>
      <p:sp>
        <p:nvSpPr>
          <p:cNvPr id="60" name="Shape 57"/>
          <p:cNvSpPr/>
          <p:nvPr/>
        </p:nvSpPr>
        <p:spPr>
          <a:xfrm>
            <a:off x="7205472" y="4424324"/>
            <a:ext cx="73152" cy="0"/>
          </a:xfrm>
          <a:prstGeom prst="line">
            <a:avLst/>
          </a:prstGeom>
          <a:noFill/>
          <a:ln w="12700">
            <a:solidFill>
              <a:srgbClr val="22313B"/>
            </a:solidFill>
            <a:prstDash val="solid"/>
          </a:ln>
        </p:spPr>
        <p:txBody>
          <a:bodyPr/>
          <a:lstStyle/>
          <a:p>
            <a:endParaRPr lang="en-US"/>
          </a:p>
        </p:txBody>
      </p:sp>
      <p:sp>
        <p:nvSpPr>
          <p:cNvPr id="61" name="Shape 58"/>
          <p:cNvSpPr/>
          <p:nvPr/>
        </p:nvSpPr>
        <p:spPr>
          <a:xfrm>
            <a:off x="7360920" y="4354860"/>
            <a:ext cx="146304" cy="482316"/>
          </a:xfrm>
          <a:prstGeom prst="rect">
            <a:avLst/>
          </a:prstGeom>
          <a:solidFill>
            <a:srgbClr val="F28E2B"/>
          </a:solidFill>
          <a:ln w="12700">
            <a:solidFill>
              <a:srgbClr val="F28E2B">
                <a:alpha val="0"/>
              </a:srgbClr>
            </a:solidFill>
            <a:prstDash val="solid"/>
          </a:ln>
        </p:spPr>
        <p:txBody>
          <a:bodyPr/>
          <a:lstStyle/>
          <a:p>
            <a:endParaRPr lang="en-US"/>
          </a:p>
        </p:txBody>
      </p:sp>
      <p:sp>
        <p:nvSpPr>
          <p:cNvPr id="62" name="Shape 59"/>
          <p:cNvSpPr/>
          <p:nvPr/>
        </p:nvSpPr>
        <p:spPr>
          <a:xfrm>
            <a:off x="7434072" y="4350929"/>
            <a:ext cx="0" cy="7864"/>
          </a:xfrm>
          <a:prstGeom prst="line">
            <a:avLst/>
          </a:prstGeom>
          <a:noFill/>
          <a:ln w="12700">
            <a:solidFill>
              <a:srgbClr val="22313B"/>
            </a:solidFill>
            <a:prstDash val="solid"/>
          </a:ln>
        </p:spPr>
        <p:txBody>
          <a:bodyPr/>
          <a:lstStyle/>
          <a:p>
            <a:endParaRPr lang="en-US"/>
          </a:p>
        </p:txBody>
      </p:sp>
      <p:sp>
        <p:nvSpPr>
          <p:cNvPr id="63" name="Shape 60"/>
          <p:cNvSpPr/>
          <p:nvPr/>
        </p:nvSpPr>
        <p:spPr>
          <a:xfrm>
            <a:off x="7397496" y="4350929"/>
            <a:ext cx="73152" cy="0"/>
          </a:xfrm>
          <a:prstGeom prst="line">
            <a:avLst/>
          </a:prstGeom>
          <a:noFill/>
          <a:ln w="12700">
            <a:solidFill>
              <a:srgbClr val="22313B"/>
            </a:solidFill>
            <a:prstDash val="solid"/>
          </a:ln>
        </p:spPr>
        <p:txBody>
          <a:bodyPr/>
          <a:lstStyle/>
          <a:p>
            <a:endParaRPr lang="en-US"/>
          </a:p>
        </p:txBody>
      </p:sp>
      <p:sp>
        <p:nvSpPr>
          <p:cNvPr id="64" name="Shape 61"/>
          <p:cNvSpPr/>
          <p:nvPr/>
        </p:nvSpPr>
        <p:spPr>
          <a:xfrm>
            <a:off x="7397496" y="4358792"/>
            <a:ext cx="73152" cy="0"/>
          </a:xfrm>
          <a:prstGeom prst="line">
            <a:avLst/>
          </a:prstGeom>
          <a:noFill/>
          <a:ln w="12700">
            <a:solidFill>
              <a:srgbClr val="22313B"/>
            </a:solidFill>
            <a:prstDash val="solid"/>
          </a:ln>
        </p:spPr>
        <p:txBody>
          <a:bodyPr/>
          <a:lstStyle/>
          <a:p>
            <a:endParaRPr lang="en-US"/>
          </a:p>
        </p:txBody>
      </p:sp>
      <p:sp>
        <p:nvSpPr>
          <p:cNvPr id="65" name="Shape 62"/>
          <p:cNvSpPr/>
          <p:nvPr/>
        </p:nvSpPr>
        <p:spPr>
          <a:xfrm>
            <a:off x="7552944" y="4374520"/>
            <a:ext cx="146304" cy="462656"/>
          </a:xfrm>
          <a:prstGeom prst="rect">
            <a:avLst/>
          </a:prstGeom>
          <a:solidFill>
            <a:srgbClr val="59A14F"/>
          </a:solidFill>
          <a:ln w="12700">
            <a:solidFill>
              <a:srgbClr val="59A14F">
                <a:alpha val="0"/>
              </a:srgbClr>
            </a:solidFill>
            <a:prstDash val="solid"/>
          </a:ln>
        </p:spPr>
        <p:txBody>
          <a:bodyPr/>
          <a:lstStyle/>
          <a:p>
            <a:endParaRPr lang="en-US"/>
          </a:p>
        </p:txBody>
      </p:sp>
      <p:sp>
        <p:nvSpPr>
          <p:cNvPr id="66" name="Shape 63"/>
          <p:cNvSpPr/>
          <p:nvPr/>
        </p:nvSpPr>
        <p:spPr>
          <a:xfrm>
            <a:off x="7626096" y="4370588"/>
            <a:ext cx="0" cy="6553"/>
          </a:xfrm>
          <a:prstGeom prst="line">
            <a:avLst/>
          </a:prstGeom>
          <a:noFill/>
          <a:ln w="12700">
            <a:solidFill>
              <a:srgbClr val="22313B"/>
            </a:solidFill>
            <a:prstDash val="solid"/>
          </a:ln>
        </p:spPr>
        <p:txBody>
          <a:bodyPr/>
          <a:lstStyle/>
          <a:p>
            <a:endParaRPr lang="en-US"/>
          </a:p>
        </p:txBody>
      </p:sp>
      <p:sp>
        <p:nvSpPr>
          <p:cNvPr id="67" name="Shape 64"/>
          <p:cNvSpPr/>
          <p:nvPr/>
        </p:nvSpPr>
        <p:spPr>
          <a:xfrm>
            <a:off x="7589520" y="4370588"/>
            <a:ext cx="73152" cy="0"/>
          </a:xfrm>
          <a:prstGeom prst="line">
            <a:avLst/>
          </a:prstGeom>
          <a:noFill/>
          <a:ln w="12700">
            <a:solidFill>
              <a:srgbClr val="22313B"/>
            </a:solidFill>
            <a:prstDash val="solid"/>
          </a:ln>
        </p:spPr>
        <p:txBody>
          <a:bodyPr/>
          <a:lstStyle/>
          <a:p>
            <a:endParaRPr lang="en-US"/>
          </a:p>
        </p:txBody>
      </p:sp>
      <p:sp>
        <p:nvSpPr>
          <p:cNvPr id="68" name="Shape 65"/>
          <p:cNvSpPr/>
          <p:nvPr/>
        </p:nvSpPr>
        <p:spPr>
          <a:xfrm>
            <a:off x="7589520" y="4377141"/>
            <a:ext cx="73152" cy="0"/>
          </a:xfrm>
          <a:prstGeom prst="line">
            <a:avLst/>
          </a:prstGeom>
          <a:noFill/>
          <a:ln w="12700">
            <a:solidFill>
              <a:srgbClr val="22313B"/>
            </a:solidFill>
            <a:prstDash val="solid"/>
          </a:ln>
        </p:spPr>
        <p:txBody>
          <a:bodyPr/>
          <a:lstStyle/>
          <a:p>
            <a:endParaRPr lang="en-US"/>
          </a:p>
        </p:txBody>
      </p:sp>
      <p:sp>
        <p:nvSpPr>
          <p:cNvPr id="69" name="Text 66"/>
          <p:cNvSpPr/>
          <p:nvPr/>
        </p:nvSpPr>
        <p:spPr>
          <a:xfrm>
            <a:off x="7095744" y="4910328"/>
            <a:ext cx="768096" cy="146304"/>
          </a:xfrm>
          <a:prstGeom prst="rect">
            <a:avLst/>
          </a:prstGeom>
          <a:noFill/>
          <a:ln/>
        </p:spPr>
        <p:txBody>
          <a:bodyPr wrap="square" lIns="0" tIns="0" rIns="0" bIns="0" rtlCol="0" anchor="ctr"/>
          <a:lstStyle/>
          <a:p>
            <a:pPr marL="0" indent="0" algn="ctr">
              <a:buNone/>
            </a:pPr>
            <a:r>
              <a:rPr lang="en-US" sz="810" dirty="0">
                <a:solidFill>
                  <a:srgbClr val="22313B"/>
                </a:solidFill>
                <a:latin typeface="Helvetica Neue" pitchFamily="34" charset="0"/>
                <a:ea typeface="Helvetica Neue" pitchFamily="34" charset="-122"/>
                <a:cs typeface="Helvetica Neue" pitchFamily="34" charset="-120"/>
              </a:rPr>
              <a:t>zarr</a:t>
            </a:r>
            <a:endParaRPr lang="en-US" sz="810" dirty="0"/>
          </a:p>
        </p:txBody>
      </p:sp>
      <p:sp>
        <p:nvSpPr>
          <p:cNvPr id="70" name="Shape 67"/>
          <p:cNvSpPr/>
          <p:nvPr/>
        </p:nvSpPr>
        <p:spPr>
          <a:xfrm>
            <a:off x="8138160" y="3478042"/>
            <a:ext cx="146304" cy="1359134"/>
          </a:xfrm>
          <a:prstGeom prst="rect">
            <a:avLst/>
          </a:prstGeom>
          <a:solidFill>
            <a:srgbClr val="4E79A7"/>
          </a:solidFill>
          <a:ln w="12700">
            <a:solidFill>
              <a:srgbClr val="4E79A7">
                <a:alpha val="0"/>
              </a:srgbClr>
            </a:solidFill>
            <a:prstDash val="solid"/>
          </a:ln>
        </p:spPr>
        <p:txBody>
          <a:bodyPr/>
          <a:lstStyle/>
          <a:p>
            <a:endParaRPr lang="en-US"/>
          </a:p>
        </p:txBody>
      </p:sp>
      <p:sp>
        <p:nvSpPr>
          <p:cNvPr id="71" name="Shape 68"/>
          <p:cNvSpPr/>
          <p:nvPr/>
        </p:nvSpPr>
        <p:spPr>
          <a:xfrm>
            <a:off x="8211312" y="3445276"/>
            <a:ext cx="0" cy="64221"/>
          </a:xfrm>
          <a:prstGeom prst="line">
            <a:avLst/>
          </a:prstGeom>
          <a:noFill/>
          <a:ln w="12700">
            <a:solidFill>
              <a:srgbClr val="22313B"/>
            </a:solidFill>
            <a:prstDash val="solid"/>
          </a:ln>
        </p:spPr>
        <p:txBody>
          <a:bodyPr/>
          <a:lstStyle/>
          <a:p>
            <a:endParaRPr lang="en-US"/>
          </a:p>
        </p:txBody>
      </p:sp>
      <p:sp>
        <p:nvSpPr>
          <p:cNvPr id="72" name="Shape 69"/>
          <p:cNvSpPr/>
          <p:nvPr/>
        </p:nvSpPr>
        <p:spPr>
          <a:xfrm>
            <a:off x="8174736" y="3445276"/>
            <a:ext cx="73152" cy="0"/>
          </a:xfrm>
          <a:prstGeom prst="line">
            <a:avLst/>
          </a:prstGeom>
          <a:noFill/>
          <a:ln w="12700">
            <a:solidFill>
              <a:srgbClr val="22313B"/>
            </a:solidFill>
            <a:prstDash val="solid"/>
          </a:ln>
        </p:spPr>
        <p:txBody>
          <a:bodyPr/>
          <a:lstStyle/>
          <a:p>
            <a:endParaRPr lang="en-US"/>
          </a:p>
        </p:txBody>
      </p:sp>
      <p:sp>
        <p:nvSpPr>
          <p:cNvPr id="73" name="Shape 70"/>
          <p:cNvSpPr/>
          <p:nvPr/>
        </p:nvSpPr>
        <p:spPr>
          <a:xfrm>
            <a:off x="8174736" y="3509498"/>
            <a:ext cx="73152" cy="0"/>
          </a:xfrm>
          <a:prstGeom prst="line">
            <a:avLst/>
          </a:prstGeom>
          <a:noFill/>
          <a:ln w="12700">
            <a:solidFill>
              <a:srgbClr val="22313B"/>
            </a:solidFill>
            <a:prstDash val="solid"/>
          </a:ln>
        </p:spPr>
        <p:txBody>
          <a:bodyPr/>
          <a:lstStyle/>
          <a:p>
            <a:endParaRPr lang="en-US"/>
          </a:p>
        </p:txBody>
      </p:sp>
      <p:sp>
        <p:nvSpPr>
          <p:cNvPr id="74" name="Shape 71"/>
          <p:cNvSpPr/>
          <p:nvPr/>
        </p:nvSpPr>
        <p:spPr>
          <a:xfrm>
            <a:off x="8330184" y="3307659"/>
            <a:ext cx="146304" cy="1529517"/>
          </a:xfrm>
          <a:prstGeom prst="rect">
            <a:avLst/>
          </a:prstGeom>
          <a:solidFill>
            <a:srgbClr val="F28E2B"/>
          </a:solidFill>
          <a:ln w="12700">
            <a:solidFill>
              <a:srgbClr val="F28E2B">
                <a:alpha val="0"/>
              </a:srgbClr>
            </a:solidFill>
            <a:prstDash val="solid"/>
          </a:ln>
        </p:spPr>
        <p:txBody>
          <a:bodyPr/>
          <a:lstStyle/>
          <a:p>
            <a:endParaRPr lang="en-US"/>
          </a:p>
        </p:txBody>
      </p:sp>
      <p:sp>
        <p:nvSpPr>
          <p:cNvPr id="75" name="Shape 72"/>
          <p:cNvSpPr/>
          <p:nvPr/>
        </p:nvSpPr>
        <p:spPr>
          <a:xfrm>
            <a:off x="8403336" y="3268340"/>
            <a:ext cx="0" cy="69464"/>
          </a:xfrm>
          <a:prstGeom prst="line">
            <a:avLst/>
          </a:prstGeom>
          <a:noFill/>
          <a:ln w="12700">
            <a:solidFill>
              <a:srgbClr val="22313B"/>
            </a:solidFill>
            <a:prstDash val="solid"/>
          </a:ln>
        </p:spPr>
        <p:txBody>
          <a:bodyPr/>
          <a:lstStyle/>
          <a:p>
            <a:endParaRPr lang="en-US"/>
          </a:p>
        </p:txBody>
      </p:sp>
      <p:sp>
        <p:nvSpPr>
          <p:cNvPr id="76" name="Shape 73"/>
          <p:cNvSpPr/>
          <p:nvPr/>
        </p:nvSpPr>
        <p:spPr>
          <a:xfrm>
            <a:off x="8366760" y="3268340"/>
            <a:ext cx="73152" cy="0"/>
          </a:xfrm>
          <a:prstGeom prst="line">
            <a:avLst/>
          </a:prstGeom>
          <a:noFill/>
          <a:ln w="12700">
            <a:solidFill>
              <a:srgbClr val="22313B"/>
            </a:solidFill>
            <a:prstDash val="solid"/>
          </a:ln>
        </p:spPr>
        <p:txBody>
          <a:bodyPr/>
          <a:lstStyle/>
          <a:p>
            <a:endParaRPr lang="en-US"/>
          </a:p>
        </p:txBody>
      </p:sp>
      <p:sp>
        <p:nvSpPr>
          <p:cNvPr id="77" name="Shape 74"/>
          <p:cNvSpPr/>
          <p:nvPr/>
        </p:nvSpPr>
        <p:spPr>
          <a:xfrm>
            <a:off x="8366760" y="3337804"/>
            <a:ext cx="73152" cy="0"/>
          </a:xfrm>
          <a:prstGeom prst="line">
            <a:avLst/>
          </a:prstGeom>
          <a:noFill/>
          <a:ln w="12700">
            <a:solidFill>
              <a:srgbClr val="22313B"/>
            </a:solidFill>
            <a:prstDash val="solid"/>
          </a:ln>
        </p:spPr>
        <p:txBody>
          <a:bodyPr/>
          <a:lstStyle/>
          <a:p>
            <a:endParaRPr lang="en-US"/>
          </a:p>
        </p:txBody>
      </p:sp>
      <p:sp>
        <p:nvSpPr>
          <p:cNvPr id="78" name="Shape 75"/>
          <p:cNvSpPr/>
          <p:nvPr/>
        </p:nvSpPr>
        <p:spPr>
          <a:xfrm>
            <a:off x="8522208" y="3454451"/>
            <a:ext cx="146304" cy="1382725"/>
          </a:xfrm>
          <a:prstGeom prst="rect">
            <a:avLst/>
          </a:prstGeom>
          <a:solidFill>
            <a:srgbClr val="59A14F"/>
          </a:solidFill>
          <a:ln w="12700">
            <a:solidFill>
              <a:srgbClr val="59A14F">
                <a:alpha val="0"/>
              </a:srgbClr>
            </a:solidFill>
            <a:prstDash val="solid"/>
          </a:ln>
        </p:spPr>
        <p:txBody>
          <a:bodyPr/>
          <a:lstStyle/>
          <a:p>
            <a:endParaRPr lang="en-US"/>
          </a:p>
        </p:txBody>
      </p:sp>
      <p:sp>
        <p:nvSpPr>
          <p:cNvPr id="79" name="Shape 76"/>
          <p:cNvSpPr/>
          <p:nvPr/>
        </p:nvSpPr>
        <p:spPr>
          <a:xfrm>
            <a:off x="8595360" y="3419064"/>
            <a:ext cx="0" cy="74706"/>
          </a:xfrm>
          <a:prstGeom prst="line">
            <a:avLst/>
          </a:prstGeom>
          <a:noFill/>
          <a:ln w="12700">
            <a:solidFill>
              <a:srgbClr val="22313B"/>
            </a:solidFill>
            <a:prstDash val="solid"/>
          </a:ln>
        </p:spPr>
        <p:txBody>
          <a:bodyPr/>
          <a:lstStyle/>
          <a:p>
            <a:endParaRPr lang="en-US"/>
          </a:p>
        </p:txBody>
      </p:sp>
      <p:sp>
        <p:nvSpPr>
          <p:cNvPr id="80" name="Shape 77"/>
          <p:cNvSpPr/>
          <p:nvPr/>
        </p:nvSpPr>
        <p:spPr>
          <a:xfrm>
            <a:off x="8558784" y="3419064"/>
            <a:ext cx="73152" cy="0"/>
          </a:xfrm>
          <a:prstGeom prst="line">
            <a:avLst/>
          </a:prstGeom>
          <a:noFill/>
          <a:ln w="12700">
            <a:solidFill>
              <a:srgbClr val="22313B"/>
            </a:solidFill>
            <a:prstDash val="solid"/>
          </a:ln>
        </p:spPr>
        <p:txBody>
          <a:bodyPr/>
          <a:lstStyle/>
          <a:p>
            <a:endParaRPr lang="en-US"/>
          </a:p>
        </p:txBody>
      </p:sp>
      <p:sp>
        <p:nvSpPr>
          <p:cNvPr id="81" name="Shape 78"/>
          <p:cNvSpPr/>
          <p:nvPr/>
        </p:nvSpPr>
        <p:spPr>
          <a:xfrm>
            <a:off x="8558784" y="3493770"/>
            <a:ext cx="73152" cy="0"/>
          </a:xfrm>
          <a:prstGeom prst="line">
            <a:avLst/>
          </a:prstGeom>
          <a:noFill/>
          <a:ln w="12700">
            <a:solidFill>
              <a:srgbClr val="22313B"/>
            </a:solidFill>
            <a:prstDash val="solid"/>
          </a:ln>
        </p:spPr>
        <p:txBody>
          <a:bodyPr/>
          <a:lstStyle/>
          <a:p>
            <a:endParaRPr lang="en-US"/>
          </a:p>
        </p:txBody>
      </p:sp>
      <p:sp>
        <p:nvSpPr>
          <p:cNvPr id="82" name="Text 79"/>
          <p:cNvSpPr/>
          <p:nvPr/>
        </p:nvSpPr>
        <p:spPr>
          <a:xfrm>
            <a:off x="8065008" y="4910328"/>
            <a:ext cx="768096" cy="146304"/>
          </a:xfrm>
          <a:prstGeom prst="rect">
            <a:avLst/>
          </a:prstGeom>
          <a:noFill/>
          <a:ln/>
        </p:spPr>
        <p:txBody>
          <a:bodyPr wrap="square" lIns="0" tIns="0" rIns="0" bIns="0" rtlCol="0" anchor="ctr"/>
          <a:lstStyle/>
          <a:p>
            <a:pPr marL="0" indent="0" algn="ctr">
              <a:buNone/>
            </a:pPr>
            <a:r>
              <a:rPr lang="en-US" sz="810" dirty="0">
                <a:solidFill>
                  <a:srgbClr val="22313B"/>
                </a:solidFill>
                <a:latin typeface="Helvetica Neue" pitchFamily="34" charset="0"/>
                <a:ea typeface="Helvetica Neue" pitchFamily="34" charset="-122"/>
                <a:cs typeface="Helvetica Neue" pitchFamily="34" charset="-120"/>
              </a:rPr>
              <a:t>tiledb</a:t>
            </a:r>
            <a:endParaRPr lang="en-US" sz="810" dirty="0"/>
          </a:p>
        </p:txBody>
      </p:sp>
      <p:sp>
        <p:nvSpPr>
          <p:cNvPr id="83" name="Shape 80"/>
          <p:cNvSpPr/>
          <p:nvPr/>
        </p:nvSpPr>
        <p:spPr>
          <a:xfrm>
            <a:off x="9107424" y="4770333"/>
            <a:ext cx="146304" cy="66843"/>
          </a:xfrm>
          <a:prstGeom prst="rect">
            <a:avLst/>
          </a:prstGeom>
          <a:solidFill>
            <a:srgbClr val="4E79A7"/>
          </a:solidFill>
          <a:ln w="12700">
            <a:solidFill>
              <a:srgbClr val="4E79A7">
                <a:alpha val="0"/>
              </a:srgbClr>
            </a:solidFill>
            <a:prstDash val="solid"/>
          </a:ln>
        </p:spPr>
        <p:txBody>
          <a:bodyPr/>
          <a:lstStyle/>
          <a:p>
            <a:endParaRPr lang="en-US"/>
          </a:p>
        </p:txBody>
      </p:sp>
      <p:sp>
        <p:nvSpPr>
          <p:cNvPr id="84" name="Shape 81"/>
          <p:cNvSpPr/>
          <p:nvPr/>
        </p:nvSpPr>
        <p:spPr>
          <a:xfrm>
            <a:off x="9180576" y="4769023"/>
            <a:ext cx="0" cy="2621"/>
          </a:xfrm>
          <a:prstGeom prst="line">
            <a:avLst/>
          </a:prstGeom>
          <a:noFill/>
          <a:ln w="12700">
            <a:solidFill>
              <a:srgbClr val="22313B"/>
            </a:solidFill>
            <a:prstDash val="solid"/>
          </a:ln>
        </p:spPr>
        <p:txBody>
          <a:bodyPr/>
          <a:lstStyle/>
          <a:p>
            <a:endParaRPr lang="en-US"/>
          </a:p>
        </p:txBody>
      </p:sp>
      <p:sp>
        <p:nvSpPr>
          <p:cNvPr id="85" name="Shape 82"/>
          <p:cNvSpPr/>
          <p:nvPr/>
        </p:nvSpPr>
        <p:spPr>
          <a:xfrm>
            <a:off x="9144000" y="4769023"/>
            <a:ext cx="73152" cy="0"/>
          </a:xfrm>
          <a:prstGeom prst="line">
            <a:avLst/>
          </a:prstGeom>
          <a:noFill/>
          <a:ln w="12700">
            <a:solidFill>
              <a:srgbClr val="22313B"/>
            </a:solidFill>
            <a:prstDash val="solid"/>
          </a:ln>
        </p:spPr>
        <p:txBody>
          <a:bodyPr/>
          <a:lstStyle/>
          <a:p>
            <a:endParaRPr lang="en-US"/>
          </a:p>
        </p:txBody>
      </p:sp>
      <p:sp>
        <p:nvSpPr>
          <p:cNvPr id="86" name="Shape 83"/>
          <p:cNvSpPr/>
          <p:nvPr/>
        </p:nvSpPr>
        <p:spPr>
          <a:xfrm>
            <a:off x="9144000" y="4771644"/>
            <a:ext cx="73152" cy="0"/>
          </a:xfrm>
          <a:prstGeom prst="line">
            <a:avLst/>
          </a:prstGeom>
          <a:noFill/>
          <a:ln w="12700">
            <a:solidFill>
              <a:srgbClr val="22313B"/>
            </a:solidFill>
            <a:prstDash val="solid"/>
          </a:ln>
        </p:spPr>
        <p:txBody>
          <a:bodyPr/>
          <a:lstStyle/>
          <a:p>
            <a:endParaRPr lang="en-US"/>
          </a:p>
        </p:txBody>
      </p:sp>
      <p:sp>
        <p:nvSpPr>
          <p:cNvPr id="87" name="Shape 84"/>
          <p:cNvSpPr/>
          <p:nvPr/>
        </p:nvSpPr>
        <p:spPr>
          <a:xfrm>
            <a:off x="9299448" y="4738878"/>
            <a:ext cx="146304" cy="98298"/>
          </a:xfrm>
          <a:prstGeom prst="rect">
            <a:avLst/>
          </a:prstGeom>
          <a:solidFill>
            <a:srgbClr val="F28E2B"/>
          </a:solidFill>
          <a:ln w="12700">
            <a:solidFill>
              <a:srgbClr val="F28E2B">
                <a:alpha val="0"/>
              </a:srgbClr>
            </a:solidFill>
            <a:prstDash val="solid"/>
          </a:ln>
        </p:spPr>
        <p:txBody>
          <a:bodyPr/>
          <a:lstStyle/>
          <a:p>
            <a:endParaRPr lang="en-US"/>
          </a:p>
        </p:txBody>
      </p:sp>
      <p:sp>
        <p:nvSpPr>
          <p:cNvPr id="88" name="Shape 85"/>
          <p:cNvSpPr/>
          <p:nvPr/>
        </p:nvSpPr>
        <p:spPr>
          <a:xfrm>
            <a:off x="9372600" y="4737567"/>
            <a:ext cx="0" cy="1311"/>
          </a:xfrm>
          <a:prstGeom prst="line">
            <a:avLst/>
          </a:prstGeom>
          <a:noFill/>
          <a:ln w="12700">
            <a:solidFill>
              <a:srgbClr val="22313B"/>
            </a:solidFill>
            <a:prstDash val="solid"/>
          </a:ln>
        </p:spPr>
        <p:txBody>
          <a:bodyPr/>
          <a:lstStyle/>
          <a:p>
            <a:endParaRPr lang="en-US"/>
          </a:p>
        </p:txBody>
      </p:sp>
      <p:sp>
        <p:nvSpPr>
          <p:cNvPr id="89" name="Shape 86"/>
          <p:cNvSpPr/>
          <p:nvPr/>
        </p:nvSpPr>
        <p:spPr>
          <a:xfrm>
            <a:off x="9336024" y="4737567"/>
            <a:ext cx="73152" cy="0"/>
          </a:xfrm>
          <a:prstGeom prst="line">
            <a:avLst/>
          </a:prstGeom>
          <a:noFill/>
          <a:ln w="12700">
            <a:solidFill>
              <a:srgbClr val="22313B"/>
            </a:solidFill>
            <a:prstDash val="solid"/>
          </a:ln>
        </p:spPr>
        <p:txBody>
          <a:bodyPr/>
          <a:lstStyle/>
          <a:p>
            <a:endParaRPr lang="en-US"/>
          </a:p>
        </p:txBody>
      </p:sp>
      <p:sp>
        <p:nvSpPr>
          <p:cNvPr id="90" name="Shape 87"/>
          <p:cNvSpPr/>
          <p:nvPr/>
        </p:nvSpPr>
        <p:spPr>
          <a:xfrm>
            <a:off x="9336024" y="4738878"/>
            <a:ext cx="73152" cy="0"/>
          </a:xfrm>
          <a:prstGeom prst="line">
            <a:avLst/>
          </a:prstGeom>
          <a:noFill/>
          <a:ln w="12700">
            <a:solidFill>
              <a:srgbClr val="22313B"/>
            </a:solidFill>
            <a:prstDash val="solid"/>
          </a:ln>
        </p:spPr>
        <p:txBody>
          <a:bodyPr/>
          <a:lstStyle/>
          <a:p>
            <a:endParaRPr lang="en-US"/>
          </a:p>
        </p:txBody>
      </p:sp>
      <p:sp>
        <p:nvSpPr>
          <p:cNvPr id="91" name="Shape 88"/>
          <p:cNvSpPr/>
          <p:nvPr/>
        </p:nvSpPr>
        <p:spPr>
          <a:xfrm>
            <a:off x="9491472" y="4763780"/>
            <a:ext cx="146304" cy="73396"/>
          </a:xfrm>
          <a:prstGeom prst="rect">
            <a:avLst/>
          </a:prstGeom>
          <a:solidFill>
            <a:srgbClr val="59A14F"/>
          </a:solidFill>
          <a:ln w="12700">
            <a:solidFill>
              <a:srgbClr val="59A14F">
                <a:alpha val="0"/>
              </a:srgbClr>
            </a:solidFill>
            <a:prstDash val="solid"/>
          </a:ln>
        </p:spPr>
        <p:txBody>
          <a:bodyPr/>
          <a:lstStyle/>
          <a:p>
            <a:endParaRPr lang="en-US"/>
          </a:p>
        </p:txBody>
      </p:sp>
      <p:sp>
        <p:nvSpPr>
          <p:cNvPr id="92" name="Shape 89"/>
          <p:cNvSpPr/>
          <p:nvPr/>
        </p:nvSpPr>
        <p:spPr>
          <a:xfrm>
            <a:off x="9564624" y="4759848"/>
            <a:ext cx="0" cy="6553"/>
          </a:xfrm>
          <a:prstGeom prst="line">
            <a:avLst/>
          </a:prstGeom>
          <a:noFill/>
          <a:ln w="12700">
            <a:solidFill>
              <a:srgbClr val="22313B"/>
            </a:solidFill>
            <a:prstDash val="solid"/>
          </a:ln>
        </p:spPr>
        <p:txBody>
          <a:bodyPr/>
          <a:lstStyle/>
          <a:p>
            <a:endParaRPr lang="en-US"/>
          </a:p>
        </p:txBody>
      </p:sp>
      <p:sp>
        <p:nvSpPr>
          <p:cNvPr id="93" name="Shape 90"/>
          <p:cNvSpPr/>
          <p:nvPr/>
        </p:nvSpPr>
        <p:spPr>
          <a:xfrm>
            <a:off x="9528048" y="4759848"/>
            <a:ext cx="73152" cy="0"/>
          </a:xfrm>
          <a:prstGeom prst="line">
            <a:avLst/>
          </a:prstGeom>
          <a:noFill/>
          <a:ln w="12700">
            <a:solidFill>
              <a:srgbClr val="22313B"/>
            </a:solidFill>
            <a:prstDash val="solid"/>
          </a:ln>
        </p:spPr>
        <p:txBody>
          <a:bodyPr/>
          <a:lstStyle/>
          <a:p>
            <a:endParaRPr lang="en-US"/>
          </a:p>
        </p:txBody>
      </p:sp>
      <p:sp>
        <p:nvSpPr>
          <p:cNvPr id="94" name="Shape 91"/>
          <p:cNvSpPr/>
          <p:nvPr/>
        </p:nvSpPr>
        <p:spPr>
          <a:xfrm>
            <a:off x="9528048" y="4766401"/>
            <a:ext cx="73152" cy="0"/>
          </a:xfrm>
          <a:prstGeom prst="line">
            <a:avLst/>
          </a:prstGeom>
          <a:noFill/>
          <a:ln w="12700">
            <a:solidFill>
              <a:srgbClr val="22313B"/>
            </a:solidFill>
            <a:prstDash val="solid"/>
          </a:ln>
        </p:spPr>
        <p:txBody>
          <a:bodyPr/>
          <a:lstStyle/>
          <a:p>
            <a:endParaRPr lang="en-US"/>
          </a:p>
        </p:txBody>
      </p:sp>
      <p:sp>
        <p:nvSpPr>
          <p:cNvPr id="95" name="Text 92"/>
          <p:cNvSpPr/>
          <p:nvPr/>
        </p:nvSpPr>
        <p:spPr>
          <a:xfrm>
            <a:off x="9034272" y="4910328"/>
            <a:ext cx="768096" cy="146304"/>
          </a:xfrm>
          <a:prstGeom prst="rect">
            <a:avLst/>
          </a:prstGeom>
          <a:noFill/>
          <a:ln/>
        </p:spPr>
        <p:txBody>
          <a:bodyPr wrap="square" lIns="0" tIns="0" rIns="0" bIns="0" rtlCol="0" anchor="ctr"/>
          <a:lstStyle/>
          <a:p>
            <a:pPr marL="0" indent="0" algn="ctr">
              <a:buNone/>
            </a:pPr>
            <a:r>
              <a:rPr lang="en-US" sz="810" dirty="0">
                <a:solidFill>
                  <a:srgbClr val="22313B"/>
                </a:solidFill>
                <a:latin typeface="Helvetica Neue" pitchFamily="34" charset="0"/>
                <a:ea typeface="Helvetica Neue" pitchFamily="34" charset="-122"/>
                <a:cs typeface="Helvetica Neue" pitchFamily="34" charset="-120"/>
              </a:rPr>
              <a:t>root</a:t>
            </a:r>
            <a:endParaRPr lang="en-US" sz="810" dirty="0"/>
          </a:p>
        </p:txBody>
      </p:sp>
      <p:sp>
        <p:nvSpPr>
          <p:cNvPr id="96" name="Shape 93"/>
          <p:cNvSpPr/>
          <p:nvPr/>
        </p:nvSpPr>
        <p:spPr>
          <a:xfrm>
            <a:off x="5522976" y="5102352"/>
            <a:ext cx="2084832" cy="475488"/>
          </a:xfrm>
          <a:prstGeom prst="roundRect">
            <a:avLst>
              <a:gd name="adj" fmla="val 11538"/>
            </a:avLst>
          </a:prstGeom>
          <a:solidFill>
            <a:srgbClr val="F2E9DE"/>
          </a:solidFill>
          <a:ln w="12700">
            <a:solidFill>
              <a:srgbClr val="D9CCBC"/>
            </a:solidFill>
            <a:prstDash val="solid"/>
          </a:ln>
        </p:spPr>
        <p:txBody>
          <a:bodyPr/>
          <a:lstStyle/>
          <a:p>
            <a:endParaRPr lang="en-US"/>
          </a:p>
        </p:txBody>
      </p:sp>
      <p:sp>
        <p:nvSpPr>
          <p:cNvPr id="97" name="Text 94"/>
          <p:cNvSpPr/>
          <p:nvPr/>
        </p:nvSpPr>
        <p:spPr>
          <a:xfrm>
            <a:off x="5650992" y="5202936"/>
            <a:ext cx="749808" cy="128016"/>
          </a:xfrm>
          <a:prstGeom prst="rect">
            <a:avLst/>
          </a:prstGeom>
          <a:noFill/>
          <a:ln/>
        </p:spPr>
        <p:txBody>
          <a:bodyPr wrap="square" lIns="0" tIns="0" rIns="0" bIns="0" rtlCol="0" anchor="ctr"/>
          <a:lstStyle/>
          <a:p>
            <a:pPr marL="0" indent="0">
              <a:buNone/>
            </a:pPr>
            <a:r>
              <a:rPr lang="en-US" sz="740" b="1" dirty="0">
                <a:solidFill>
                  <a:srgbClr val="B8874F"/>
                </a:solidFill>
                <a:latin typeface="Helvetica Neue" pitchFamily="34" charset="0"/>
                <a:ea typeface="Helvetica Neue" pitchFamily="34" charset="-122"/>
                <a:cs typeface="Helvetica Neue" pitchFamily="34" charset="-120"/>
              </a:rPr>
              <a:t>Request spread</a:t>
            </a:r>
            <a:endParaRPr lang="en-US" sz="740" dirty="0"/>
          </a:p>
        </p:txBody>
      </p:sp>
      <p:sp>
        <p:nvSpPr>
          <p:cNvPr id="98" name="Text 95"/>
          <p:cNvSpPr/>
          <p:nvPr/>
        </p:nvSpPr>
        <p:spPr>
          <a:xfrm>
            <a:off x="5650992" y="5340096"/>
            <a:ext cx="1170432" cy="146304"/>
          </a:xfrm>
          <a:prstGeom prst="rect">
            <a:avLst/>
          </a:prstGeom>
          <a:noFill/>
          <a:ln/>
        </p:spPr>
        <p:txBody>
          <a:bodyPr wrap="square" lIns="0" tIns="0" rIns="0" bIns="0" rtlCol="0" anchor="ctr"/>
          <a:lstStyle/>
          <a:p>
            <a:pPr marL="0" indent="0">
              <a:buNone/>
            </a:pPr>
            <a:r>
              <a:rPr lang="en-US" sz="980" b="1" dirty="0">
                <a:solidFill>
                  <a:srgbClr val="22313B"/>
                </a:solidFill>
                <a:latin typeface="Helvetica Neue" pitchFamily="34" charset="0"/>
                <a:ea typeface="Helvetica Neue" pitchFamily="34" charset="-122"/>
                <a:cs typeface="Helvetica Neue" pitchFamily="34" charset="-120"/>
              </a:rPr>
              <a:t>~3x GETs / GiB</a:t>
            </a:r>
            <a:endParaRPr lang="en-US" sz="980" dirty="0"/>
          </a:p>
        </p:txBody>
      </p:sp>
      <p:sp>
        <p:nvSpPr>
          <p:cNvPr id="99" name="Text 96"/>
          <p:cNvSpPr/>
          <p:nvPr/>
        </p:nvSpPr>
        <p:spPr>
          <a:xfrm>
            <a:off x="6949440" y="5340096"/>
            <a:ext cx="530352" cy="146304"/>
          </a:xfrm>
          <a:prstGeom prst="rect">
            <a:avLst/>
          </a:prstGeom>
          <a:noFill/>
          <a:ln/>
        </p:spPr>
        <p:txBody>
          <a:bodyPr wrap="square" lIns="0" tIns="0" rIns="0" bIns="0" rtlCol="0" anchor="ctr"/>
          <a:lstStyle/>
          <a:p>
            <a:pPr marL="0" indent="0" algn="r">
              <a:buNone/>
            </a:pPr>
            <a:r>
              <a:rPr lang="en-US" sz="780" dirty="0">
                <a:solidFill>
                  <a:srgbClr val="53626C"/>
                </a:solidFill>
                <a:latin typeface="Helvetica Neue" pitchFamily="34" charset="0"/>
                <a:ea typeface="Helvetica Neue" pitchFamily="34" charset="-122"/>
                <a:cs typeface="Helvetica Neue" pitchFamily="34" charset="-120"/>
              </a:rPr>
              <a:t>layout-driven</a:t>
            </a:r>
            <a:endParaRPr lang="en-US" sz="780" dirty="0"/>
          </a:p>
        </p:txBody>
      </p:sp>
      <p:sp>
        <p:nvSpPr>
          <p:cNvPr id="100" name="Shape 97"/>
          <p:cNvSpPr/>
          <p:nvPr/>
        </p:nvSpPr>
        <p:spPr>
          <a:xfrm>
            <a:off x="8028432" y="5102352"/>
            <a:ext cx="2084832" cy="475488"/>
          </a:xfrm>
          <a:prstGeom prst="roundRect">
            <a:avLst>
              <a:gd name="adj" fmla="val 11538"/>
            </a:avLst>
          </a:prstGeom>
          <a:solidFill>
            <a:srgbClr val="F2E9DE"/>
          </a:solidFill>
          <a:ln w="12700">
            <a:solidFill>
              <a:srgbClr val="D9CCBC"/>
            </a:solidFill>
            <a:prstDash val="solid"/>
          </a:ln>
        </p:spPr>
        <p:txBody>
          <a:bodyPr/>
          <a:lstStyle/>
          <a:p>
            <a:endParaRPr lang="en-US"/>
          </a:p>
        </p:txBody>
      </p:sp>
      <p:sp>
        <p:nvSpPr>
          <p:cNvPr id="101" name="Text 98"/>
          <p:cNvSpPr/>
          <p:nvPr/>
        </p:nvSpPr>
        <p:spPr>
          <a:xfrm>
            <a:off x="8156448" y="5202936"/>
            <a:ext cx="749808" cy="128016"/>
          </a:xfrm>
          <a:prstGeom prst="rect">
            <a:avLst/>
          </a:prstGeom>
          <a:noFill/>
          <a:ln/>
        </p:spPr>
        <p:txBody>
          <a:bodyPr wrap="square" lIns="0" tIns="0" rIns="0" bIns="0" rtlCol="0" anchor="ctr"/>
          <a:lstStyle/>
          <a:p>
            <a:pPr marL="0" indent="0">
              <a:buNone/>
            </a:pPr>
            <a:r>
              <a:rPr lang="en-US" sz="740" b="1" dirty="0">
                <a:solidFill>
                  <a:srgbClr val="B8874F"/>
                </a:solidFill>
                <a:latin typeface="Helvetica Neue" pitchFamily="34" charset="0"/>
                <a:ea typeface="Helvetica Neue" pitchFamily="34" charset="-122"/>
                <a:cs typeface="Helvetica Neue" pitchFamily="34" charset="-120"/>
              </a:rPr>
              <a:t>Stored spread</a:t>
            </a:r>
            <a:endParaRPr lang="en-US" sz="740" dirty="0"/>
          </a:p>
        </p:txBody>
      </p:sp>
      <p:sp>
        <p:nvSpPr>
          <p:cNvPr id="102" name="Text 99"/>
          <p:cNvSpPr/>
          <p:nvPr/>
        </p:nvSpPr>
        <p:spPr>
          <a:xfrm>
            <a:off x="8156448" y="5340096"/>
            <a:ext cx="1170432" cy="146304"/>
          </a:xfrm>
          <a:prstGeom prst="rect">
            <a:avLst/>
          </a:prstGeom>
          <a:noFill/>
          <a:ln/>
        </p:spPr>
        <p:txBody>
          <a:bodyPr wrap="square" lIns="0" tIns="0" rIns="0" bIns="0" rtlCol="0" anchor="ctr"/>
          <a:lstStyle/>
          <a:p>
            <a:pPr marL="0" indent="0">
              <a:buNone/>
            </a:pPr>
            <a:r>
              <a:rPr lang="en-US" sz="980" b="1" dirty="0">
                <a:solidFill>
                  <a:srgbClr val="22313B"/>
                </a:solidFill>
                <a:latin typeface="Helvetica Neue" pitchFamily="34" charset="0"/>
                <a:ea typeface="Helvetica Neue" pitchFamily="34" charset="-122"/>
                <a:cs typeface="Helvetica Neue" pitchFamily="34" charset="-120"/>
              </a:rPr>
              <a:t>~1.8x stored size</a:t>
            </a:r>
            <a:endParaRPr lang="en-US" sz="980" dirty="0"/>
          </a:p>
        </p:txBody>
      </p:sp>
      <p:sp>
        <p:nvSpPr>
          <p:cNvPr id="103" name="Text 100"/>
          <p:cNvSpPr/>
          <p:nvPr/>
        </p:nvSpPr>
        <p:spPr>
          <a:xfrm>
            <a:off x="9454896" y="5340096"/>
            <a:ext cx="530352" cy="146304"/>
          </a:xfrm>
          <a:prstGeom prst="rect">
            <a:avLst/>
          </a:prstGeom>
          <a:noFill/>
          <a:ln/>
        </p:spPr>
        <p:txBody>
          <a:bodyPr wrap="square" lIns="0" tIns="0" rIns="0" bIns="0" rtlCol="0" anchor="ctr"/>
          <a:lstStyle/>
          <a:p>
            <a:pPr marL="0" indent="0" algn="r">
              <a:buNone/>
            </a:pPr>
            <a:r>
              <a:rPr lang="en-US" sz="780" dirty="0">
                <a:solidFill>
                  <a:srgbClr val="53626C"/>
                </a:solidFill>
                <a:latin typeface="Helvetica Neue" pitchFamily="34" charset="0"/>
                <a:ea typeface="Helvetica Neue" pitchFamily="34" charset="-122"/>
                <a:cs typeface="Helvetica Neue" pitchFamily="34" charset="-120"/>
              </a:rPr>
              <a:t>codec-driven</a:t>
            </a:r>
            <a:endParaRPr lang="en-US" sz="780" dirty="0"/>
          </a:p>
        </p:txBody>
      </p:sp>
      <p:sp>
        <p:nvSpPr>
          <p:cNvPr id="104" name="Shape 101"/>
          <p:cNvSpPr/>
          <p:nvPr/>
        </p:nvSpPr>
        <p:spPr>
          <a:xfrm>
            <a:off x="8887968" y="530352"/>
            <a:ext cx="932688" cy="365760"/>
          </a:xfrm>
          <a:prstGeom prst="roundRect">
            <a:avLst>
              <a:gd name="adj" fmla="val 15000"/>
            </a:avLst>
          </a:prstGeom>
          <a:solidFill>
            <a:srgbClr val="F2E9DE"/>
          </a:solidFill>
          <a:ln w="12700">
            <a:solidFill>
              <a:srgbClr val="D9CCBC"/>
            </a:solidFill>
            <a:prstDash val="solid"/>
          </a:ln>
        </p:spPr>
        <p:txBody>
          <a:bodyPr/>
          <a:lstStyle/>
          <a:p>
            <a:endParaRPr lang="en-US"/>
          </a:p>
        </p:txBody>
      </p:sp>
      <p:sp>
        <p:nvSpPr>
          <p:cNvPr id="105" name="Text 102"/>
          <p:cNvSpPr/>
          <p:nvPr/>
        </p:nvSpPr>
        <p:spPr>
          <a:xfrm>
            <a:off x="8887968" y="603504"/>
            <a:ext cx="932688" cy="219456"/>
          </a:xfrm>
          <a:prstGeom prst="rect">
            <a:avLst/>
          </a:prstGeom>
          <a:noFill/>
          <a:ln/>
        </p:spPr>
        <p:txBody>
          <a:bodyPr wrap="square" lIns="0" tIns="0" rIns="0" bIns="0" rtlCol="0" anchor="ctr"/>
          <a:lstStyle/>
          <a:p>
            <a:pPr marL="0" indent="0" algn="ctr">
              <a:buNone/>
            </a:pPr>
            <a:r>
              <a:rPr lang="en-US" sz="1050" dirty="0">
                <a:solidFill>
                  <a:srgbClr val="53626C"/>
                </a:solidFill>
                <a:latin typeface="Helvetica Neue" pitchFamily="34" charset="0"/>
                <a:ea typeface="Helvetica Neue" pitchFamily="34" charset="-122"/>
                <a:cs typeface="Helvetica Neue" pitchFamily="34" charset="-120"/>
              </a:rPr>
              <a:t>Slide 9</a:t>
            </a:r>
            <a:endParaRPr lang="en-US" sz="1050" dirty="0"/>
          </a:p>
        </p:txBody>
      </p:sp>
      <p:sp>
        <p:nvSpPr>
          <p:cNvPr id="106" name="Shape 103"/>
          <p:cNvSpPr/>
          <p:nvPr/>
        </p:nvSpPr>
        <p:spPr>
          <a:xfrm>
            <a:off x="9948672" y="530352"/>
            <a:ext cx="1335024" cy="365760"/>
          </a:xfrm>
          <a:prstGeom prst="roundRect">
            <a:avLst>
              <a:gd name="adj" fmla="val 15000"/>
            </a:avLst>
          </a:prstGeom>
          <a:solidFill>
            <a:srgbClr val="F2E9DE"/>
          </a:solidFill>
          <a:ln w="12700">
            <a:solidFill>
              <a:srgbClr val="D9CCBC"/>
            </a:solidFill>
            <a:prstDash val="solid"/>
          </a:ln>
        </p:spPr>
        <p:txBody>
          <a:bodyPr/>
          <a:lstStyle/>
          <a:p>
            <a:endParaRPr lang="en-US"/>
          </a:p>
        </p:txBody>
      </p:sp>
      <p:sp>
        <p:nvSpPr>
          <p:cNvPr id="107" name="Text 104"/>
          <p:cNvSpPr/>
          <p:nvPr/>
        </p:nvSpPr>
        <p:spPr>
          <a:xfrm>
            <a:off x="9948672" y="603504"/>
            <a:ext cx="1335024" cy="219456"/>
          </a:xfrm>
          <a:prstGeom prst="rect">
            <a:avLst/>
          </a:prstGeom>
          <a:noFill/>
          <a:ln/>
        </p:spPr>
        <p:txBody>
          <a:bodyPr wrap="square" lIns="0" tIns="0" rIns="0" bIns="0" rtlCol="0" anchor="ctr"/>
          <a:lstStyle/>
          <a:p>
            <a:pPr marL="0" indent="0" algn="ctr">
              <a:buNone/>
            </a:pPr>
            <a:r>
              <a:rPr lang="en-US" sz="1050" dirty="0">
                <a:solidFill>
                  <a:srgbClr val="53626C"/>
                </a:solidFill>
                <a:latin typeface="Helvetica Neue" pitchFamily="34" charset="0"/>
                <a:ea typeface="Helvetica Neue" pitchFamily="34" charset="-122"/>
                <a:cs typeface="Helvetica Neue" pitchFamily="34" charset="-120"/>
              </a:rPr>
              <a:t>Results</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1E8"/>
        </a:solidFill>
        <a:effectLst/>
      </p:bgPr>
    </p:bg>
    <p:spTree>
      <p:nvGrpSpPr>
        <p:cNvPr id="1" name=""/>
        <p:cNvGrpSpPr/>
        <p:nvPr/>
      </p:nvGrpSpPr>
      <p:grpSpPr>
        <a:xfrm>
          <a:off x="0" y="0"/>
          <a:ext cx="0" cy="0"/>
          <a:chOff x="0" y="0"/>
          <a:chExt cx="0" cy="0"/>
        </a:xfrm>
      </p:grpSpPr>
      <p:sp>
        <p:nvSpPr>
          <p:cNvPr id="2" name="Text 0"/>
          <p:cNvSpPr/>
          <p:nvPr/>
        </p:nvSpPr>
        <p:spPr>
          <a:xfrm>
            <a:off x="868680" y="502920"/>
            <a:ext cx="2560320" cy="133350"/>
          </a:xfrm>
          <a:prstGeom prst="rect">
            <a:avLst/>
          </a:prstGeom>
          <a:noFill/>
          <a:ln/>
        </p:spPr>
        <p:txBody>
          <a:bodyPr wrap="square" lIns="0" tIns="0" rIns="0" bIns="0" rtlCol="0" anchor="ctr"/>
          <a:lstStyle/>
          <a:p>
            <a:pPr marL="0" indent="0">
              <a:buNone/>
            </a:pPr>
            <a:r>
              <a:rPr lang="en-US" sz="1050" b="1" dirty="0">
                <a:solidFill>
                  <a:srgbClr val="B8874F"/>
                </a:solidFill>
                <a:latin typeface="Helvetica Neue" pitchFamily="34" charset="0"/>
                <a:ea typeface="Helvetica Neue" pitchFamily="34" charset="-122"/>
                <a:cs typeface="Helvetica Neue" pitchFamily="34" charset="-120"/>
              </a:rPr>
              <a:t>INTERPRETATION</a:t>
            </a:r>
            <a:endParaRPr lang="en-US" sz="1050" dirty="0"/>
          </a:p>
        </p:txBody>
      </p:sp>
      <p:sp>
        <p:nvSpPr>
          <p:cNvPr id="3" name="Shape 1"/>
          <p:cNvSpPr/>
          <p:nvPr/>
        </p:nvSpPr>
        <p:spPr>
          <a:xfrm>
            <a:off x="868680" y="822960"/>
            <a:ext cx="960120" cy="0"/>
          </a:xfrm>
          <a:prstGeom prst="line">
            <a:avLst/>
          </a:prstGeom>
          <a:noFill/>
          <a:ln w="12700">
            <a:solidFill>
              <a:srgbClr val="B8874F"/>
            </a:solidFill>
            <a:prstDash val="solid"/>
          </a:ln>
        </p:spPr>
        <p:txBody>
          <a:bodyPr/>
          <a:lstStyle/>
          <a:p>
            <a:endParaRPr lang="en-US"/>
          </a:p>
        </p:txBody>
      </p:sp>
      <p:sp>
        <p:nvSpPr>
          <p:cNvPr id="4" name="Text 2"/>
          <p:cNvSpPr/>
          <p:nvPr/>
        </p:nvSpPr>
        <p:spPr>
          <a:xfrm>
            <a:off x="868680" y="1024128"/>
            <a:ext cx="6126480" cy="731520"/>
          </a:xfrm>
          <a:prstGeom prst="rect">
            <a:avLst/>
          </a:prstGeom>
          <a:noFill/>
          <a:ln/>
        </p:spPr>
        <p:txBody>
          <a:bodyPr wrap="square" lIns="0" tIns="0" rIns="0" bIns="0" rtlCol="0" anchor="ctr">
            <a:normAutofit/>
          </a:bodyPr>
          <a:lstStyle/>
          <a:p>
            <a:pPr marL="0" indent="0">
              <a:buNone/>
            </a:pPr>
            <a:r>
              <a:rPr lang="en-US" sz="2446" b="1" dirty="0">
                <a:solidFill>
                  <a:srgbClr val="22313B"/>
                </a:solidFill>
                <a:latin typeface="Georgia" pitchFamily="34" charset="0"/>
                <a:ea typeface="Georgia" pitchFamily="34" charset="-122"/>
                <a:cs typeface="Georgia" pitchFamily="34" charset="-120"/>
              </a:rPr>
              <a:t>What this means for HDF5</a:t>
            </a:r>
            <a:endParaRPr lang="en-US" sz="2446" dirty="0"/>
          </a:p>
        </p:txBody>
      </p:sp>
      <p:sp>
        <p:nvSpPr>
          <p:cNvPr id="5" name="Text 3"/>
          <p:cNvSpPr/>
          <p:nvPr/>
        </p:nvSpPr>
        <p:spPr>
          <a:xfrm>
            <a:off x="868680" y="1792224"/>
            <a:ext cx="6583680" cy="329184"/>
          </a:xfrm>
          <a:prstGeom prst="rect">
            <a:avLst/>
          </a:prstGeom>
          <a:noFill/>
          <a:ln/>
        </p:spPr>
        <p:txBody>
          <a:bodyPr wrap="square" lIns="0" tIns="0" rIns="0" bIns="0" rtlCol="0" anchor="ctr"/>
          <a:lstStyle/>
          <a:p>
            <a:pPr marL="0" indent="0">
              <a:buNone/>
            </a:pPr>
            <a:r>
              <a:rPr lang="en-US" sz="1420" dirty="0">
                <a:solidFill>
                  <a:srgbClr val="53626C"/>
                </a:solidFill>
                <a:latin typeface="Helvetica Neue" pitchFamily="34" charset="0"/>
                <a:ea typeface="Helvetica Neue" pitchFamily="34" charset="-122"/>
                <a:cs typeface="Helvetica Neue" pitchFamily="34" charset="-120"/>
              </a:rPr>
              <a:t>This is a narrower conclusion than it may sound at first.</a:t>
            </a:r>
            <a:endParaRPr lang="en-US" sz="1420" dirty="0"/>
          </a:p>
        </p:txBody>
      </p:sp>
      <p:sp>
        <p:nvSpPr>
          <p:cNvPr id="6" name="Shape 4"/>
          <p:cNvSpPr/>
          <p:nvPr/>
        </p:nvSpPr>
        <p:spPr>
          <a:xfrm>
            <a:off x="868680" y="2212848"/>
            <a:ext cx="10424160" cy="3822192"/>
          </a:xfrm>
          <a:prstGeom prst="roundRect">
            <a:avLst>
              <a:gd name="adj" fmla="val 1914"/>
            </a:avLst>
          </a:prstGeom>
          <a:solidFill>
            <a:srgbClr val="FBF7F1"/>
          </a:solidFill>
          <a:ln w="12700">
            <a:solidFill>
              <a:srgbClr val="D9CCBC"/>
            </a:solidFill>
            <a:prstDash val="solid"/>
          </a:ln>
        </p:spPr>
        <p:txBody>
          <a:bodyPr/>
          <a:lstStyle/>
          <a:p>
            <a:endParaRPr lang="en-US"/>
          </a:p>
        </p:txBody>
      </p:sp>
      <p:sp>
        <p:nvSpPr>
          <p:cNvPr id="7" name="Shape 5"/>
          <p:cNvSpPr/>
          <p:nvPr/>
        </p:nvSpPr>
        <p:spPr>
          <a:xfrm>
            <a:off x="1115568" y="2523744"/>
            <a:ext cx="2880360" cy="2578608"/>
          </a:xfrm>
          <a:prstGeom prst="roundRect">
            <a:avLst>
              <a:gd name="adj" fmla="val 2837"/>
            </a:avLst>
          </a:prstGeom>
          <a:solidFill>
            <a:srgbClr val="FFFFFF"/>
          </a:solidFill>
          <a:ln w="12700">
            <a:solidFill>
              <a:srgbClr val="D9CCBC"/>
            </a:solidFill>
            <a:prstDash val="solid"/>
          </a:ln>
        </p:spPr>
        <p:txBody>
          <a:bodyPr/>
          <a:lstStyle/>
          <a:p>
            <a:endParaRPr lang="en-US"/>
          </a:p>
        </p:txBody>
      </p:sp>
      <p:sp>
        <p:nvSpPr>
          <p:cNvPr id="8" name="Shape 6"/>
          <p:cNvSpPr/>
          <p:nvPr/>
        </p:nvSpPr>
        <p:spPr>
          <a:xfrm>
            <a:off x="4169664" y="2523744"/>
            <a:ext cx="2926080" cy="2578608"/>
          </a:xfrm>
          <a:prstGeom prst="roundRect">
            <a:avLst>
              <a:gd name="adj" fmla="val 2837"/>
            </a:avLst>
          </a:prstGeom>
          <a:solidFill>
            <a:srgbClr val="E6D6C4"/>
          </a:solidFill>
          <a:ln w="12700">
            <a:solidFill>
              <a:srgbClr val="D9CCBC"/>
            </a:solidFill>
            <a:prstDash val="solid"/>
          </a:ln>
        </p:spPr>
        <p:txBody>
          <a:bodyPr/>
          <a:lstStyle/>
          <a:p>
            <a:endParaRPr lang="en-US"/>
          </a:p>
        </p:txBody>
      </p:sp>
      <p:sp>
        <p:nvSpPr>
          <p:cNvPr id="9" name="Shape 7"/>
          <p:cNvSpPr/>
          <p:nvPr/>
        </p:nvSpPr>
        <p:spPr>
          <a:xfrm>
            <a:off x="7269480" y="2523744"/>
            <a:ext cx="2880360" cy="2578608"/>
          </a:xfrm>
          <a:prstGeom prst="roundRect">
            <a:avLst>
              <a:gd name="adj" fmla="val 2837"/>
            </a:avLst>
          </a:prstGeom>
          <a:solidFill>
            <a:srgbClr val="D7E3EB"/>
          </a:solidFill>
          <a:ln w="12700">
            <a:solidFill>
              <a:srgbClr val="D9CCBC"/>
            </a:solidFill>
            <a:prstDash val="solid"/>
          </a:ln>
        </p:spPr>
        <p:txBody>
          <a:bodyPr/>
          <a:lstStyle/>
          <a:p>
            <a:endParaRPr lang="en-US"/>
          </a:p>
        </p:txBody>
      </p:sp>
      <p:sp>
        <p:nvSpPr>
          <p:cNvPr id="10" name="Shape 8"/>
          <p:cNvSpPr/>
          <p:nvPr/>
        </p:nvSpPr>
        <p:spPr>
          <a:xfrm>
            <a:off x="1335024" y="2770632"/>
            <a:ext cx="841248" cy="237744"/>
          </a:xfrm>
          <a:prstGeom prst="roundRect">
            <a:avLst>
              <a:gd name="adj" fmla="val 19231"/>
            </a:avLst>
          </a:prstGeom>
          <a:solidFill>
            <a:srgbClr val="F2E9DE"/>
          </a:solidFill>
          <a:ln w="12700">
            <a:solidFill>
              <a:srgbClr val="F2E9DE">
                <a:alpha val="0"/>
              </a:srgbClr>
            </a:solidFill>
            <a:prstDash val="solid"/>
          </a:ln>
        </p:spPr>
        <p:txBody>
          <a:bodyPr/>
          <a:lstStyle/>
          <a:p>
            <a:endParaRPr lang="en-US"/>
          </a:p>
        </p:txBody>
      </p:sp>
      <p:sp>
        <p:nvSpPr>
          <p:cNvPr id="11" name="Text 9"/>
          <p:cNvSpPr/>
          <p:nvPr/>
        </p:nvSpPr>
        <p:spPr>
          <a:xfrm>
            <a:off x="1335024" y="2811780"/>
            <a:ext cx="841248" cy="137160"/>
          </a:xfrm>
          <a:prstGeom prst="rect">
            <a:avLst/>
          </a:prstGeom>
          <a:noFill/>
          <a:ln/>
        </p:spPr>
        <p:txBody>
          <a:bodyPr wrap="square" lIns="0" tIns="0" rIns="0" bIns="0" rtlCol="0" anchor="ctr"/>
          <a:lstStyle/>
          <a:p>
            <a:pPr marL="0" indent="0" algn="ctr">
              <a:buNone/>
            </a:pPr>
            <a:r>
              <a:rPr lang="en-US" sz="780" b="1" dirty="0">
                <a:solidFill>
                  <a:srgbClr val="22313B"/>
                </a:solidFill>
                <a:latin typeface="Helvetica Neue" pitchFamily="34" charset="0"/>
                <a:ea typeface="Helvetica Neue" pitchFamily="34" charset="-122"/>
                <a:cs typeface="Helvetica Neue" pitchFamily="34" charset="-120"/>
              </a:rPr>
              <a:t>Still true</a:t>
            </a:r>
            <a:endParaRPr lang="en-US" sz="780" dirty="0"/>
          </a:p>
        </p:txBody>
      </p:sp>
      <p:sp>
        <p:nvSpPr>
          <p:cNvPr id="12" name="Shape 10"/>
          <p:cNvSpPr/>
          <p:nvPr/>
        </p:nvSpPr>
        <p:spPr>
          <a:xfrm>
            <a:off x="4389120" y="2770632"/>
            <a:ext cx="950976" cy="237744"/>
          </a:xfrm>
          <a:prstGeom prst="roundRect">
            <a:avLst>
              <a:gd name="adj" fmla="val 19231"/>
            </a:avLst>
          </a:prstGeom>
          <a:solidFill>
            <a:srgbClr val="F2E9DE"/>
          </a:solidFill>
          <a:ln w="12700">
            <a:solidFill>
              <a:srgbClr val="F2E9DE">
                <a:alpha val="0"/>
              </a:srgbClr>
            </a:solidFill>
            <a:prstDash val="solid"/>
          </a:ln>
        </p:spPr>
        <p:txBody>
          <a:bodyPr/>
          <a:lstStyle/>
          <a:p>
            <a:endParaRPr lang="en-US"/>
          </a:p>
        </p:txBody>
      </p:sp>
      <p:sp>
        <p:nvSpPr>
          <p:cNvPr id="13" name="Text 11"/>
          <p:cNvSpPr/>
          <p:nvPr/>
        </p:nvSpPr>
        <p:spPr>
          <a:xfrm>
            <a:off x="4389120" y="2811780"/>
            <a:ext cx="950976" cy="137160"/>
          </a:xfrm>
          <a:prstGeom prst="rect">
            <a:avLst/>
          </a:prstGeom>
          <a:noFill/>
          <a:ln/>
        </p:spPr>
        <p:txBody>
          <a:bodyPr wrap="square" lIns="0" tIns="0" rIns="0" bIns="0" rtlCol="0" anchor="ctr"/>
          <a:lstStyle/>
          <a:p>
            <a:pPr marL="0" indent="0" algn="ctr">
              <a:buNone/>
            </a:pPr>
            <a:r>
              <a:rPr lang="en-US" sz="780" b="1" dirty="0">
                <a:solidFill>
                  <a:srgbClr val="22313B"/>
                </a:solidFill>
                <a:latin typeface="Helvetica Neue" pitchFamily="34" charset="0"/>
                <a:ea typeface="Helvetica Neue" pitchFamily="34" charset="-122"/>
                <a:cs typeface="Helvetica Neue" pitchFamily="34" charset="-120"/>
              </a:rPr>
              <a:t>This test</a:t>
            </a:r>
            <a:endParaRPr lang="en-US" sz="780" dirty="0"/>
          </a:p>
        </p:txBody>
      </p:sp>
      <p:sp>
        <p:nvSpPr>
          <p:cNvPr id="14" name="Shape 12"/>
          <p:cNvSpPr/>
          <p:nvPr/>
        </p:nvSpPr>
        <p:spPr>
          <a:xfrm>
            <a:off x="7488936" y="2770632"/>
            <a:ext cx="1133856" cy="237744"/>
          </a:xfrm>
          <a:prstGeom prst="roundRect">
            <a:avLst>
              <a:gd name="adj" fmla="val 19231"/>
            </a:avLst>
          </a:prstGeom>
          <a:solidFill>
            <a:srgbClr val="F2E9DE"/>
          </a:solidFill>
          <a:ln w="12700">
            <a:solidFill>
              <a:srgbClr val="F2E9DE">
                <a:alpha val="0"/>
              </a:srgbClr>
            </a:solidFill>
            <a:prstDash val="solid"/>
          </a:ln>
        </p:spPr>
        <p:txBody>
          <a:bodyPr/>
          <a:lstStyle/>
          <a:p>
            <a:endParaRPr lang="en-US"/>
          </a:p>
        </p:txBody>
      </p:sp>
      <p:sp>
        <p:nvSpPr>
          <p:cNvPr id="15" name="Text 13"/>
          <p:cNvSpPr/>
          <p:nvPr/>
        </p:nvSpPr>
        <p:spPr>
          <a:xfrm>
            <a:off x="7488936" y="2811780"/>
            <a:ext cx="1133856" cy="137160"/>
          </a:xfrm>
          <a:prstGeom prst="rect">
            <a:avLst/>
          </a:prstGeom>
          <a:noFill/>
          <a:ln/>
        </p:spPr>
        <p:txBody>
          <a:bodyPr wrap="square" lIns="0" tIns="0" rIns="0" bIns="0" rtlCol="0" anchor="ctr"/>
          <a:lstStyle/>
          <a:p>
            <a:pPr marL="0" indent="0" algn="ctr">
              <a:buNone/>
            </a:pPr>
            <a:r>
              <a:rPr lang="en-US" sz="780" b="1" dirty="0">
                <a:solidFill>
                  <a:srgbClr val="22313B"/>
                </a:solidFill>
                <a:latin typeface="Helvetica Neue" pitchFamily="34" charset="0"/>
                <a:ea typeface="Helvetica Neue" pitchFamily="34" charset="-122"/>
                <a:cs typeface="Helvetica Neue" pitchFamily="34" charset="-120"/>
              </a:rPr>
              <a:t>Separate question</a:t>
            </a:r>
            <a:endParaRPr lang="en-US" sz="780" dirty="0"/>
          </a:p>
        </p:txBody>
      </p:sp>
      <p:sp>
        <p:nvSpPr>
          <p:cNvPr id="16" name="Text 14"/>
          <p:cNvSpPr/>
          <p:nvPr/>
        </p:nvSpPr>
        <p:spPr>
          <a:xfrm>
            <a:off x="1335024" y="3145536"/>
            <a:ext cx="1463040" cy="310896"/>
          </a:xfrm>
          <a:prstGeom prst="rect">
            <a:avLst/>
          </a:prstGeom>
          <a:noFill/>
          <a:ln/>
        </p:spPr>
        <p:txBody>
          <a:bodyPr wrap="square" lIns="0" tIns="0" rIns="0" bIns="0" rtlCol="0" anchor="ctr"/>
          <a:lstStyle/>
          <a:p>
            <a:pPr marL="0" indent="0">
              <a:buNone/>
            </a:pPr>
            <a:r>
              <a:rPr lang="en-US" sz="2300" b="1" dirty="0">
                <a:solidFill>
                  <a:srgbClr val="22313B"/>
                </a:solidFill>
                <a:latin typeface="Georgia" pitchFamily="34" charset="0"/>
                <a:ea typeface="Georgia" pitchFamily="34" charset="-122"/>
                <a:cs typeface="Georgia" pitchFamily="34" charset="-120"/>
              </a:rPr>
              <a:t>HDF5</a:t>
            </a:r>
            <a:endParaRPr lang="en-US" sz="2300" dirty="0"/>
          </a:p>
        </p:txBody>
      </p:sp>
      <p:sp>
        <p:nvSpPr>
          <p:cNvPr id="17" name="Text 15"/>
          <p:cNvSpPr/>
          <p:nvPr/>
        </p:nvSpPr>
        <p:spPr>
          <a:xfrm>
            <a:off x="1335024" y="3584448"/>
            <a:ext cx="1938528" cy="182880"/>
          </a:xfrm>
          <a:prstGeom prst="rect">
            <a:avLst/>
          </a:prstGeom>
          <a:noFill/>
          <a:ln/>
        </p:spPr>
        <p:txBody>
          <a:bodyPr wrap="square" lIns="0" tIns="0" rIns="0" bIns="0" rtlCol="0" anchor="ctr"/>
          <a:lstStyle/>
          <a:p>
            <a:pPr marL="0" indent="0">
              <a:buNone/>
            </a:pPr>
            <a:r>
              <a:rPr lang="en-US" sz="1220" b="1" dirty="0">
                <a:solidFill>
                  <a:srgbClr val="22313B"/>
                </a:solidFill>
                <a:latin typeface="Helvetica Neue" pitchFamily="34" charset="0"/>
                <a:ea typeface="Helvetica Neue" pitchFamily="34" charset="-122"/>
                <a:cs typeface="Helvetica Neue" pitchFamily="34" charset="-120"/>
              </a:rPr>
              <a:t>Industry reference point</a:t>
            </a:r>
            <a:endParaRPr lang="en-US" sz="1220" dirty="0"/>
          </a:p>
        </p:txBody>
      </p:sp>
      <p:sp>
        <p:nvSpPr>
          <p:cNvPr id="18" name="Text 16"/>
          <p:cNvSpPr/>
          <p:nvPr/>
        </p:nvSpPr>
        <p:spPr>
          <a:xfrm>
            <a:off x="1335024" y="3931920"/>
            <a:ext cx="2267712" cy="457200"/>
          </a:xfrm>
          <a:prstGeom prst="rect">
            <a:avLst/>
          </a:prstGeom>
          <a:noFill/>
          <a:ln/>
        </p:spPr>
        <p:txBody>
          <a:bodyPr wrap="square" lIns="0" tIns="0" rIns="0" bIns="0" rtlCol="0" anchor="ctr">
            <a:normAutofit/>
          </a:bodyPr>
          <a:lstStyle/>
          <a:p>
            <a:pPr marL="0" indent="0">
              <a:buNone/>
            </a:pPr>
            <a:r>
              <a:rPr lang="en-US" sz="1050" dirty="0">
                <a:solidFill>
                  <a:srgbClr val="53626C"/>
                </a:solidFill>
                <a:latin typeface="Helvetica Neue" pitchFamily="34" charset="0"/>
                <a:ea typeface="Helvetica Neue" pitchFamily="34" charset="-122"/>
                <a:cs typeface="Helvetica Neue" pitchFamily="34" charset="-120"/>
              </a:rPr>
              <a:t>Still a major standard in scientific data workflows.</a:t>
            </a:r>
            <a:endParaRPr lang="en-US" sz="1050" dirty="0"/>
          </a:p>
        </p:txBody>
      </p:sp>
      <p:sp>
        <p:nvSpPr>
          <p:cNvPr id="19" name="Text 17"/>
          <p:cNvSpPr/>
          <p:nvPr/>
        </p:nvSpPr>
        <p:spPr>
          <a:xfrm>
            <a:off x="4389120" y="3145536"/>
            <a:ext cx="1773936" cy="256032"/>
          </a:xfrm>
          <a:prstGeom prst="rect">
            <a:avLst/>
          </a:prstGeom>
          <a:noFill/>
          <a:ln/>
        </p:spPr>
        <p:txBody>
          <a:bodyPr wrap="square" lIns="0" tIns="0" rIns="0" bIns="0" rtlCol="0" anchor="ctr"/>
          <a:lstStyle/>
          <a:p>
            <a:pPr marL="0" indent="0">
              <a:buNone/>
            </a:pPr>
            <a:r>
              <a:rPr lang="en-US" sz="1950" b="1" dirty="0">
                <a:solidFill>
                  <a:srgbClr val="22313B"/>
                </a:solidFill>
                <a:latin typeface="Georgia" pitchFamily="34" charset="0"/>
                <a:ea typeface="Georgia" pitchFamily="34" charset="-122"/>
                <a:cs typeface="Georgia" pitchFamily="34" charset="-120"/>
              </a:rPr>
              <a:t>HSDS on S3</a:t>
            </a:r>
            <a:endParaRPr lang="en-US" sz="1950" dirty="0"/>
          </a:p>
        </p:txBody>
      </p:sp>
      <p:sp>
        <p:nvSpPr>
          <p:cNvPr id="20" name="Text 18"/>
          <p:cNvSpPr/>
          <p:nvPr/>
        </p:nvSpPr>
        <p:spPr>
          <a:xfrm>
            <a:off x="4389120" y="3584448"/>
            <a:ext cx="1920240" cy="182880"/>
          </a:xfrm>
          <a:prstGeom prst="rect">
            <a:avLst/>
          </a:prstGeom>
          <a:noFill/>
          <a:ln/>
        </p:spPr>
        <p:txBody>
          <a:bodyPr wrap="square" lIns="0" tIns="0" rIns="0" bIns="0" rtlCol="0" anchor="ctr"/>
          <a:lstStyle/>
          <a:p>
            <a:pPr marL="0" indent="0">
              <a:buNone/>
            </a:pPr>
            <a:r>
              <a:rPr lang="en-US" sz="1220" b="1" dirty="0">
                <a:solidFill>
                  <a:srgbClr val="22313B"/>
                </a:solidFill>
                <a:latin typeface="Helvetica Neue" pitchFamily="34" charset="0"/>
                <a:ea typeface="Helvetica Neue" pitchFamily="34" charset="-122"/>
                <a:cs typeface="Helvetica Neue" pitchFamily="34" charset="-120"/>
              </a:rPr>
              <a:t>Not the best fit here</a:t>
            </a:r>
            <a:endParaRPr lang="en-US" sz="1220" dirty="0"/>
          </a:p>
        </p:txBody>
      </p:sp>
      <p:sp>
        <p:nvSpPr>
          <p:cNvPr id="21" name="Text 19"/>
          <p:cNvSpPr/>
          <p:nvPr/>
        </p:nvSpPr>
        <p:spPr>
          <a:xfrm>
            <a:off x="4389120" y="3931920"/>
            <a:ext cx="2340864" cy="566928"/>
          </a:xfrm>
          <a:prstGeom prst="rect">
            <a:avLst/>
          </a:prstGeom>
          <a:noFill/>
          <a:ln/>
        </p:spPr>
        <p:txBody>
          <a:bodyPr wrap="square" lIns="0" tIns="0" rIns="0" bIns="0" rtlCol="0" anchor="ctr">
            <a:normAutofit/>
          </a:bodyPr>
          <a:lstStyle/>
          <a:p>
            <a:pPr marL="0" indent="0">
              <a:buNone/>
            </a:pPr>
            <a:r>
              <a:rPr lang="en-US" sz="1050" dirty="0">
                <a:solidFill>
                  <a:srgbClr val="53626C"/>
                </a:solidFill>
                <a:latin typeface="Helvetica Neue" pitchFamily="34" charset="0"/>
                <a:ea typeface="Helvetica Neue" pitchFamily="34" charset="-122"/>
                <a:cs typeface="Helvetica Neue" pitchFamily="34" charset="-120"/>
              </a:rPr>
              <a:t>In this S3-native benchmark path, it lagged on slice latency and scan throughput.</a:t>
            </a:r>
            <a:endParaRPr lang="en-US" sz="1050" dirty="0"/>
          </a:p>
        </p:txBody>
      </p:sp>
      <p:sp>
        <p:nvSpPr>
          <p:cNvPr id="22" name="Text 20"/>
          <p:cNvSpPr/>
          <p:nvPr/>
        </p:nvSpPr>
        <p:spPr>
          <a:xfrm>
            <a:off x="7488936" y="3145536"/>
            <a:ext cx="1737360" cy="256032"/>
          </a:xfrm>
          <a:prstGeom prst="rect">
            <a:avLst/>
          </a:prstGeom>
          <a:noFill/>
          <a:ln/>
        </p:spPr>
        <p:txBody>
          <a:bodyPr wrap="square" lIns="0" tIns="0" rIns="0" bIns="0" rtlCol="0" anchor="ctr"/>
          <a:lstStyle/>
          <a:p>
            <a:pPr marL="0" indent="0">
              <a:buNone/>
            </a:pPr>
            <a:r>
              <a:rPr lang="en-US" sz="2000" b="1" dirty="0">
                <a:solidFill>
                  <a:srgbClr val="22313B"/>
                </a:solidFill>
                <a:latin typeface="Georgia" pitchFamily="34" charset="0"/>
                <a:ea typeface="Georgia" pitchFamily="34" charset="-122"/>
                <a:cs typeface="Georgia" pitchFamily="34" charset="-120"/>
              </a:rPr>
              <a:t>Native HDF5</a:t>
            </a:r>
            <a:endParaRPr lang="en-US" sz="2000" dirty="0"/>
          </a:p>
        </p:txBody>
      </p:sp>
      <p:sp>
        <p:nvSpPr>
          <p:cNvPr id="23" name="Text 21"/>
          <p:cNvSpPr/>
          <p:nvPr/>
        </p:nvSpPr>
        <p:spPr>
          <a:xfrm>
            <a:off x="7488936" y="3584448"/>
            <a:ext cx="2139696" cy="182880"/>
          </a:xfrm>
          <a:prstGeom prst="rect">
            <a:avLst/>
          </a:prstGeom>
          <a:noFill/>
          <a:ln/>
        </p:spPr>
        <p:txBody>
          <a:bodyPr wrap="square" lIns="0" tIns="0" rIns="0" bIns="0" rtlCol="0" anchor="ctr"/>
          <a:lstStyle/>
          <a:p>
            <a:pPr marL="0" indent="0">
              <a:buNone/>
            </a:pPr>
            <a:r>
              <a:rPr lang="en-US" sz="1200" b="1" dirty="0">
                <a:solidFill>
                  <a:srgbClr val="22313B"/>
                </a:solidFill>
                <a:latin typeface="Helvetica Neue" pitchFamily="34" charset="0"/>
                <a:ea typeface="Helvetica Neue" pitchFamily="34" charset="-122"/>
                <a:cs typeface="Helvetica Neue" pitchFamily="34" charset="-120"/>
              </a:rPr>
              <a:t>Different infrastructure path</a:t>
            </a:r>
            <a:endParaRPr lang="en-US" sz="1200" dirty="0"/>
          </a:p>
        </p:txBody>
      </p:sp>
      <p:sp>
        <p:nvSpPr>
          <p:cNvPr id="24" name="Text 22"/>
          <p:cNvSpPr/>
          <p:nvPr/>
        </p:nvSpPr>
        <p:spPr>
          <a:xfrm>
            <a:off x="7488936" y="3931920"/>
            <a:ext cx="2249424" cy="566928"/>
          </a:xfrm>
          <a:prstGeom prst="rect">
            <a:avLst/>
          </a:prstGeom>
          <a:noFill/>
          <a:ln/>
        </p:spPr>
        <p:txBody>
          <a:bodyPr wrap="square" lIns="0" tIns="0" rIns="0" bIns="0" rtlCol="0" anchor="ctr">
            <a:normAutofit/>
          </a:bodyPr>
          <a:lstStyle/>
          <a:p>
            <a:pPr marL="0" indent="0">
              <a:buNone/>
            </a:pPr>
            <a:r>
              <a:rPr lang="en-US" sz="1040" dirty="0">
                <a:solidFill>
                  <a:srgbClr val="53626C"/>
                </a:solidFill>
                <a:latin typeface="Helvetica Neue" pitchFamily="34" charset="0"/>
                <a:ea typeface="Helvetica Neue" pitchFamily="34" charset="-122"/>
                <a:cs typeface="Helvetica Neue" pitchFamily="34" charset="-120"/>
              </a:rPr>
              <a:t>HDF5 on NVMe, EBS, or other block storage is a separate performance question.</a:t>
            </a:r>
            <a:endParaRPr lang="en-US" sz="1040" dirty="0"/>
          </a:p>
        </p:txBody>
      </p:sp>
      <p:sp>
        <p:nvSpPr>
          <p:cNvPr id="25" name="Shape 23"/>
          <p:cNvSpPr/>
          <p:nvPr/>
        </p:nvSpPr>
        <p:spPr>
          <a:xfrm>
            <a:off x="1115568" y="5358384"/>
            <a:ext cx="9034272" cy="384048"/>
          </a:xfrm>
          <a:prstGeom prst="roundRect">
            <a:avLst>
              <a:gd name="adj" fmla="val 14286"/>
            </a:avLst>
          </a:prstGeom>
          <a:solidFill>
            <a:srgbClr val="F2E9DE"/>
          </a:solidFill>
          <a:ln w="12700">
            <a:solidFill>
              <a:srgbClr val="D9CCBC"/>
            </a:solidFill>
            <a:prstDash val="solid"/>
          </a:ln>
        </p:spPr>
        <p:txBody>
          <a:bodyPr/>
          <a:lstStyle/>
          <a:p>
            <a:endParaRPr lang="en-US"/>
          </a:p>
        </p:txBody>
      </p:sp>
      <p:sp>
        <p:nvSpPr>
          <p:cNvPr id="26" name="Text 24"/>
          <p:cNvSpPr/>
          <p:nvPr/>
        </p:nvSpPr>
        <p:spPr>
          <a:xfrm>
            <a:off x="1353312" y="5472684"/>
            <a:ext cx="8558784" cy="128016"/>
          </a:xfrm>
          <a:prstGeom prst="rect">
            <a:avLst/>
          </a:prstGeom>
          <a:noFill/>
          <a:ln/>
        </p:spPr>
        <p:txBody>
          <a:bodyPr wrap="square" lIns="0" tIns="0" rIns="0" bIns="0" rtlCol="0" anchor="ctr"/>
          <a:lstStyle/>
          <a:p>
            <a:pPr marL="0" indent="0" algn="ctr">
              <a:buNone/>
            </a:pPr>
            <a:r>
              <a:rPr lang="en-US" sz="1060" b="1" dirty="0">
                <a:solidFill>
                  <a:srgbClr val="22313B"/>
                </a:solidFill>
                <a:latin typeface="Helvetica Neue" pitchFamily="34" charset="0"/>
                <a:ea typeface="Helvetica Neue" pitchFamily="34" charset="-122"/>
                <a:cs typeface="Helvetica Neue" pitchFamily="34" charset="-120"/>
              </a:rPr>
              <a:t>The benchmark result is about HSDS-on-S3, not about HDF5 as a whole.</a:t>
            </a:r>
            <a:endParaRPr lang="en-US" sz="1060" dirty="0"/>
          </a:p>
        </p:txBody>
      </p:sp>
      <p:sp>
        <p:nvSpPr>
          <p:cNvPr id="27" name="Shape 25"/>
          <p:cNvSpPr/>
          <p:nvPr/>
        </p:nvSpPr>
        <p:spPr>
          <a:xfrm>
            <a:off x="8814816" y="530352"/>
            <a:ext cx="1005840" cy="365760"/>
          </a:xfrm>
          <a:prstGeom prst="roundRect">
            <a:avLst>
              <a:gd name="adj" fmla="val 15000"/>
            </a:avLst>
          </a:prstGeom>
          <a:solidFill>
            <a:srgbClr val="F2E9DE"/>
          </a:solidFill>
          <a:ln w="12700">
            <a:solidFill>
              <a:srgbClr val="D9CCBC"/>
            </a:solidFill>
            <a:prstDash val="solid"/>
          </a:ln>
        </p:spPr>
        <p:txBody>
          <a:bodyPr/>
          <a:lstStyle/>
          <a:p>
            <a:endParaRPr lang="en-US"/>
          </a:p>
        </p:txBody>
      </p:sp>
      <p:sp>
        <p:nvSpPr>
          <p:cNvPr id="28" name="Text 26"/>
          <p:cNvSpPr/>
          <p:nvPr/>
        </p:nvSpPr>
        <p:spPr>
          <a:xfrm>
            <a:off x="8814816" y="603504"/>
            <a:ext cx="1005840" cy="219456"/>
          </a:xfrm>
          <a:prstGeom prst="rect">
            <a:avLst/>
          </a:prstGeom>
          <a:noFill/>
          <a:ln/>
        </p:spPr>
        <p:txBody>
          <a:bodyPr wrap="square" lIns="0" tIns="0" rIns="0" bIns="0" rtlCol="0" anchor="ctr"/>
          <a:lstStyle/>
          <a:p>
            <a:pPr marL="0" indent="0" algn="ctr">
              <a:buNone/>
            </a:pPr>
            <a:r>
              <a:rPr lang="en-US" sz="1050" dirty="0">
                <a:solidFill>
                  <a:srgbClr val="53626C"/>
                </a:solidFill>
                <a:latin typeface="Helvetica Neue" pitchFamily="34" charset="0"/>
                <a:ea typeface="Helvetica Neue" pitchFamily="34" charset="-122"/>
                <a:cs typeface="Helvetica Neue" pitchFamily="34" charset="-120"/>
              </a:rPr>
              <a:t>Slide 10</a:t>
            </a:r>
            <a:endParaRPr lang="en-US" sz="1050" dirty="0"/>
          </a:p>
        </p:txBody>
      </p:sp>
      <p:sp>
        <p:nvSpPr>
          <p:cNvPr id="29" name="Shape 27"/>
          <p:cNvSpPr/>
          <p:nvPr/>
        </p:nvSpPr>
        <p:spPr>
          <a:xfrm>
            <a:off x="9948672" y="530352"/>
            <a:ext cx="1335024" cy="365760"/>
          </a:xfrm>
          <a:prstGeom prst="roundRect">
            <a:avLst>
              <a:gd name="adj" fmla="val 15000"/>
            </a:avLst>
          </a:prstGeom>
          <a:solidFill>
            <a:srgbClr val="F2E9DE"/>
          </a:solidFill>
          <a:ln w="12700">
            <a:solidFill>
              <a:srgbClr val="D9CCBC"/>
            </a:solidFill>
            <a:prstDash val="solid"/>
          </a:ln>
        </p:spPr>
        <p:txBody>
          <a:bodyPr/>
          <a:lstStyle/>
          <a:p>
            <a:endParaRPr lang="en-US"/>
          </a:p>
        </p:txBody>
      </p:sp>
      <p:sp>
        <p:nvSpPr>
          <p:cNvPr id="30" name="Text 28"/>
          <p:cNvSpPr/>
          <p:nvPr/>
        </p:nvSpPr>
        <p:spPr>
          <a:xfrm>
            <a:off x="9948672" y="603504"/>
            <a:ext cx="1335024" cy="219456"/>
          </a:xfrm>
          <a:prstGeom prst="rect">
            <a:avLst/>
          </a:prstGeom>
          <a:noFill/>
          <a:ln/>
        </p:spPr>
        <p:txBody>
          <a:bodyPr wrap="square" lIns="0" tIns="0" rIns="0" bIns="0" rtlCol="0" anchor="ctr"/>
          <a:lstStyle/>
          <a:p>
            <a:pPr marL="0" indent="0" algn="ctr">
              <a:buNone/>
            </a:pPr>
            <a:r>
              <a:rPr lang="en-US" sz="1050" dirty="0">
                <a:solidFill>
                  <a:srgbClr val="53626C"/>
                </a:solidFill>
                <a:latin typeface="Helvetica Neue" pitchFamily="34" charset="0"/>
                <a:ea typeface="Helvetica Neue" pitchFamily="34" charset="-122"/>
                <a:cs typeface="Helvetica Neue" pitchFamily="34" charset="-120"/>
              </a:rPr>
              <a:t>HDF5</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1E8"/>
        </a:solidFill>
        <a:effectLst/>
      </p:bgPr>
    </p:bg>
    <p:spTree>
      <p:nvGrpSpPr>
        <p:cNvPr id="1" name=""/>
        <p:cNvGrpSpPr/>
        <p:nvPr/>
      </p:nvGrpSpPr>
      <p:grpSpPr>
        <a:xfrm>
          <a:off x="0" y="0"/>
          <a:ext cx="0" cy="0"/>
          <a:chOff x="0" y="0"/>
          <a:chExt cx="0" cy="0"/>
        </a:xfrm>
      </p:grpSpPr>
      <p:sp>
        <p:nvSpPr>
          <p:cNvPr id="2" name="Text 0"/>
          <p:cNvSpPr/>
          <p:nvPr/>
        </p:nvSpPr>
        <p:spPr>
          <a:xfrm>
            <a:off x="868680" y="502920"/>
            <a:ext cx="1920240" cy="133350"/>
          </a:xfrm>
          <a:prstGeom prst="rect">
            <a:avLst/>
          </a:prstGeom>
          <a:noFill/>
          <a:ln/>
        </p:spPr>
        <p:txBody>
          <a:bodyPr wrap="square" lIns="0" tIns="0" rIns="0" bIns="0" rtlCol="0" anchor="ctr"/>
          <a:lstStyle/>
          <a:p>
            <a:pPr marL="0" indent="0">
              <a:buNone/>
            </a:pPr>
            <a:r>
              <a:rPr lang="en-US" sz="1050" b="1" dirty="0">
                <a:solidFill>
                  <a:srgbClr val="B8874F"/>
                </a:solidFill>
                <a:latin typeface="Helvetica Neue" pitchFamily="34" charset="0"/>
                <a:ea typeface="Helvetica Neue" pitchFamily="34" charset="-122"/>
                <a:cs typeface="Helvetica Neue" pitchFamily="34" charset="-120"/>
              </a:rPr>
              <a:t>DECISION</a:t>
            </a:r>
            <a:endParaRPr lang="en-US" sz="1050" dirty="0"/>
          </a:p>
        </p:txBody>
      </p:sp>
      <p:sp>
        <p:nvSpPr>
          <p:cNvPr id="3" name="Shape 1"/>
          <p:cNvSpPr/>
          <p:nvPr/>
        </p:nvSpPr>
        <p:spPr>
          <a:xfrm>
            <a:off x="868680" y="822960"/>
            <a:ext cx="896112" cy="0"/>
          </a:xfrm>
          <a:prstGeom prst="line">
            <a:avLst/>
          </a:prstGeom>
          <a:noFill/>
          <a:ln w="12700">
            <a:solidFill>
              <a:srgbClr val="B8874F"/>
            </a:solidFill>
            <a:prstDash val="solid"/>
          </a:ln>
        </p:spPr>
        <p:txBody>
          <a:bodyPr/>
          <a:lstStyle/>
          <a:p>
            <a:endParaRPr lang="en-US"/>
          </a:p>
        </p:txBody>
      </p:sp>
      <p:sp>
        <p:nvSpPr>
          <p:cNvPr id="4" name="Text 2"/>
          <p:cNvSpPr/>
          <p:nvPr/>
        </p:nvSpPr>
        <p:spPr>
          <a:xfrm>
            <a:off x="868680" y="1024128"/>
            <a:ext cx="5669280" cy="731520"/>
          </a:xfrm>
          <a:prstGeom prst="rect">
            <a:avLst/>
          </a:prstGeom>
          <a:noFill/>
          <a:ln/>
        </p:spPr>
        <p:txBody>
          <a:bodyPr wrap="square" lIns="0" tIns="0" rIns="0" bIns="0" rtlCol="0" anchor="ctr">
            <a:normAutofit/>
          </a:bodyPr>
          <a:lstStyle/>
          <a:p>
            <a:pPr marL="0" indent="0">
              <a:buNone/>
            </a:pPr>
            <a:r>
              <a:rPr lang="en-US" sz="2446" b="1" dirty="0">
                <a:solidFill>
                  <a:srgbClr val="22313B"/>
                </a:solidFill>
                <a:latin typeface="Georgia" pitchFamily="34" charset="0"/>
                <a:ea typeface="Georgia" pitchFamily="34" charset="-122"/>
                <a:cs typeface="Georgia" pitchFamily="34" charset="-120"/>
              </a:rPr>
              <a:t>Why we chose Zarr</a:t>
            </a:r>
            <a:endParaRPr lang="en-US" sz="2446" dirty="0"/>
          </a:p>
        </p:txBody>
      </p:sp>
      <p:sp>
        <p:nvSpPr>
          <p:cNvPr id="5" name="Text 3"/>
          <p:cNvSpPr/>
          <p:nvPr/>
        </p:nvSpPr>
        <p:spPr>
          <a:xfrm>
            <a:off x="868680" y="1792224"/>
            <a:ext cx="6675120" cy="329184"/>
          </a:xfrm>
          <a:prstGeom prst="rect">
            <a:avLst/>
          </a:prstGeom>
          <a:noFill/>
          <a:ln/>
        </p:spPr>
        <p:txBody>
          <a:bodyPr wrap="square" lIns="0" tIns="0" rIns="0" bIns="0" rtlCol="0" anchor="ctr"/>
          <a:lstStyle/>
          <a:p>
            <a:pPr marL="0" indent="0">
              <a:buNone/>
            </a:pPr>
            <a:r>
              <a:rPr lang="en-US" sz="1420" dirty="0">
                <a:solidFill>
                  <a:srgbClr val="53626C"/>
                </a:solidFill>
                <a:latin typeface="Helvetica Neue" pitchFamily="34" charset="0"/>
                <a:ea typeface="Helvetica Neue" pitchFamily="34" charset="-122"/>
                <a:cs typeface="Helvetica Neue" pitchFamily="34" charset="-120"/>
              </a:rPr>
              <a:t>Benchmark winner is not automatically product winner.</a:t>
            </a:r>
            <a:endParaRPr lang="en-US" sz="1420" dirty="0"/>
          </a:p>
        </p:txBody>
      </p:sp>
      <p:sp>
        <p:nvSpPr>
          <p:cNvPr id="6" name="Shape 4"/>
          <p:cNvSpPr/>
          <p:nvPr/>
        </p:nvSpPr>
        <p:spPr>
          <a:xfrm>
            <a:off x="868680" y="2212848"/>
            <a:ext cx="10424160" cy="3822192"/>
          </a:xfrm>
          <a:prstGeom prst="roundRect">
            <a:avLst>
              <a:gd name="adj" fmla="val 1914"/>
            </a:avLst>
          </a:prstGeom>
          <a:solidFill>
            <a:srgbClr val="FBF7F1"/>
          </a:solidFill>
          <a:ln w="12700">
            <a:solidFill>
              <a:srgbClr val="D9CCBC"/>
            </a:solidFill>
            <a:prstDash val="solid"/>
          </a:ln>
        </p:spPr>
        <p:txBody>
          <a:bodyPr/>
          <a:lstStyle/>
          <a:p>
            <a:endParaRPr lang="en-US"/>
          </a:p>
        </p:txBody>
      </p:sp>
      <p:sp>
        <p:nvSpPr>
          <p:cNvPr id="7" name="Shape 5"/>
          <p:cNvSpPr/>
          <p:nvPr/>
        </p:nvSpPr>
        <p:spPr>
          <a:xfrm>
            <a:off x="1115568" y="2542032"/>
            <a:ext cx="4041648" cy="2432304"/>
          </a:xfrm>
          <a:prstGeom prst="roundRect">
            <a:avLst>
              <a:gd name="adj" fmla="val 3008"/>
            </a:avLst>
          </a:prstGeom>
          <a:solidFill>
            <a:srgbClr val="E6D6C4"/>
          </a:solidFill>
          <a:ln w="12700">
            <a:solidFill>
              <a:srgbClr val="D9CCBC"/>
            </a:solidFill>
            <a:prstDash val="solid"/>
          </a:ln>
        </p:spPr>
        <p:txBody>
          <a:bodyPr/>
          <a:lstStyle/>
          <a:p>
            <a:endParaRPr lang="en-US"/>
          </a:p>
        </p:txBody>
      </p:sp>
      <p:sp>
        <p:nvSpPr>
          <p:cNvPr id="8" name="Shape 6"/>
          <p:cNvSpPr/>
          <p:nvPr/>
        </p:nvSpPr>
        <p:spPr>
          <a:xfrm>
            <a:off x="7004304" y="2542032"/>
            <a:ext cx="3575304" cy="2432304"/>
          </a:xfrm>
          <a:prstGeom prst="roundRect">
            <a:avLst>
              <a:gd name="adj" fmla="val 3008"/>
            </a:avLst>
          </a:prstGeom>
          <a:solidFill>
            <a:srgbClr val="22313B"/>
          </a:solidFill>
          <a:ln w="12700">
            <a:solidFill>
              <a:srgbClr val="22313B"/>
            </a:solidFill>
            <a:prstDash val="solid"/>
          </a:ln>
        </p:spPr>
        <p:txBody>
          <a:bodyPr/>
          <a:lstStyle/>
          <a:p>
            <a:endParaRPr lang="en-US"/>
          </a:p>
        </p:txBody>
      </p:sp>
      <p:sp>
        <p:nvSpPr>
          <p:cNvPr id="9" name="Shape 7"/>
          <p:cNvSpPr/>
          <p:nvPr/>
        </p:nvSpPr>
        <p:spPr>
          <a:xfrm>
            <a:off x="1371600" y="2788920"/>
            <a:ext cx="1481328" cy="256032"/>
          </a:xfrm>
          <a:prstGeom prst="roundRect">
            <a:avLst>
              <a:gd name="adj" fmla="val 21429"/>
            </a:avLst>
          </a:prstGeom>
          <a:solidFill>
            <a:srgbClr val="B8874F"/>
          </a:solidFill>
          <a:ln w="12700">
            <a:solidFill>
              <a:srgbClr val="B8874F">
                <a:alpha val="0"/>
              </a:srgbClr>
            </a:solidFill>
            <a:prstDash val="solid"/>
          </a:ln>
        </p:spPr>
        <p:txBody>
          <a:bodyPr/>
          <a:lstStyle/>
          <a:p>
            <a:endParaRPr lang="en-US"/>
          </a:p>
        </p:txBody>
      </p:sp>
      <p:sp>
        <p:nvSpPr>
          <p:cNvPr id="10" name="Text 8"/>
          <p:cNvSpPr/>
          <p:nvPr/>
        </p:nvSpPr>
        <p:spPr>
          <a:xfrm>
            <a:off x="1371600" y="2834640"/>
            <a:ext cx="1481328" cy="164592"/>
          </a:xfrm>
          <a:prstGeom prst="rect">
            <a:avLst/>
          </a:prstGeom>
          <a:noFill/>
          <a:ln/>
        </p:spPr>
        <p:txBody>
          <a:bodyPr wrap="square" lIns="0" tIns="0" rIns="0" bIns="0" rtlCol="0" anchor="ctr"/>
          <a:lstStyle/>
          <a:p>
            <a:pPr marL="0" indent="0" algn="ctr">
              <a:buNone/>
            </a:pPr>
            <a:r>
              <a:rPr lang="en-US" sz="840" b="1" dirty="0">
                <a:solidFill>
                  <a:srgbClr val="22313B"/>
                </a:solidFill>
                <a:latin typeface="Helvetica Neue" pitchFamily="34" charset="0"/>
                <a:ea typeface="Helvetica Neue" pitchFamily="34" charset="-122"/>
                <a:cs typeface="Helvetica Neue" pitchFamily="34" charset="-120"/>
              </a:rPr>
              <a:t>Benchmark winner</a:t>
            </a:r>
            <a:endParaRPr lang="en-US" sz="840" dirty="0"/>
          </a:p>
        </p:txBody>
      </p:sp>
      <p:sp>
        <p:nvSpPr>
          <p:cNvPr id="11" name="Text 9"/>
          <p:cNvSpPr/>
          <p:nvPr/>
        </p:nvSpPr>
        <p:spPr>
          <a:xfrm>
            <a:off x="1371600" y="3255264"/>
            <a:ext cx="1920240" cy="365760"/>
          </a:xfrm>
          <a:prstGeom prst="rect">
            <a:avLst/>
          </a:prstGeom>
          <a:noFill/>
          <a:ln/>
        </p:spPr>
        <p:txBody>
          <a:bodyPr wrap="square" lIns="0" tIns="0" rIns="0" bIns="0" rtlCol="0" anchor="ctr"/>
          <a:lstStyle/>
          <a:p>
            <a:pPr marL="0" indent="0">
              <a:buNone/>
            </a:pPr>
            <a:r>
              <a:rPr lang="en-US" sz="2550" b="1" dirty="0">
                <a:solidFill>
                  <a:srgbClr val="22313B"/>
                </a:solidFill>
                <a:latin typeface="Georgia" pitchFamily="34" charset="0"/>
                <a:ea typeface="Georgia" pitchFamily="34" charset="-122"/>
                <a:cs typeface="Georgia" pitchFamily="34" charset="-120"/>
              </a:rPr>
              <a:t>TileDB</a:t>
            </a:r>
            <a:endParaRPr lang="en-US" sz="2550" dirty="0"/>
          </a:p>
        </p:txBody>
      </p:sp>
      <p:sp>
        <p:nvSpPr>
          <p:cNvPr id="12" name="Text 10"/>
          <p:cNvSpPr/>
          <p:nvPr/>
        </p:nvSpPr>
        <p:spPr>
          <a:xfrm>
            <a:off x="1371600" y="3767328"/>
            <a:ext cx="1773936" cy="182880"/>
          </a:xfrm>
          <a:prstGeom prst="rect">
            <a:avLst/>
          </a:prstGeom>
          <a:noFill/>
          <a:ln/>
        </p:spPr>
        <p:txBody>
          <a:bodyPr wrap="square" lIns="0" tIns="0" rIns="0" bIns="0" rtlCol="0" anchor="ctr"/>
          <a:lstStyle/>
          <a:p>
            <a:pPr marL="0" indent="0">
              <a:buNone/>
            </a:pPr>
            <a:r>
              <a:rPr lang="en-US" sz="1220" b="1" dirty="0">
                <a:solidFill>
                  <a:srgbClr val="22313B"/>
                </a:solidFill>
                <a:latin typeface="Helvetica Neue" pitchFamily="34" charset="0"/>
                <a:ea typeface="Helvetica Neue" pitchFamily="34" charset="-122"/>
                <a:cs typeface="Helvetica Neue" pitchFamily="34" charset="-120"/>
              </a:rPr>
              <a:t>Full-scan throughput</a:t>
            </a:r>
            <a:endParaRPr lang="en-US" sz="1220" dirty="0"/>
          </a:p>
        </p:txBody>
      </p:sp>
      <p:sp>
        <p:nvSpPr>
          <p:cNvPr id="13" name="Text 11"/>
          <p:cNvSpPr/>
          <p:nvPr/>
        </p:nvSpPr>
        <p:spPr>
          <a:xfrm>
            <a:off x="1371600" y="4078224"/>
            <a:ext cx="3200400" cy="475488"/>
          </a:xfrm>
          <a:prstGeom prst="rect">
            <a:avLst/>
          </a:prstGeom>
          <a:noFill/>
          <a:ln/>
        </p:spPr>
        <p:txBody>
          <a:bodyPr wrap="square" lIns="0" tIns="0" rIns="0" bIns="0" rtlCol="0" anchor="ctr">
            <a:normAutofit/>
          </a:bodyPr>
          <a:lstStyle/>
          <a:p>
            <a:pPr marL="0" indent="0">
              <a:buNone/>
            </a:pPr>
            <a:r>
              <a:rPr lang="en-US" sz="1060" dirty="0">
                <a:solidFill>
                  <a:srgbClr val="53626C"/>
                </a:solidFill>
                <a:latin typeface="Helvetica Neue" pitchFamily="34" charset="0"/>
                <a:ea typeface="Helvetica Neue" pitchFamily="34" charset="-122"/>
                <a:cs typeface="Helvetica Neue" pitchFamily="34" charset="-120"/>
              </a:rPr>
              <a:t>If scan speed was the only objective, this would be the hard choice to argue against.</a:t>
            </a:r>
            <a:endParaRPr lang="en-US" sz="1060" dirty="0"/>
          </a:p>
        </p:txBody>
      </p:sp>
      <p:sp>
        <p:nvSpPr>
          <p:cNvPr id="14" name="Shape 12"/>
          <p:cNvSpPr/>
          <p:nvPr/>
        </p:nvSpPr>
        <p:spPr>
          <a:xfrm>
            <a:off x="7260336" y="2788920"/>
            <a:ext cx="1572768" cy="256032"/>
          </a:xfrm>
          <a:prstGeom prst="roundRect">
            <a:avLst>
              <a:gd name="adj" fmla="val 21429"/>
            </a:avLst>
          </a:prstGeom>
          <a:solidFill>
            <a:srgbClr val="B9CAD7"/>
          </a:solidFill>
          <a:ln w="12700">
            <a:solidFill>
              <a:srgbClr val="B9CAD7">
                <a:alpha val="0"/>
              </a:srgbClr>
            </a:solidFill>
            <a:prstDash val="solid"/>
          </a:ln>
        </p:spPr>
        <p:txBody>
          <a:bodyPr/>
          <a:lstStyle/>
          <a:p>
            <a:endParaRPr lang="en-US"/>
          </a:p>
        </p:txBody>
      </p:sp>
      <p:sp>
        <p:nvSpPr>
          <p:cNvPr id="15" name="Text 13"/>
          <p:cNvSpPr/>
          <p:nvPr/>
        </p:nvSpPr>
        <p:spPr>
          <a:xfrm>
            <a:off x="7260336" y="2834640"/>
            <a:ext cx="1572768" cy="164592"/>
          </a:xfrm>
          <a:prstGeom prst="rect">
            <a:avLst/>
          </a:prstGeom>
          <a:noFill/>
          <a:ln/>
        </p:spPr>
        <p:txBody>
          <a:bodyPr wrap="square" lIns="0" tIns="0" rIns="0" bIns="0" rtlCol="0" anchor="ctr"/>
          <a:lstStyle/>
          <a:p>
            <a:pPr marL="0" indent="0" algn="ctr">
              <a:buNone/>
            </a:pPr>
            <a:r>
              <a:rPr lang="en-US" sz="820" b="1" dirty="0">
                <a:solidFill>
                  <a:srgbClr val="22313B"/>
                </a:solidFill>
                <a:latin typeface="Helvetica Neue" pitchFamily="34" charset="0"/>
                <a:ea typeface="Helvetica Neue" pitchFamily="34" charset="-122"/>
                <a:cs typeface="Helvetica Neue" pitchFamily="34" charset="-120"/>
              </a:rPr>
              <a:t>Product winner for us</a:t>
            </a:r>
            <a:endParaRPr lang="en-US" sz="820" dirty="0"/>
          </a:p>
        </p:txBody>
      </p:sp>
      <p:sp>
        <p:nvSpPr>
          <p:cNvPr id="16" name="Text 14"/>
          <p:cNvSpPr/>
          <p:nvPr/>
        </p:nvSpPr>
        <p:spPr>
          <a:xfrm>
            <a:off x="7260336" y="3255264"/>
            <a:ext cx="1499616" cy="365760"/>
          </a:xfrm>
          <a:prstGeom prst="rect">
            <a:avLst/>
          </a:prstGeom>
          <a:noFill/>
          <a:ln/>
        </p:spPr>
        <p:txBody>
          <a:bodyPr wrap="square" lIns="0" tIns="0" rIns="0" bIns="0" rtlCol="0" anchor="ctr"/>
          <a:lstStyle/>
          <a:p>
            <a:pPr marL="0" indent="0">
              <a:buNone/>
            </a:pPr>
            <a:r>
              <a:rPr lang="en-US" sz="2700" b="1" dirty="0">
                <a:solidFill>
                  <a:srgbClr val="FFFFFF"/>
                </a:solidFill>
                <a:latin typeface="Georgia" pitchFamily="34" charset="0"/>
                <a:ea typeface="Georgia" pitchFamily="34" charset="-122"/>
                <a:cs typeface="Georgia" pitchFamily="34" charset="-120"/>
              </a:rPr>
              <a:t>Zarr</a:t>
            </a:r>
            <a:endParaRPr lang="en-US" sz="2700" dirty="0"/>
          </a:p>
        </p:txBody>
      </p:sp>
      <p:sp>
        <p:nvSpPr>
          <p:cNvPr id="17" name="Text 15"/>
          <p:cNvSpPr/>
          <p:nvPr/>
        </p:nvSpPr>
        <p:spPr>
          <a:xfrm>
            <a:off x="7260336" y="3767328"/>
            <a:ext cx="1700784" cy="182880"/>
          </a:xfrm>
          <a:prstGeom prst="rect">
            <a:avLst/>
          </a:prstGeom>
          <a:noFill/>
          <a:ln/>
        </p:spPr>
        <p:txBody>
          <a:bodyPr wrap="square" lIns="0" tIns="0" rIns="0" bIns="0" rtlCol="0" anchor="ctr"/>
          <a:lstStyle/>
          <a:p>
            <a:pPr marL="0" indent="0">
              <a:buNone/>
            </a:pPr>
            <a:r>
              <a:rPr lang="en-US" sz="1220" b="1" dirty="0">
                <a:solidFill>
                  <a:srgbClr val="FFFFFF"/>
                </a:solidFill>
                <a:latin typeface="Helvetica Neue" pitchFamily="34" charset="0"/>
                <a:ea typeface="Helvetica Neue" pitchFamily="34" charset="-122"/>
                <a:cs typeface="Helvetica Neue" pitchFamily="34" charset="-120"/>
              </a:rPr>
              <a:t>Best overall fit</a:t>
            </a:r>
            <a:endParaRPr lang="en-US" sz="1220" dirty="0"/>
          </a:p>
        </p:txBody>
      </p:sp>
      <p:sp>
        <p:nvSpPr>
          <p:cNvPr id="18" name="Text 16"/>
          <p:cNvSpPr/>
          <p:nvPr/>
        </p:nvSpPr>
        <p:spPr>
          <a:xfrm>
            <a:off x="7260336" y="4078224"/>
            <a:ext cx="2907792" cy="512064"/>
          </a:xfrm>
          <a:prstGeom prst="rect">
            <a:avLst/>
          </a:prstGeom>
          <a:noFill/>
          <a:ln/>
        </p:spPr>
        <p:txBody>
          <a:bodyPr wrap="square" lIns="0" tIns="0" rIns="0" bIns="0" rtlCol="0" anchor="ctr">
            <a:normAutofit/>
          </a:bodyPr>
          <a:lstStyle/>
          <a:p>
            <a:pPr marL="0" indent="0">
              <a:buNone/>
            </a:pPr>
            <a:r>
              <a:rPr lang="en-US" sz="1020" dirty="0">
                <a:solidFill>
                  <a:srgbClr val="F2E9DE"/>
                </a:solidFill>
                <a:latin typeface="Helvetica Neue" pitchFamily="34" charset="0"/>
                <a:ea typeface="Helvetica Neue" pitchFamily="34" charset="-122"/>
                <a:cs typeface="Helvetica Neue" pitchFamily="34" charset="-120"/>
              </a:rPr>
              <a:t>For our SaaS product direction, latency-first access, a more established and widely used ecosystem, and simpler cloud-native integration mattered more.</a:t>
            </a:r>
            <a:endParaRPr lang="en-US" sz="1020" dirty="0"/>
          </a:p>
        </p:txBody>
      </p:sp>
      <p:sp>
        <p:nvSpPr>
          <p:cNvPr id="19" name="Text 17"/>
          <p:cNvSpPr/>
          <p:nvPr/>
        </p:nvSpPr>
        <p:spPr>
          <a:xfrm>
            <a:off x="5623560" y="3310128"/>
            <a:ext cx="914400" cy="420624"/>
          </a:xfrm>
          <a:prstGeom prst="rect">
            <a:avLst/>
          </a:prstGeom>
          <a:noFill/>
          <a:ln/>
        </p:spPr>
        <p:txBody>
          <a:bodyPr wrap="square" lIns="0" tIns="0" rIns="0" bIns="0" rtlCol="0" anchor="ctr"/>
          <a:lstStyle/>
          <a:p>
            <a:pPr marL="0" indent="0" algn="ctr">
              <a:buNone/>
            </a:pPr>
            <a:r>
              <a:rPr lang="en-US" sz="3000" b="1" dirty="0">
                <a:solidFill>
                  <a:srgbClr val="B8874F"/>
                </a:solidFill>
                <a:latin typeface="Georgia" pitchFamily="34" charset="0"/>
                <a:ea typeface="Georgia" pitchFamily="34" charset="-122"/>
                <a:cs typeface="Georgia" pitchFamily="34" charset="-120"/>
              </a:rPr>
              <a:t>≠</a:t>
            </a:r>
            <a:endParaRPr lang="en-US" sz="3000" dirty="0"/>
          </a:p>
        </p:txBody>
      </p:sp>
      <p:sp>
        <p:nvSpPr>
          <p:cNvPr id="20" name="Text 18"/>
          <p:cNvSpPr/>
          <p:nvPr/>
        </p:nvSpPr>
        <p:spPr>
          <a:xfrm>
            <a:off x="5340096" y="3822192"/>
            <a:ext cx="1408176" cy="164592"/>
          </a:xfrm>
          <a:prstGeom prst="rect">
            <a:avLst/>
          </a:prstGeom>
          <a:noFill/>
          <a:ln/>
        </p:spPr>
        <p:txBody>
          <a:bodyPr wrap="square" lIns="0" tIns="0" rIns="0" bIns="0" rtlCol="0" anchor="ctr"/>
          <a:lstStyle/>
          <a:p>
            <a:pPr marL="0" indent="0" algn="ctr">
              <a:buNone/>
            </a:pPr>
            <a:r>
              <a:rPr lang="en-US" sz="890" b="1" dirty="0">
                <a:solidFill>
                  <a:srgbClr val="53626C"/>
                </a:solidFill>
                <a:latin typeface="Helvetica Neue" pitchFamily="34" charset="0"/>
                <a:ea typeface="Helvetica Neue" pitchFamily="34" charset="-122"/>
                <a:cs typeface="Helvetica Neue" pitchFamily="34" charset="-120"/>
              </a:rPr>
              <a:t>What wins the benchmark</a:t>
            </a:r>
            <a:endParaRPr lang="en-US" sz="890" dirty="0"/>
          </a:p>
        </p:txBody>
      </p:sp>
      <p:sp>
        <p:nvSpPr>
          <p:cNvPr id="21" name="Text 19"/>
          <p:cNvSpPr/>
          <p:nvPr/>
        </p:nvSpPr>
        <p:spPr>
          <a:xfrm>
            <a:off x="5193792" y="4050792"/>
            <a:ext cx="1773936" cy="164592"/>
          </a:xfrm>
          <a:prstGeom prst="rect">
            <a:avLst/>
          </a:prstGeom>
          <a:noFill/>
          <a:ln/>
        </p:spPr>
        <p:txBody>
          <a:bodyPr wrap="square" lIns="0" tIns="0" rIns="0" bIns="0" rtlCol="0" anchor="ctr"/>
          <a:lstStyle/>
          <a:p>
            <a:pPr marL="0" indent="0" algn="ctr">
              <a:buNone/>
            </a:pPr>
            <a:r>
              <a:rPr lang="en-US" sz="890" b="1" dirty="0">
                <a:solidFill>
                  <a:srgbClr val="53626C"/>
                </a:solidFill>
                <a:latin typeface="Helvetica Neue" pitchFamily="34" charset="0"/>
                <a:ea typeface="Helvetica Neue" pitchFamily="34" charset="-122"/>
                <a:cs typeface="Helvetica Neue" pitchFamily="34" charset="-120"/>
              </a:rPr>
              <a:t>What wins the product decision</a:t>
            </a:r>
            <a:endParaRPr lang="en-US" sz="890" dirty="0"/>
          </a:p>
        </p:txBody>
      </p:sp>
      <p:sp>
        <p:nvSpPr>
          <p:cNvPr id="22" name="Shape 20"/>
          <p:cNvSpPr/>
          <p:nvPr/>
        </p:nvSpPr>
        <p:spPr>
          <a:xfrm>
            <a:off x="1115568" y="5193792"/>
            <a:ext cx="9464040" cy="512064"/>
          </a:xfrm>
          <a:prstGeom prst="roundRect">
            <a:avLst>
              <a:gd name="adj" fmla="val 10714"/>
            </a:avLst>
          </a:prstGeom>
          <a:solidFill>
            <a:srgbClr val="F2E9DE"/>
          </a:solidFill>
          <a:ln w="12700">
            <a:solidFill>
              <a:srgbClr val="D9CCBC"/>
            </a:solidFill>
            <a:prstDash val="solid"/>
          </a:ln>
        </p:spPr>
        <p:txBody>
          <a:bodyPr/>
          <a:lstStyle/>
          <a:p>
            <a:endParaRPr lang="en-US"/>
          </a:p>
        </p:txBody>
      </p:sp>
      <p:sp>
        <p:nvSpPr>
          <p:cNvPr id="23" name="Shape 21"/>
          <p:cNvSpPr/>
          <p:nvPr/>
        </p:nvSpPr>
        <p:spPr>
          <a:xfrm>
            <a:off x="1316736" y="5321808"/>
            <a:ext cx="1938528" cy="256032"/>
          </a:xfrm>
          <a:prstGeom prst="roundRect">
            <a:avLst>
              <a:gd name="adj" fmla="val 17857"/>
            </a:avLst>
          </a:prstGeom>
          <a:solidFill>
            <a:srgbClr val="D7E3EB"/>
          </a:solidFill>
          <a:ln w="12700">
            <a:solidFill>
              <a:srgbClr val="D9CCBC"/>
            </a:solidFill>
            <a:prstDash val="solid"/>
          </a:ln>
        </p:spPr>
        <p:txBody>
          <a:bodyPr/>
          <a:lstStyle/>
          <a:p>
            <a:endParaRPr lang="en-US"/>
          </a:p>
        </p:txBody>
      </p:sp>
      <p:sp>
        <p:nvSpPr>
          <p:cNvPr id="24" name="Text 22"/>
          <p:cNvSpPr/>
          <p:nvPr/>
        </p:nvSpPr>
        <p:spPr>
          <a:xfrm>
            <a:off x="1316736" y="5367528"/>
            <a:ext cx="1938528" cy="146304"/>
          </a:xfrm>
          <a:prstGeom prst="rect">
            <a:avLst/>
          </a:prstGeom>
          <a:noFill/>
          <a:ln/>
        </p:spPr>
        <p:txBody>
          <a:bodyPr wrap="square" lIns="0" tIns="0" rIns="0" bIns="0" rtlCol="0" anchor="ctr"/>
          <a:lstStyle/>
          <a:p>
            <a:pPr marL="0" indent="0" algn="ctr">
              <a:buNone/>
            </a:pPr>
            <a:r>
              <a:rPr lang="en-US" sz="850" b="1" dirty="0">
                <a:solidFill>
                  <a:srgbClr val="22313B"/>
                </a:solidFill>
                <a:latin typeface="Helvetica Neue" pitchFamily="34" charset="0"/>
                <a:ea typeface="Helvetica Neue" pitchFamily="34" charset="-122"/>
                <a:cs typeface="Helvetica Neue" pitchFamily="34" charset="-120"/>
              </a:rPr>
              <a:t>Latency-first access</a:t>
            </a:r>
            <a:endParaRPr lang="en-US" sz="850" dirty="0"/>
          </a:p>
        </p:txBody>
      </p:sp>
      <p:sp>
        <p:nvSpPr>
          <p:cNvPr id="25" name="Shape 23"/>
          <p:cNvSpPr/>
          <p:nvPr/>
        </p:nvSpPr>
        <p:spPr>
          <a:xfrm>
            <a:off x="3621024" y="5321808"/>
            <a:ext cx="1938528" cy="256032"/>
          </a:xfrm>
          <a:prstGeom prst="roundRect">
            <a:avLst>
              <a:gd name="adj" fmla="val 17857"/>
            </a:avLst>
          </a:prstGeom>
          <a:solidFill>
            <a:srgbClr val="E6D6C4"/>
          </a:solidFill>
          <a:ln w="12700">
            <a:solidFill>
              <a:srgbClr val="D9CCBC"/>
            </a:solidFill>
            <a:prstDash val="solid"/>
          </a:ln>
        </p:spPr>
        <p:txBody>
          <a:bodyPr/>
          <a:lstStyle/>
          <a:p>
            <a:endParaRPr lang="en-US"/>
          </a:p>
        </p:txBody>
      </p:sp>
      <p:sp>
        <p:nvSpPr>
          <p:cNvPr id="26" name="Text 24"/>
          <p:cNvSpPr/>
          <p:nvPr/>
        </p:nvSpPr>
        <p:spPr>
          <a:xfrm>
            <a:off x="3621024" y="5367528"/>
            <a:ext cx="1938528" cy="146304"/>
          </a:xfrm>
          <a:prstGeom prst="rect">
            <a:avLst/>
          </a:prstGeom>
          <a:noFill/>
          <a:ln/>
        </p:spPr>
        <p:txBody>
          <a:bodyPr wrap="square" lIns="0" tIns="0" rIns="0" bIns="0" rtlCol="0" anchor="ctr"/>
          <a:lstStyle/>
          <a:p>
            <a:pPr marL="0" indent="0" algn="ctr">
              <a:buNone/>
            </a:pPr>
            <a:r>
              <a:rPr lang="en-US" sz="850" b="1" dirty="0">
                <a:solidFill>
                  <a:srgbClr val="22313B"/>
                </a:solidFill>
                <a:latin typeface="Helvetica Neue" pitchFamily="34" charset="0"/>
                <a:ea typeface="Helvetica Neue" pitchFamily="34" charset="-122"/>
                <a:cs typeface="Helvetica Neue" pitchFamily="34" charset="-120"/>
              </a:rPr>
              <a:t>Ecosystem fit</a:t>
            </a:r>
            <a:endParaRPr lang="en-US" sz="850" dirty="0"/>
          </a:p>
        </p:txBody>
      </p:sp>
      <p:sp>
        <p:nvSpPr>
          <p:cNvPr id="27" name="Shape 25"/>
          <p:cNvSpPr/>
          <p:nvPr/>
        </p:nvSpPr>
        <p:spPr>
          <a:xfrm>
            <a:off x="5925312" y="5321808"/>
            <a:ext cx="1938528" cy="256032"/>
          </a:xfrm>
          <a:prstGeom prst="roundRect">
            <a:avLst>
              <a:gd name="adj" fmla="val 17857"/>
            </a:avLst>
          </a:prstGeom>
          <a:solidFill>
            <a:srgbClr val="D7E3EB"/>
          </a:solidFill>
          <a:ln w="12700">
            <a:solidFill>
              <a:srgbClr val="D9CCBC"/>
            </a:solidFill>
            <a:prstDash val="solid"/>
          </a:ln>
        </p:spPr>
        <p:txBody>
          <a:bodyPr/>
          <a:lstStyle/>
          <a:p>
            <a:endParaRPr lang="en-US"/>
          </a:p>
        </p:txBody>
      </p:sp>
      <p:sp>
        <p:nvSpPr>
          <p:cNvPr id="28" name="Text 26"/>
          <p:cNvSpPr/>
          <p:nvPr/>
        </p:nvSpPr>
        <p:spPr>
          <a:xfrm>
            <a:off x="5925312" y="5367528"/>
            <a:ext cx="1938528" cy="146304"/>
          </a:xfrm>
          <a:prstGeom prst="rect">
            <a:avLst/>
          </a:prstGeom>
          <a:noFill/>
          <a:ln/>
        </p:spPr>
        <p:txBody>
          <a:bodyPr wrap="square" lIns="0" tIns="0" rIns="0" bIns="0" rtlCol="0" anchor="ctr"/>
          <a:lstStyle/>
          <a:p>
            <a:pPr marL="0" indent="0" algn="ctr">
              <a:buNone/>
            </a:pPr>
            <a:r>
              <a:rPr lang="en-US" sz="850" b="1" dirty="0">
                <a:solidFill>
                  <a:srgbClr val="22313B"/>
                </a:solidFill>
                <a:latin typeface="Helvetica Neue" pitchFamily="34" charset="0"/>
                <a:ea typeface="Helvetica Neue" pitchFamily="34" charset="-122"/>
                <a:cs typeface="Helvetica Neue" pitchFamily="34" charset="-120"/>
              </a:rPr>
              <a:t>Direct S3 model</a:t>
            </a:r>
            <a:endParaRPr lang="en-US" sz="850" dirty="0"/>
          </a:p>
        </p:txBody>
      </p:sp>
      <p:sp>
        <p:nvSpPr>
          <p:cNvPr id="29" name="Shape 27"/>
          <p:cNvSpPr/>
          <p:nvPr/>
        </p:nvSpPr>
        <p:spPr>
          <a:xfrm>
            <a:off x="8229600" y="5321808"/>
            <a:ext cx="1938528" cy="256032"/>
          </a:xfrm>
          <a:prstGeom prst="roundRect">
            <a:avLst>
              <a:gd name="adj" fmla="val 17857"/>
            </a:avLst>
          </a:prstGeom>
          <a:solidFill>
            <a:srgbClr val="E6D6C4"/>
          </a:solidFill>
          <a:ln w="12700">
            <a:solidFill>
              <a:srgbClr val="D9CCBC"/>
            </a:solidFill>
            <a:prstDash val="solid"/>
          </a:ln>
        </p:spPr>
        <p:txBody>
          <a:bodyPr/>
          <a:lstStyle/>
          <a:p>
            <a:endParaRPr lang="en-US"/>
          </a:p>
        </p:txBody>
      </p:sp>
      <p:sp>
        <p:nvSpPr>
          <p:cNvPr id="30" name="Text 28"/>
          <p:cNvSpPr/>
          <p:nvPr/>
        </p:nvSpPr>
        <p:spPr>
          <a:xfrm>
            <a:off x="8229600" y="5367528"/>
            <a:ext cx="1938528" cy="146304"/>
          </a:xfrm>
          <a:prstGeom prst="rect">
            <a:avLst/>
          </a:prstGeom>
          <a:noFill/>
          <a:ln/>
        </p:spPr>
        <p:txBody>
          <a:bodyPr wrap="square" lIns="0" tIns="0" rIns="0" bIns="0" rtlCol="0" anchor="ctr"/>
          <a:lstStyle/>
          <a:p>
            <a:pPr marL="0" indent="0" algn="ctr">
              <a:buNone/>
            </a:pPr>
            <a:r>
              <a:rPr lang="en-US" sz="850" b="1" dirty="0">
                <a:solidFill>
                  <a:srgbClr val="22313B"/>
                </a:solidFill>
                <a:latin typeface="Helvetica Neue" pitchFamily="34" charset="0"/>
                <a:ea typeface="Helvetica Neue" pitchFamily="34" charset="-122"/>
                <a:cs typeface="Helvetica Neue" pitchFamily="34" charset="-120"/>
              </a:rPr>
              <a:t>Simpler operational fit</a:t>
            </a:r>
            <a:endParaRPr lang="en-US" sz="850" dirty="0"/>
          </a:p>
        </p:txBody>
      </p:sp>
      <p:sp>
        <p:nvSpPr>
          <p:cNvPr id="31" name="Shape 29"/>
          <p:cNvSpPr/>
          <p:nvPr/>
        </p:nvSpPr>
        <p:spPr>
          <a:xfrm>
            <a:off x="8814816" y="530352"/>
            <a:ext cx="1005840" cy="365760"/>
          </a:xfrm>
          <a:prstGeom prst="roundRect">
            <a:avLst>
              <a:gd name="adj" fmla="val 15000"/>
            </a:avLst>
          </a:prstGeom>
          <a:solidFill>
            <a:srgbClr val="F2E9DE"/>
          </a:solidFill>
          <a:ln w="12700">
            <a:solidFill>
              <a:srgbClr val="D9CCBC"/>
            </a:solidFill>
            <a:prstDash val="solid"/>
          </a:ln>
        </p:spPr>
        <p:txBody>
          <a:bodyPr/>
          <a:lstStyle/>
          <a:p>
            <a:endParaRPr lang="en-US"/>
          </a:p>
        </p:txBody>
      </p:sp>
      <p:sp>
        <p:nvSpPr>
          <p:cNvPr id="32" name="Text 30"/>
          <p:cNvSpPr/>
          <p:nvPr/>
        </p:nvSpPr>
        <p:spPr>
          <a:xfrm>
            <a:off x="8814816" y="603504"/>
            <a:ext cx="1005840" cy="219456"/>
          </a:xfrm>
          <a:prstGeom prst="rect">
            <a:avLst/>
          </a:prstGeom>
          <a:noFill/>
          <a:ln/>
        </p:spPr>
        <p:txBody>
          <a:bodyPr wrap="square" lIns="0" tIns="0" rIns="0" bIns="0" rtlCol="0" anchor="ctr"/>
          <a:lstStyle/>
          <a:p>
            <a:pPr marL="0" indent="0" algn="ctr">
              <a:buNone/>
            </a:pPr>
            <a:r>
              <a:rPr lang="en-US" sz="1050" dirty="0">
                <a:solidFill>
                  <a:srgbClr val="53626C"/>
                </a:solidFill>
                <a:latin typeface="Helvetica Neue" pitchFamily="34" charset="0"/>
                <a:ea typeface="Helvetica Neue" pitchFamily="34" charset="-122"/>
                <a:cs typeface="Helvetica Neue" pitchFamily="34" charset="-120"/>
              </a:rPr>
              <a:t>Slide 11</a:t>
            </a:r>
            <a:endParaRPr lang="en-US" sz="1050" dirty="0"/>
          </a:p>
        </p:txBody>
      </p:sp>
      <p:sp>
        <p:nvSpPr>
          <p:cNvPr id="33" name="Shape 31"/>
          <p:cNvSpPr/>
          <p:nvPr/>
        </p:nvSpPr>
        <p:spPr>
          <a:xfrm>
            <a:off x="9948672" y="530352"/>
            <a:ext cx="1335024" cy="365760"/>
          </a:xfrm>
          <a:prstGeom prst="roundRect">
            <a:avLst>
              <a:gd name="adj" fmla="val 15000"/>
            </a:avLst>
          </a:prstGeom>
          <a:solidFill>
            <a:srgbClr val="F2E9DE"/>
          </a:solidFill>
          <a:ln w="12700">
            <a:solidFill>
              <a:srgbClr val="D9CCBC"/>
            </a:solidFill>
            <a:prstDash val="solid"/>
          </a:ln>
        </p:spPr>
        <p:txBody>
          <a:bodyPr/>
          <a:lstStyle/>
          <a:p>
            <a:endParaRPr lang="en-US"/>
          </a:p>
        </p:txBody>
      </p:sp>
      <p:sp>
        <p:nvSpPr>
          <p:cNvPr id="34" name="Text 32"/>
          <p:cNvSpPr/>
          <p:nvPr/>
        </p:nvSpPr>
        <p:spPr>
          <a:xfrm>
            <a:off x="9948672" y="603504"/>
            <a:ext cx="1335024" cy="219456"/>
          </a:xfrm>
          <a:prstGeom prst="rect">
            <a:avLst/>
          </a:prstGeom>
          <a:noFill/>
          <a:ln/>
        </p:spPr>
        <p:txBody>
          <a:bodyPr wrap="square" lIns="0" tIns="0" rIns="0" bIns="0" rtlCol="0" anchor="ctr"/>
          <a:lstStyle/>
          <a:p>
            <a:pPr marL="0" indent="0" algn="ctr">
              <a:buNone/>
            </a:pPr>
            <a:r>
              <a:rPr lang="en-US" sz="1050" dirty="0">
                <a:solidFill>
                  <a:srgbClr val="53626C"/>
                </a:solidFill>
                <a:latin typeface="Helvetica Neue" pitchFamily="34" charset="0"/>
                <a:ea typeface="Helvetica Neue" pitchFamily="34" charset="-122"/>
                <a:cs typeface="Helvetica Neue" pitchFamily="34" charset="-120"/>
              </a:rPr>
              <a:t>Decision</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1E8"/>
        </a:solidFill>
        <a:effectLst/>
      </p:bgPr>
    </p:bg>
    <p:spTree>
      <p:nvGrpSpPr>
        <p:cNvPr id="1" name=""/>
        <p:cNvGrpSpPr/>
        <p:nvPr/>
      </p:nvGrpSpPr>
      <p:grpSpPr>
        <a:xfrm>
          <a:off x="0" y="0"/>
          <a:ext cx="0" cy="0"/>
          <a:chOff x="0" y="0"/>
          <a:chExt cx="0" cy="0"/>
        </a:xfrm>
      </p:grpSpPr>
      <p:sp>
        <p:nvSpPr>
          <p:cNvPr id="2" name="Text 0"/>
          <p:cNvSpPr/>
          <p:nvPr/>
        </p:nvSpPr>
        <p:spPr>
          <a:xfrm>
            <a:off x="868680" y="502920"/>
            <a:ext cx="3017520" cy="133350"/>
          </a:xfrm>
          <a:prstGeom prst="rect">
            <a:avLst/>
          </a:prstGeom>
          <a:noFill/>
          <a:ln/>
        </p:spPr>
        <p:txBody>
          <a:bodyPr wrap="square" lIns="0" tIns="0" rIns="0" bIns="0" rtlCol="0" anchor="ctr"/>
          <a:lstStyle/>
          <a:p>
            <a:pPr marL="0" indent="0">
              <a:buNone/>
            </a:pPr>
            <a:r>
              <a:rPr lang="en-US" sz="1050" b="1" dirty="0">
                <a:solidFill>
                  <a:srgbClr val="B8874F"/>
                </a:solidFill>
                <a:latin typeface="Helvetica Neue" pitchFamily="34" charset="0"/>
                <a:ea typeface="Helvetica Neue" pitchFamily="34" charset="-122"/>
                <a:cs typeface="Helvetica Neue" pitchFamily="34" charset="-120"/>
              </a:rPr>
              <a:t>FUTURE ARCHITECTURE</a:t>
            </a:r>
            <a:endParaRPr lang="en-US" sz="1050" dirty="0"/>
          </a:p>
        </p:txBody>
      </p:sp>
      <p:sp>
        <p:nvSpPr>
          <p:cNvPr id="3" name="Shape 1"/>
          <p:cNvSpPr/>
          <p:nvPr/>
        </p:nvSpPr>
        <p:spPr>
          <a:xfrm>
            <a:off x="868680" y="822960"/>
            <a:ext cx="1024128" cy="0"/>
          </a:xfrm>
          <a:prstGeom prst="line">
            <a:avLst/>
          </a:prstGeom>
          <a:noFill/>
          <a:ln w="12700">
            <a:solidFill>
              <a:srgbClr val="B8874F"/>
            </a:solidFill>
            <a:prstDash val="solid"/>
          </a:ln>
        </p:spPr>
        <p:txBody>
          <a:bodyPr/>
          <a:lstStyle/>
          <a:p>
            <a:endParaRPr lang="en-US"/>
          </a:p>
        </p:txBody>
      </p:sp>
      <p:sp>
        <p:nvSpPr>
          <p:cNvPr id="4" name="Text 2"/>
          <p:cNvSpPr/>
          <p:nvPr/>
        </p:nvSpPr>
        <p:spPr>
          <a:xfrm>
            <a:off x="868680" y="1024128"/>
            <a:ext cx="5852160" cy="731520"/>
          </a:xfrm>
          <a:prstGeom prst="rect">
            <a:avLst/>
          </a:prstGeom>
          <a:noFill/>
          <a:ln/>
        </p:spPr>
        <p:txBody>
          <a:bodyPr wrap="square" lIns="0" tIns="0" rIns="0" bIns="0" rtlCol="0" anchor="ctr">
            <a:normAutofit/>
          </a:bodyPr>
          <a:lstStyle/>
          <a:p>
            <a:pPr marL="0" indent="0">
              <a:buNone/>
            </a:pPr>
            <a:r>
              <a:rPr lang="en-US" sz="2446" b="1" dirty="0">
                <a:solidFill>
                  <a:srgbClr val="22313B"/>
                </a:solidFill>
                <a:latin typeface="Georgia" pitchFamily="34" charset="0"/>
                <a:ea typeface="Georgia" pitchFamily="34" charset="-122"/>
                <a:cs typeface="Georgia" pitchFamily="34" charset="-120"/>
              </a:rPr>
              <a:t>Future architecture</a:t>
            </a:r>
            <a:endParaRPr lang="en-US" sz="2446" dirty="0"/>
          </a:p>
        </p:txBody>
      </p:sp>
      <p:sp>
        <p:nvSpPr>
          <p:cNvPr id="5" name="Text 3"/>
          <p:cNvSpPr/>
          <p:nvPr/>
        </p:nvSpPr>
        <p:spPr>
          <a:xfrm>
            <a:off x="868680" y="1792224"/>
            <a:ext cx="6309360" cy="329184"/>
          </a:xfrm>
          <a:prstGeom prst="rect">
            <a:avLst/>
          </a:prstGeom>
          <a:noFill/>
          <a:ln/>
        </p:spPr>
        <p:txBody>
          <a:bodyPr wrap="square" lIns="0" tIns="0" rIns="0" bIns="0" rtlCol="0" anchor="ctr"/>
          <a:lstStyle/>
          <a:p>
            <a:pPr marL="0" indent="0">
              <a:buNone/>
            </a:pPr>
            <a:r>
              <a:rPr lang="en-US" sz="1420" dirty="0">
                <a:solidFill>
                  <a:srgbClr val="53626C"/>
                </a:solidFill>
                <a:latin typeface="Helvetica Neue" pitchFamily="34" charset="0"/>
                <a:ea typeface="Helvetica Neue" pitchFamily="34" charset="-122"/>
                <a:cs typeface="Helvetica Neue" pitchFamily="34" charset="-120"/>
              </a:rPr>
              <a:t>Let storage append. Let metadata handle order.</a:t>
            </a:r>
            <a:endParaRPr lang="en-US" sz="1420" dirty="0"/>
          </a:p>
        </p:txBody>
      </p:sp>
      <p:sp>
        <p:nvSpPr>
          <p:cNvPr id="6" name="Shape 4"/>
          <p:cNvSpPr/>
          <p:nvPr/>
        </p:nvSpPr>
        <p:spPr>
          <a:xfrm>
            <a:off x="868680" y="2212848"/>
            <a:ext cx="10424160" cy="3822192"/>
          </a:xfrm>
          <a:prstGeom prst="roundRect">
            <a:avLst>
              <a:gd name="adj" fmla="val 1914"/>
            </a:avLst>
          </a:prstGeom>
          <a:solidFill>
            <a:srgbClr val="FBF7F1"/>
          </a:solidFill>
          <a:ln w="12700">
            <a:solidFill>
              <a:srgbClr val="D9CCBC"/>
            </a:solidFill>
            <a:prstDash val="solid"/>
          </a:ln>
        </p:spPr>
        <p:txBody>
          <a:bodyPr/>
          <a:lstStyle/>
          <a:p>
            <a:endParaRPr lang="en-US"/>
          </a:p>
        </p:txBody>
      </p:sp>
      <p:sp>
        <p:nvSpPr>
          <p:cNvPr id="7" name="Shape 5"/>
          <p:cNvSpPr/>
          <p:nvPr/>
        </p:nvSpPr>
        <p:spPr>
          <a:xfrm>
            <a:off x="1115568" y="2596896"/>
            <a:ext cx="9930384" cy="1078992"/>
          </a:xfrm>
          <a:prstGeom prst="roundRect">
            <a:avLst>
              <a:gd name="adj" fmla="val 6780"/>
            </a:avLst>
          </a:prstGeom>
          <a:solidFill>
            <a:srgbClr val="FFFFFF"/>
          </a:solidFill>
          <a:ln w="12700">
            <a:solidFill>
              <a:srgbClr val="D9CCBC"/>
            </a:solidFill>
            <a:prstDash val="solid"/>
          </a:ln>
        </p:spPr>
        <p:txBody>
          <a:bodyPr/>
          <a:lstStyle/>
          <a:p>
            <a:endParaRPr lang="en-US"/>
          </a:p>
        </p:txBody>
      </p:sp>
      <p:sp>
        <p:nvSpPr>
          <p:cNvPr id="8" name="Shape 6"/>
          <p:cNvSpPr/>
          <p:nvPr/>
        </p:nvSpPr>
        <p:spPr>
          <a:xfrm>
            <a:off x="1353312" y="2770632"/>
            <a:ext cx="2651760" cy="438912"/>
          </a:xfrm>
          <a:prstGeom prst="roundRect">
            <a:avLst>
              <a:gd name="adj" fmla="val 16667"/>
            </a:avLst>
          </a:prstGeom>
          <a:solidFill>
            <a:srgbClr val="E6D6C4"/>
          </a:solidFill>
          <a:ln w="12700">
            <a:solidFill>
              <a:srgbClr val="E6D6C4">
                <a:alpha val="0"/>
              </a:srgbClr>
            </a:solidFill>
            <a:prstDash val="solid"/>
          </a:ln>
        </p:spPr>
        <p:txBody>
          <a:bodyPr/>
          <a:lstStyle/>
          <a:p>
            <a:endParaRPr lang="en-US"/>
          </a:p>
        </p:txBody>
      </p:sp>
      <p:sp>
        <p:nvSpPr>
          <p:cNvPr id="9" name="Text 7"/>
          <p:cNvSpPr/>
          <p:nvPr/>
        </p:nvSpPr>
        <p:spPr>
          <a:xfrm>
            <a:off x="1353312" y="2880360"/>
            <a:ext cx="2651760" cy="219456"/>
          </a:xfrm>
          <a:prstGeom prst="rect">
            <a:avLst/>
          </a:prstGeom>
          <a:noFill/>
          <a:ln/>
        </p:spPr>
        <p:txBody>
          <a:bodyPr wrap="square" lIns="0" tIns="0" rIns="0" bIns="0" rtlCol="0" anchor="ctr"/>
          <a:lstStyle/>
          <a:p>
            <a:pPr marL="0" indent="0" algn="ctr">
              <a:buNone/>
            </a:pPr>
            <a:r>
              <a:rPr lang="en-US" sz="1250" b="1" dirty="0">
                <a:solidFill>
                  <a:srgbClr val="22313B"/>
                </a:solidFill>
                <a:latin typeface="Helvetica Neue" pitchFamily="34" charset="0"/>
                <a:ea typeface="Helvetica Neue" pitchFamily="34" charset="-122"/>
                <a:cs typeface="Helvetica Neue" pitchFamily="34" charset="-120"/>
              </a:rPr>
              <a:t>Sorted manifest / index layer</a:t>
            </a:r>
            <a:endParaRPr lang="en-US" sz="1250" dirty="0"/>
          </a:p>
        </p:txBody>
      </p:sp>
      <p:sp>
        <p:nvSpPr>
          <p:cNvPr id="10" name="Shape 8"/>
          <p:cNvSpPr/>
          <p:nvPr/>
        </p:nvSpPr>
        <p:spPr>
          <a:xfrm>
            <a:off x="4773168" y="2825496"/>
            <a:ext cx="1225296" cy="256032"/>
          </a:xfrm>
          <a:prstGeom prst="roundRect">
            <a:avLst>
              <a:gd name="adj" fmla="val 17857"/>
            </a:avLst>
          </a:prstGeom>
          <a:solidFill>
            <a:srgbClr val="F2E9DE"/>
          </a:solidFill>
          <a:ln w="12700">
            <a:solidFill>
              <a:srgbClr val="D9CCBC"/>
            </a:solidFill>
            <a:prstDash val="solid"/>
          </a:ln>
        </p:spPr>
        <p:txBody>
          <a:bodyPr/>
          <a:lstStyle/>
          <a:p>
            <a:endParaRPr lang="en-US"/>
          </a:p>
        </p:txBody>
      </p:sp>
      <p:sp>
        <p:nvSpPr>
          <p:cNvPr id="11" name="Text 9"/>
          <p:cNvSpPr/>
          <p:nvPr/>
        </p:nvSpPr>
        <p:spPr>
          <a:xfrm>
            <a:off x="4773168" y="2873045"/>
            <a:ext cx="1225296" cy="146304"/>
          </a:xfrm>
          <a:prstGeom prst="rect">
            <a:avLst/>
          </a:prstGeom>
          <a:noFill/>
          <a:ln/>
        </p:spPr>
        <p:txBody>
          <a:bodyPr wrap="square" lIns="0" tIns="0" rIns="0" bIns="0" rtlCol="0" anchor="ctr"/>
          <a:lstStyle/>
          <a:p>
            <a:pPr marL="0" indent="0" algn="ctr">
              <a:buNone/>
            </a:pPr>
            <a:r>
              <a:rPr lang="en-US" sz="820" b="1" dirty="0">
                <a:solidFill>
                  <a:srgbClr val="22313B"/>
                </a:solidFill>
                <a:latin typeface="Helvetica Neue" pitchFamily="34" charset="0"/>
                <a:ea typeface="Helvetica Neue" pitchFamily="34" charset="-122"/>
                <a:cs typeface="Helvetica Neue" pitchFamily="34" charset="-120"/>
              </a:rPr>
              <a:t>stable IDs</a:t>
            </a:r>
            <a:endParaRPr lang="en-US" sz="820" dirty="0"/>
          </a:p>
        </p:txBody>
      </p:sp>
      <p:sp>
        <p:nvSpPr>
          <p:cNvPr id="12" name="Shape 10"/>
          <p:cNvSpPr/>
          <p:nvPr/>
        </p:nvSpPr>
        <p:spPr>
          <a:xfrm>
            <a:off x="6144768" y="2825496"/>
            <a:ext cx="1353312" cy="256032"/>
          </a:xfrm>
          <a:prstGeom prst="roundRect">
            <a:avLst>
              <a:gd name="adj" fmla="val 17857"/>
            </a:avLst>
          </a:prstGeom>
          <a:solidFill>
            <a:srgbClr val="F2E9DE"/>
          </a:solidFill>
          <a:ln w="12700">
            <a:solidFill>
              <a:srgbClr val="D9CCBC"/>
            </a:solidFill>
            <a:prstDash val="solid"/>
          </a:ln>
        </p:spPr>
        <p:txBody>
          <a:bodyPr/>
          <a:lstStyle/>
          <a:p>
            <a:endParaRPr lang="en-US"/>
          </a:p>
        </p:txBody>
      </p:sp>
      <p:sp>
        <p:nvSpPr>
          <p:cNvPr id="13" name="Text 11"/>
          <p:cNvSpPr/>
          <p:nvPr/>
        </p:nvSpPr>
        <p:spPr>
          <a:xfrm>
            <a:off x="6144768" y="2873045"/>
            <a:ext cx="1353312" cy="146304"/>
          </a:xfrm>
          <a:prstGeom prst="rect">
            <a:avLst/>
          </a:prstGeom>
          <a:noFill/>
          <a:ln/>
        </p:spPr>
        <p:txBody>
          <a:bodyPr wrap="square" lIns="0" tIns="0" rIns="0" bIns="0" rtlCol="0" anchor="ctr"/>
          <a:lstStyle/>
          <a:p>
            <a:pPr marL="0" indent="0" algn="ctr">
              <a:buNone/>
            </a:pPr>
            <a:r>
              <a:rPr lang="en-US" sz="820" b="1" dirty="0">
                <a:solidFill>
                  <a:srgbClr val="22313B"/>
                </a:solidFill>
                <a:latin typeface="Helvetica Neue" pitchFamily="34" charset="0"/>
                <a:ea typeface="Helvetica Neue" pitchFamily="34" charset="-122"/>
                <a:cs typeface="Helvetica Neue" pitchFamily="34" charset="-120"/>
              </a:rPr>
              <a:t>logical order</a:t>
            </a:r>
            <a:endParaRPr lang="en-US" sz="820" dirty="0"/>
          </a:p>
        </p:txBody>
      </p:sp>
      <p:sp>
        <p:nvSpPr>
          <p:cNvPr id="14" name="Shape 12"/>
          <p:cNvSpPr/>
          <p:nvPr/>
        </p:nvSpPr>
        <p:spPr>
          <a:xfrm>
            <a:off x="7644384" y="2825496"/>
            <a:ext cx="1261872" cy="256032"/>
          </a:xfrm>
          <a:prstGeom prst="roundRect">
            <a:avLst>
              <a:gd name="adj" fmla="val 17857"/>
            </a:avLst>
          </a:prstGeom>
          <a:solidFill>
            <a:srgbClr val="F2E9DE"/>
          </a:solidFill>
          <a:ln w="12700">
            <a:solidFill>
              <a:srgbClr val="D9CCBC"/>
            </a:solidFill>
            <a:prstDash val="solid"/>
          </a:ln>
        </p:spPr>
        <p:txBody>
          <a:bodyPr/>
          <a:lstStyle/>
          <a:p>
            <a:endParaRPr lang="en-US"/>
          </a:p>
        </p:txBody>
      </p:sp>
      <p:sp>
        <p:nvSpPr>
          <p:cNvPr id="15" name="Text 13"/>
          <p:cNvSpPr/>
          <p:nvPr/>
        </p:nvSpPr>
        <p:spPr>
          <a:xfrm>
            <a:off x="7644384" y="2873045"/>
            <a:ext cx="1261872" cy="146304"/>
          </a:xfrm>
          <a:prstGeom prst="rect">
            <a:avLst/>
          </a:prstGeom>
          <a:noFill/>
          <a:ln/>
        </p:spPr>
        <p:txBody>
          <a:bodyPr wrap="square" lIns="0" tIns="0" rIns="0" bIns="0" rtlCol="0" anchor="ctr"/>
          <a:lstStyle/>
          <a:p>
            <a:pPr marL="0" indent="0" algn="ctr">
              <a:buNone/>
            </a:pPr>
            <a:r>
              <a:rPr lang="en-US" sz="820" b="1" dirty="0">
                <a:solidFill>
                  <a:srgbClr val="22313B"/>
                </a:solidFill>
                <a:latin typeface="Helvetica Neue" pitchFamily="34" charset="0"/>
                <a:ea typeface="Helvetica Neue" pitchFamily="34" charset="-122"/>
                <a:cs typeface="Helvetica Neue" pitchFamily="34" charset="-120"/>
              </a:rPr>
              <a:t>merge state</a:t>
            </a:r>
            <a:endParaRPr lang="en-US" sz="820" dirty="0"/>
          </a:p>
        </p:txBody>
      </p:sp>
      <p:sp>
        <p:nvSpPr>
          <p:cNvPr id="16" name="Shape 14"/>
          <p:cNvSpPr/>
          <p:nvPr/>
        </p:nvSpPr>
        <p:spPr>
          <a:xfrm>
            <a:off x="9052560" y="2825496"/>
            <a:ext cx="1389888" cy="256032"/>
          </a:xfrm>
          <a:prstGeom prst="roundRect">
            <a:avLst>
              <a:gd name="adj" fmla="val 17857"/>
            </a:avLst>
          </a:prstGeom>
          <a:solidFill>
            <a:srgbClr val="F2E9DE"/>
          </a:solidFill>
          <a:ln w="12700">
            <a:solidFill>
              <a:srgbClr val="D9CCBC"/>
            </a:solidFill>
            <a:prstDash val="solid"/>
          </a:ln>
        </p:spPr>
        <p:txBody>
          <a:bodyPr/>
          <a:lstStyle/>
          <a:p>
            <a:endParaRPr lang="en-US"/>
          </a:p>
        </p:txBody>
      </p:sp>
      <p:sp>
        <p:nvSpPr>
          <p:cNvPr id="17" name="Text 15"/>
          <p:cNvSpPr/>
          <p:nvPr/>
        </p:nvSpPr>
        <p:spPr>
          <a:xfrm>
            <a:off x="9052560" y="2873045"/>
            <a:ext cx="1389888" cy="146304"/>
          </a:xfrm>
          <a:prstGeom prst="rect">
            <a:avLst/>
          </a:prstGeom>
          <a:noFill/>
          <a:ln/>
        </p:spPr>
        <p:txBody>
          <a:bodyPr wrap="square" lIns="0" tIns="0" rIns="0" bIns="0" rtlCol="0" anchor="ctr"/>
          <a:lstStyle/>
          <a:p>
            <a:pPr marL="0" indent="0" algn="ctr">
              <a:buNone/>
            </a:pPr>
            <a:r>
              <a:rPr lang="en-US" sz="820" b="1" dirty="0">
                <a:solidFill>
                  <a:srgbClr val="22313B"/>
                </a:solidFill>
                <a:latin typeface="Helvetica Neue" pitchFamily="34" charset="0"/>
                <a:ea typeface="Helvetica Neue" pitchFamily="34" charset="-122"/>
                <a:cs typeface="Helvetica Neue" pitchFamily="34" charset="-120"/>
              </a:rPr>
              <a:t>batch tracking</a:t>
            </a:r>
            <a:endParaRPr lang="en-US" sz="820" dirty="0"/>
          </a:p>
        </p:txBody>
      </p:sp>
      <p:sp>
        <p:nvSpPr>
          <p:cNvPr id="18" name="Text 16"/>
          <p:cNvSpPr/>
          <p:nvPr/>
        </p:nvSpPr>
        <p:spPr>
          <a:xfrm>
            <a:off x="4846320" y="3218688"/>
            <a:ext cx="5321808" cy="164592"/>
          </a:xfrm>
          <a:prstGeom prst="rect">
            <a:avLst/>
          </a:prstGeom>
          <a:noFill/>
          <a:ln/>
        </p:spPr>
        <p:txBody>
          <a:bodyPr wrap="square" lIns="0" tIns="0" rIns="0" bIns="0" rtlCol="0" anchor="ctr"/>
          <a:lstStyle/>
          <a:p>
            <a:pPr marL="0" indent="0">
              <a:buNone/>
            </a:pPr>
            <a:r>
              <a:rPr lang="en-US" sz="940" dirty="0">
                <a:solidFill>
                  <a:srgbClr val="53626C"/>
                </a:solidFill>
                <a:latin typeface="Helvetica Neue" pitchFamily="34" charset="0"/>
                <a:ea typeface="Helvetica Neue" pitchFamily="34" charset="-122"/>
                <a:cs typeface="Helvetica Neue" pitchFamily="34" charset="-120"/>
              </a:rPr>
              <a:t>This layer owns the logical view users work with.</a:t>
            </a:r>
            <a:endParaRPr lang="en-US" sz="940" dirty="0"/>
          </a:p>
        </p:txBody>
      </p:sp>
      <p:sp>
        <p:nvSpPr>
          <p:cNvPr id="19" name="Shape 17"/>
          <p:cNvSpPr/>
          <p:nvPr/>
        </p:nvSpPr>
        <p:spPr>
          <a:xfrm>
            <a:off x="5980176" y="3712464"/>
            <a:ext cx="0" cy="420624"/>
          </a:xfrm>
          <a:prstGeom prst="line">
            <a:avLst/>
          </a:prstGeom>
          <a:noFill/>
          <a:ln w="12700">
            <a:solidFill>
              <a:srgbClr val="B8874F"/>
            </a:solidFill>
            <a:prstDash val="solid"/>
            <a:headEnd type="none"/>
            <a:tailEnd type="triangle"/>
          </a:ln>
        </p:spPr>
        <p:txBody>
          <a:bodyPr/>
          <a:lstStyle/>
          <a:p>
            <a:endParaRPr lang="en-US"/>
          </a:p>
        </p:txBody>
      </p:sp>
      <p:sp>
        <p:nvSpPr>
          <p:cNvPr id="20" name="Shape 18"/>
          <p:cNvSpPr/>
          <p:nvPr/>
        </p:nvSpPr>
        <p:spPr>
          <a:xfrm>
            <a:off x="1115568" y="4224528"/>
            <a:ext cx="9930384" cy="1225296"/>
          </a:xfrm>
          <a:prstGeom prst="roundRect">
            <a:avLst>
              <a:gd name="adj" fmla="val 5970"/>
            </a:avLst>
          </a:prstGeom>
          <a:solidFill>
            <a:srgbClr val="D7E3EB"/>
          </a:solidFill>
          <a:ln w="12700">
            <a:solidFill>
              <a:srgbClr val="D9CCBC"/>
            </a:solidFill>
            <a:prstDash val="solid"/>
          </a:ln>
        </p:spPr>
        <p:txBody>
          <a:bodyPr/>
          <a:lstStyle/>
          <a:p>
            <a:endParaRPr lang="en-US"/>
          </a:p>
        </p:txBody>
      </p:sp>
      <p:sp>
        <p:nvSpPr>
          <p:cNvPr id="21" name="Shape 19"/>
          <p:cNvSpPr/>
          <p:nvPr/>
        </p:nvSpPr>
        <p:spPr>
          <a:xfrm>
            <a:off x="1353312" y="4407408"/>
            <a:ext cx="2340864" cy="438912"/>
          </a:xfrm>
          <a:prstGeom prst="roundRect">
            <a:avLst>
              <a:gd name="adj" fmla="val 16667"/>
            </a:avLst>
          </a:prstGeom>
          <a:solidFill>
            <a:srgbClr val="B9CAD7"/>
          </a:solidFill>
          <a:ln w="12700">
            <a:solidFill>
              <a:srgbClr val="B9CAD7">
                <a:alpha val="0"/>
              </a:srgbClr>
            </a:solidFill>
            <a:prstDash val="solid"/>
          </a:ln>
        </p:spPr>
        <p:txBody>
          <a:bodyPr/>
          <a:lstStyle/>
          <a:p>
            <a:endParaRPr lang="en-US"/>
          </a:p>
        </p:txBody>
      </p:sp>
      <p:sp>
        <p:nvSpPr>
          <p:cNvPr id="22" name="Text 20"/>
          <p:cNvSpPr/>
          <p:nvPr/>
        </p:nvSpPr>
        <p:spPr>
          <a:xfrm>
            <a:off x="1353312" y="4517136"/>
            <a:ext cx="2340864" cy="219456"/>
          </a:xfrm>
          <a:prstGeom prst="rect">
            <a:avLst/>
          </a:prstGeom>
          <a:noFill/>
          <a:ln/>
        </p:spPr>
        <p:txBody>
          <a:bodyPr wrap="square" lIns="0" tIns="0" rIns="0" bIns="0" rtlCol="0" anchor="ctr"/>
          <a:lstStyle/>
          <a:p>
            <a:pPr marL="0" indent="0" algn="ctr">
              <a:buNone/>
            </a:pPr>
            <a:r>
              <a:rPr lang="en-US" sz="1250" b="1" dirty="0">
                <a:solidFill>
                  <a:srgbClr val="22313B"/>
                </a:solidFill>
                <a:latin typeface="Helvetica Neue" pitchFamily="34" charset="0"/>
                <a:ea typeface="Helvetica Neue" pitchFamily="34" charset="-122"/>
                <a:cs typeface="Helvetica Neue" pitchFamily="34" charset="-120"/>
              </a:rPr>
              <a:t>Append-only Zarr stores</a:t>
            </a:r>
            <a:endParaRPr lang="en-US" sz="1250" dirty="0"/>
          </a:p>
        </p:txBody>
      </p:sp>
      <p:sp>
        <p:nvSpPr>
          <p:cNvPr id="23" name="Shape 21"/>
          <p:cNvSpPr/>
          <p:nvPr/>
        </p:nvSpPr>
        <p:spPr>
          <a:xfrm>
            <a:off x="4590288" y="4471416"/>
            <a:ext cx="1316736" cy="256032"/>
          </a:xfrm>
          <a:prstGeom prst="roundRect">
            <a:avLst>
              <a:gd name="adj" fmla="val 17857"/>
            </a:avLst>
          </a:prstGeom>
          <a:solidFill>
            <a:srgbClr val="F2E9DE"/>
          </a:solidFill>
          <a:ln w="12700">
            <a:solidFill>
              <a:srgbClr val="D9CCBC"/>
            </a:solidFill>
            <a:prstDash val="solid"/>
          </a:ln>
        </p:spPr>
        <p:txBody>
          <a:bodyPr/>
          <a:lstStyle/>
          <a:p>
            <a:endParaRPr lang="en-US"/>
          </a:p>
        </p:txBody>
      </p:sp>
      <p:sp>
        <p:nvSpPr>
          <p:cNvPr id="24" name="Text 22"/>
          <p:cNvSpPr/>
          <p:nvPr/>
        </p:nvSpPr>
        <p:spPr>
          <a:xfrm>
            <a:off x="4590288" y="4518965"/>
            <a:ext cx="1316736" cy="146304"/>
          </a:xfrm>
          <a:prstGeom prst="rect">
            <a:avLst/>
          </a:prstGeom>
          <a:noFill/>
          <a:ln/>
        </p:spPr>
        <p:txBody>
          <a:bodyPr wrap="square" lIns="0" tIns="0" rIns="0" bIns="0" rtlCol="0" anchor="ctr"/>
          <a:lstStyle/>
          <a:p>
            <a:pPr marL="0" indent="0" algn="ctr">
              <a:buNone/>
            </a:pPr>
            <a:r>
              <a:rPr lang="en-US" sz="820" b="1" dirty="0">
                <a:solidFill>
                  <a:srgbClr val="22313B"/>
                </a:solidFill>
                <a:latin typeface="Helvetica Neue" pitchFamily="34" charset="0"/>
                <a:ea typeface="Helvetica Neue" pitchFamily="34" charset="-122"/>
                <a:cs typeface="Helvetica Neue" pitchFamily="34" charset="-120"/>
              </a:rPr>
              <a:t>raw uploads</a:t>
            </a:r>
            <a:endParaRPr lang="en-US" sz="820" dirty="0"/>
          </a:p>
        </p:txBody>
      </p:sp>
      <p:sp>
        <p:nvSpPr>
          <p:cNvPr id="25" name="Shape 23"/>
          <p:cNvSpPr/>
          <p:nvPr/>
        </p:nvSpPr>
        <p:spPr>
          <a:xfrm>
            <a:off x="6071616" y="4471416"/>
            <a:ext cx="1481328" cy="256032"/>
          </a:xfrm>
          <a:prstGeom prst="roundRect">
            <a:avLst>
              <a:gd name="adj" fmla="val 17857"/>
            </a:avLst>
          </a:prstGeom>
          <a:solidFill>
            <a:srgbClr val="E6D6C4"/>
          </a:solidFill>
          <a:ln w="12700">
            <a:solidFill>
              <a:srgbClr val="D9CCBC"/>
            </a:solidFill>
            <a:prstDash val="solid"/>
          </a:ln>
        </p:spPr>
        <p:txBody>
          <a:bodyPr/>
          <a:lstStyle/>
          <a:p>
            <a:endParaRPr lang="en-US"/>
          </a:p>
        </p:txBody>
      </p:sp>
      <p:sp>
        <p:nvSpPr>
          <p:cNvPr id="26" name="Text 24"/>
          <p:cNvSpPr/>
          <p:nvPr/>
        </p:nvSpPr>
        <p:spPr>
          <a:xfrm>
            <a:off x="6071616" y="4518965"/>
            <a:ext cx="1481328" cy="146304"/>
          </a:xfrm>
          <a:prstGeom prst="rect">
            <a:avLst/>
          </a:prstGeom>
          <a:noFill/>
          <a:ln/>
        </p:spPr>
        <p:txBody>
          <a:bodyPr wrap="square" lIns="0" tIns="0" rIns="0" bIns="0" rtlCol="0" anchor="ctr"/>
          <a:lstStyle/>
          <a:p>
            <a:pPr marL="0" indent="0" algn="ctr">
              <a:buNone/>
            </a:pPr>
            <a:r>
              <a:rPr lang="en-US" sz="820" b="1" dirty="0">
                <a:solidFill>
                  <a:srgbClr val="22313B"/>
                </a:solidFill>
                <a:latin typeface="Helvetica Neue" pitchFamily="34" charset="0"/>
                <a:ea typeface="Helvetica Neue" pitchFamily="34" charset="-122"/>
                <a:cs typeface="Helvetica Neue" pitchFamily="34" charset="-120"/>
              </a:rPr>
              <a:t>generated data</a:t>
            </a:r>
            <a:endParaRPr lang="en-US" sz="820" dirty="0"/>
          </a:p>
        </p:txBody>
      </p:sp>
      <p:sp>
        <p:nvSpPr>
          <p:cNvPr id="27" name="Shape 25"/>
          <p:cNvSpPr/>
          <p:nvPr/>
        </p:nvSpPr>
        <p:spPr>
          <a:xfrm>
            <a:off x="7717536" y="4471416"/>
            <a:ext cx="1408176" cy="256032"/>
          </a:xfrm>
          <a:prstGeom prst="roundRect">
            <a:avLst>
              <a:gd name="adj" fmla="val 17857"/>
            </a:avLst>
          </a:prstGeom>
          <a:solidFill>
            <a:srgbClr val="F2E9DE"/>
          </a:solidFill>
          <a:ln w="12700">
            <a:solidFill>
              <a:srgbClr val="D9CCBC"/>
            </a:solidFill>
            <a:prstDash val="solid"/>
          </a:ln>
        </p:spPr>
        <p:txBody>
          <a:bodyPr/>
          <a:lstStyle/>
          <a:p>
            <a:endParaRPr lang="en-US"/>
          </a:p>
        </p:txBody>
      </p:sp>
      <p:sp>
        <p:nvSpPr>
          <p:cNvPr id="28" name="Text 26"/>
          <p:cNvSpPr/>
          <p:nvPr/>
        </p:nvSpPr>
        <p:spPr>
          <a:xfrm>
            <a:off x="7717536" y="4518965"/>
            <a:ext cx="1408176" cy="146304"/>
          </a:xfrm>
          <a:prstGeom prst="rect">
            <a:avLst/>
          </a:prstGeom>
          <a:noFill/>
          <a:ln/>
        </p:spPr>
        <p:txBody>
          <a:bodyPr wrap="square" lIns="0" tIns="0" rIns="0" bIns="0" rtlCol="0" anchor="ctr"/>
          <a:lstStyle/>
          <a:p>
            <a:pPr marL="0" indent="0" algn="ctr">
              <a:buNone/>
            </a:pPr>
            <a:r>
              <a:rPr lang="en-US" sz="820" b="1" dirty="0">
                <a:solidFill>
                  <a:srgbClr val="22313B"/>
                </a:solidFill>
                <a:latin typeface="Helvetica Neue" pitchFamily="34" charset="0"/>
                <a:ea typeface="Helvetica Neue" pitchFamily="34" charset="-122"/>
                <a:cs typeface="Helvetica Neue" pitchFamily="34" charset="-120"/>
              </a:rPr>
              <a:t>partial reruns</a:t>
            </a:r>
            <a:endParaRPr lang="en-US" sz="820" dirty="0"/>
          </a:p>
        </p:txBody>
      </p:sp>
      <p:sp>
        <p:nvSpPr>
          <p:cNvPr id="29" name="Shape 27"/>
          <p:cNvSpPr/>
          <p:nvPr/>
        </p:nvSpPr>
        <p:spPr>
          <a:xfrm>
            <a:off x="4498848" y="4855464"/>
            <a:ext cx="5431536" cy="274320"/>
          </a:xfrm>
          <a:prstGeom prst="roundRect">
            <a:avLst>
              <a:gd name="adj" fmla="val 20000"/>
            </a:avLst>
          </a:prstGeom>
          <a:solidFill>
            <a:srgbClr val="22313B"/>
          </a:solidFill>
          <a:ln w="12700">
            <a:solidFill>
              <a:srgbClr val="22313B"/>
            </a:solidFill>
            <a:prstDash val="solid"/>
          </a:ln>
        </p:spPr>
        <p:txBody>
          <a:bodyPr/>
          <a:lstStyle/>
          <a:p>
            <a:endParaRPr lang="en-US"/>
          </a:p>
        </p:txBody>
      </p:sp>
      <p:sp>
        <p:nvSpPr>
          <p:cNvPr id="30" name="Text 28"/>
          <p:cNvSpPr/>
          <p:nvPr/>
        </p:nvSpPr>
        <p:spPr>
          <a:xfrm>
            <a:off x="4736592" y="4928616"/>
            <a:ext cx="4956048" cy="128016"/>
          </a:xfrm>
          <a:prstGeom prst="rect">
            <a:avLst/>
          </a:prstGeom>
          <a:noFill/>
          <a:ln/>
        </p:spPr>
        <p:txBody>
          <a:bodyPr wrap="square" lIns="0" tIns="0" rIns="0" bIns="0" rtlCol="0" anchor="ctr"/>
          <a:lstStyle/>
          <a:p>
            <a:pPr marL="0" indent="0" algn="ctr">
              <a:buNone/>
            </a:pPr>
            <a:r>
              <a:rPr lang="en-US" sz="890" b="1" dirty="0">
                <a:solidFill>
                  <a:srgbClr val="FFFFFF"/>
                </a:solidFill>
                <a:latin typeface="Helvetica Neue" pitchFamily="34" charset="0"/>
                <a:ea typeface="Helvetica Neue" pitchFamily="34" charset="-122"/>
                <a:cs typeface="Helvetica Neue" pitchFamily="34" charset="-120"/>
              </a:rPr>
              <a:t>append freely, sort later</a:t>
            </a:r>
            <a:endParaRPr lang="en-US" sz="890" dirty="0"/>
          </a:p>
        </p:txBody>
      </p:sp>
      <p:sp>
        <p:nvSpPr>
          <p:cNvPr id="31" name="Text 29"/>
          <p:cNvSpPr/>
          <p:nvPr/>
        </p:nvSpPr>
        <p:spPr>
          <a:xfrm>
            <a:off x="1353312" y="4882896"/>
            <a:ext cx="2743200" cy="164592"/>
          </a:xfrm>
          <a:prstGeom prst="rect">
            <a:avLst/>
          </a:prstGeom>
          <a:noFill/>
          <a:ln/>
        </p:spPr>
        <p:txBody>
          <a:bodyPr wrap="square" lIns="0" tIns="0" rIns="0" bIns="0" rtlCol="0" anchor="ctr"/>
          <a:lstStyle/>
          <a:p>
            <a:pPr marL="0" indent="0">
              <a:buNone/>
            </a:pPr>
            <a:r>
              <a:rPr lang="en-US" sz="950" i="1" dirty="0">
                <a:solidFill>
                  <a:srgbClr val="53626C"/>
                </a:solidFill>
                <a:latin typeface="Helvetica Neue" pitchFamily="34" charset="0"/>
                <a:ea typeface="Helvetica Neue" pitchFamily="34" charset="-122"/>
                <a:cs typeface="Helvetica Neue" pitchFamily="34" charset="-120"/>
              </a:rPr>
              <a:t>Zarr stores do not need to be the sorting system.</a:t>
            </a:r>
            <a:endParaRPr lang="en-US" sz="950" dirty="0"/>
          </a:p>
        </p:txBody>
      </p:sp>
      <p:sp>
        <p:nvSpPr>
          <p:cNvPr id="32" name="Shape 30"/>
          <p:cNvSpPr/>
          <p:nvPr/>
        </p:nvSpPr>
        <p:spPr>
          <a:xfrm>
            <a:off x="1115568" y="5596128"/>
            <a:ext cx="9930384" cy="310896"/>
          </a:xfrm>
          <a:prstGeom prst="roundRect">
            <a:avLst>
              <a:gd name="adj" fmla="val 17647"/>
            </a:avLst>
          </a:prstGeom>
          <a:solidFill>
            <a:srgbClr val="F2E9DE"/>
          </a:solidFill>
          <a:ln w="12700">
            <a:solidFill>
              <a:srgbClr val="D9CCBC"/>
            </a:solidFill>
            <a:prstDash val="solid"/>
          </a:ln>
        </p:spPr>
        <p:txBody>
          <a:bodyPr/>
          <a:lstStyle/>
          <a:p>
            <a:endParaRPr lang="en-US"/>
          </a:p>
        </p:txBody>
      </p:sp>
      <p:sp>
        <p:nvSpPr>
          <p:cNvPr id="33" name="Text 31"/>
          <p:cNvSpPr/>
          <p:nvPr/>
        </p:nvSpPr>
        <p:spPr>
          <a:xfrm>
            <a:off x="1389888" y="5682996"/>
            <a:ext cx="9381744" cy="128016"/>
          </a:xfrm>
          <a:prstGeom prst="rect">
            <a:avLst/>
          </a:prstGeom>
          <a:noFill/>
          <a:ln/>
        </p:spPr>
        <p:txBody>
          <a:bodyPr wrap="square" lIns="0" tIns="0" rIns="0" bIns="0" rtlCol="0" anchor="ctr"/>
          <a:lstStyle/>
          <a:p>
            <a:pPr marL="0" indent="0" algn="ctr">
              <a:buNone/>
            </a:pPr>
            <a:r>
              <a:rPr lang="en-US" sz="1080" b="1" dirty="0">
                <a:solidFill>
                  <a:srgbClr val="22313B"/>
                </a:solidFill>
                <a:latin typeface="Helvetica Neue" pitchFamily="34" charset="0"/>
                <a:ea typeface="Helvetica Neue" pitchFamily="34" charset="-122"/>
                <a:cs typeface="Helvetica Neue" pitchFamily="34" charset="-120"/>
              </a:rPr>
              <a:t>Decouple logical order from physical storage order</a:t>
            </a:r>
            <a:endParaRPr lang="en-US" sz="1080" dirty="0"/>
          </a:p>
        </p:txBody>
      </p:sp>
      <p:sp>
        <p:nvSpPr>
          <p:cNvPr id="34" name="Shape 32"/>
          <p:cNvSpPr/>
          <p:nvPr/>
        </p:nvSpPr>
        <p:spPr>
          <a:xfrm>
            <a:off x="8814816" y="530352"/>
            <a:ext cx="1005840" cy="365760"/>
          </a:xfrm>
          <a:prstGeom prst="roundRect">
            <a:avLst>
              <a:gd name="adj" fmla="val 15000"/>
            </a:avLst>
          </a:prstGeom>
          <a:solidFill>
            <a:srgbClr val="F2E9DE"/>
          </a:solidFill>
          <a:ln w="12700">
            <a:solidFill>
              <a:srgbClr val="D9CCBC"/>
            </a:solidFill>
            <a:prstDash val="solid"/>
          </a:ln>
        </p:spPr>
        <p:txBody>
          <a:bodyPr/>
          <a:lstStyle/>
          <a:p>
            <a:endParaRPr lang="en-US"/>
          </a:p>
        </p:txBody>
      </p:sp>
      <p:sp>
        <p:nvSpPr>
          <p:cNvPr id="35" name="Text 33"/>
          <p:cNvSpPr/>
          <p:nvPr/>
        </p:nvSpPr>
        <p:spPr>
          <a:xfrm>
            <a:off x="8814816" y="603504"/>
            <a:ext cx="1005840" cy="219456"/>
          </a:xfrm>
          <a:prstGeom prst="rect">
            <a:avLst/>
          </a:prstGeom>
          <a:noFill/>
          <a:ln/>
        </p:spPr>
        <p:txBody>
          <a:bodyPr wrap="square" lIns="0" tIns="0" rIns="0" bIns="0" rtlCol="0" anchor="ctr"/>
          <a:lstStyle/>
          <a:p>
            <a:pPr marL="0" indent="0" algn="ctr">
              <a:buNone/>
            </a:pPr>
            <a:r>
              <a:rPr lang="en-US" sz="1050" dirty="0">
                <a:solidFill>
                  <a:srgbClr val="53626C"/>
                </a:solidFill>
                <a:latin typeface="Helvetica Neue" pitchFamily="34" charset="0"/>
                <a:ea typeface="Helvetica Neue" pitchFamily="34" charset="-122"/>
                <a:cs typeface="Helvetica Neue" pitchFamily="34" charset="-120"/>
              </a:rPr>
              <a:t>Slide 12</a:t>
            </a:r>
            <a:endParaRPr lang="en-US" sz="1050" dirty="0"/>
          </a:p>
        </p:txBody>
      </p:sp>
      <p:sp>
        <p:nvSpPr>
          <p:cNvPr id="36" name="Shape 34"/>
          <p:cNvSpPr/>
          <p:nvPr/>
        </p:nvSpPr>
        <p:spPr>
          <a:xfrm>
            <a:off x="9948672" y="530352"/>
            <a:ext cx="1335024" cy="365760"/>
          </a:xfrm>
          <a:prstGeom prst="roundRect">
            <a:avLst>
              <a:gd name="adj" fmla="val 15000"/>
            </a:avLst>
          </a:prstGeom>
          <a:solidFill>
            <a:srgbClr val="F2E9DE"/>
          </a:solidFill>
          <a:ln w="12700">
            <a:solidFill>
              <a:srgbClr val="D9CCBC"/>
            </a:solidFill>
            <a:prstDash val="solid"/>
          </a:ln>
        </p:spPr>
        <p:txBody>
          <a:bodyPr/>
          <a:lstStyle/>
          <a:p>
            <a:endParaRPr lang="en-US"/>
          </a:p>
        </p:txBody>
      </p:sp>
      <p:sp>
        <p:nvSpPr>
          <p:cNvPr id="37" name="Text 35"/>
          <p:cNvSpPr/>
          <p:nvPr/>
        </p:nvSpPr>
        <p:spPr>
          <a:xfrm>
            <a:off x="9948672" y="603504"/>
            <a:ext cx="1335024" cy="219456"/>
          </a:xfrm>
          <a:prstGeom prst="rect">
            <a:avLst/>
          </a:prstGeom>
          <a:noFill/>
          <a:ln/>
        </p:spPr>
        <p:txBody>
          <a:bodyPr wrap="square" lIns="0" tIns="0" rIns="0" bIns="0" rtlCol="0" anchor="ctr"/>
          <a:lstStyle/>
          <a:p>
            <a:pPr marL="0" indent="0" algn="ctr">
              <a:buNone/>
            </a:pPr>
            <a:r>
              <a:rPr lang="en-US" sz="1050" dirty="0">
                <a:solidFill>
                  <a:srgbClr val="53626C"/>
                </a:solidFill>
                <a:latin typeface="Helvetica Neue" pitchFamily="34" charset="0"/>
                <a:ea typeface="Helvetica Neue" pitchFamily="34" charset="-122"/>
                <a:cs typeface="Helvetica Neue" pitchFamily="34" charset="-120"/>
              </a:rPr>
              <a:t>Roadmap</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1E8"/>
        </a:solidFill>
        <a:effectLst/>
      </p:bgPr>
    </p:bg>
    <p:spTree>
      <p:nvGrpSpPr>
        <p:cNvPr id="1" name=""/>
        <p:cNvGrpSpPr/>
        <p:nvPr/>
      </p:nvGrpSpPr>
      <p:grpSpPr>
        <a:xfrm>
          <a:off x="0" y="0"/>
          <a:ext cx="0" cy="0"/>
          <a:chOff x="0" y="0"/>
          <a:chExt cx="0" cy="0"/>
        </a:xfrm>
      </p:grpSpPr>
      <p:sp>
        <p:nvSpPr>
          <p:cNvPr id="2" name="Text 0"/>
          <p:cNvSpPr/>
          <p:nvPr/>
        </p:nvSpPr>
        <p:spPr>
          <a:xfrm>
            <a:off x="868680" y="566928"/>
            <a:ext cx="1371600" cy="133350"/>
          </a:xfrm>
          <a:prstGeom prst="rect">
            <a:avLst/>
          </a:prstGeom>
          <a:noFill/>
          <a:ln/>
        </p:spPr>
        <p:txBody>
          <a:bodyPr wrap="square" lIns="0" tIns="0" rIns="0" bIns="0" rtlCol="0" anchor="ctr"/>
          <a:lstStyle/>
          <a:p>
            <a:pPr marL="0" indent="0">
              <a:buNone/>
            </a:pPr>
            <a:r>
              <a:rPr lang="en-US" sz="1050" b="1" dirty="0">
                <a:solidFill>
                  <a:srgbClr val="B8874F"/>
                </a:solidFill>
                <a:latin typeface="Helvetica Neue" pitchFamily="34" charset="0"/>
                <a:ea typeface="Helvetica Neue" pitchFamily="34" charset="-122"/>
                <a:cs typeface="Helvetica Neue" pitchFamily="34" charset="-120"/>
              </a:rPr>
              <a:t>CLOSE</a:t>
            </a:r>
            <a:endParaRPr lang="en-US" sz="1050" dirty="0"/>
          </a:p>
        </p:txBody>
      </p:sp>
      <p:sp>
        <p:nvSpPr>
          <p:cNvPr id="3" name="Shape 1"/>
          <p:cNvSpPr/>
          <p:nvPr/>
        </p:nvSpPr>
        <p:spPr>
          <a:xfrm>
            <a:off x="868680" y="886968"/>
            <a:ext cx="786384" cy="0"/>
          </a:xfrm>
          <a:prstGeom prst="line">
            <a:avLst/>
          </a:prstGeom>
          <a:noFill/>
          <a:ln w="12700">
            <a:solidFill>
              <a:srgbClr val="B8874F"/>
            </a:solidFill>
            <a:prstDash val="solid"/>
          </a:ln>
        </p:spPr>
        <p:txBody>
          <a:bodyPr/>
          <a:lstStyle/>
          <a:p>
            <a:endParaRPr lang="en-US"/>
          </a:p>
        </p:txBody>
      </p:sp>
      <p:sp>
        <p:nvSpPr>
          <p:cNvPr id="4" name="Text 2"/>
          <p:cNvSpPr/>
          <p:nvPr/>
        </p:nvSpPr>
        <p:spPr>
          <a:xfrm>
            <a:off x="868680" y="1078992"/>
            <a:ext cx="7498080" cy="768096"/>
          </a:xfrm>
          <a:prstGeom prst="rect">
            <a:avLst/>
          </a:prstGeom>
          <a:noFill/>
          <a:ln/>
        </p:spPr>
        <p:txBody>
          <a:bodyPr wrap="square" lIns="0" tIns="0" rIns="0" bIns="0" rtlCol="0" anchor="ctr">
            <a:normAutofit/>
          </a:bodyPr>
          <a:lstStyle/>
          <a:p>
            <a:pPr marL="0" indent="0">
              <a:buNone/>
            </a:pPr>
            <a:r>
              <a:rPr lang="en-US" sz="2446" b="1" dirty="0">
                <a:solidFill>
                  <a:srgbClr val="22313B"/>
                </a:solidFill>
                <a:latin typeface="Georgia" pitchFamily="34" charset="0"/>
                <a:ea typeface="Georgia" pitchFamily="34" charset="-122"/>
                <a:cs typeface="Georgia" pitchFamily="34" charset="-120"/>
              </a:rPr>
              <a:t>What we got out of this</a:t>
            </a:r>
            <a:endParaRPr lang="en-US" sz="2446" dirty="0"/>
          </a:p>
        </p:txBody>
      </p:sp>
      <p:sp>
        <p:nvSpPr>
          <p:cNvPr id="5" name="Shape 3"/>
          <p:cNvSpPr/>
          <p:nvPr/>
        </p:nvSpPr>
        <p:spPr>
          <a:xfrm>
            <a:off x="1115568" y="2139696"/>
            <a:ext cx="9930384" cy="3456432"/>
          </a:xfrm>
          <a:prstGeom prst="roundRect">
            <a:avLst>
              <a:gd name="adj" fmla="val 2116"/>
            </a:avLst>
          </a:prstGeom>
          <a:solidFill>
            <a:srgbClr val="FBF7F1"/>
          </a:solidFill>
          <a:ln w="12700">
            <a:solidFill>
              <a:srgbClr val="D9CCBC"/>
            </a:solidFill>
            <a:prstDash val="solid"/>
          </a:ln>
        </p:spPr>
        <p:txBody>
          <a:bodyPr/>
          <a:lstStyle/>
          <a:p>
            <a:endParaRPr lang="en-US"/>
          </a:p>
        </p:txBody>
      </p:sp>
      <p:sp>
        <p:nvSpPr>
          <p:cNvPr id="6" name="Shape 4"/>
          <p:cNvSpPr/>
          <p:nvPr/>
        </p:nvSpPr>
        <p:spPr>
          <a:xfrm>
            <a:off x="1444752" y="2487168"/>
            <a:ext cx="9272016" cy="731520"/>
          </a:xfrm>
          <a:prstGeom prst="roundRect">
            <a:avLst>
              <a:gd name="adj" fmla="val 10000"/>
            </a:avLst>
          </a:prstGeom>
          <a:solidFill>
            <a:srgbClr val="FFFFFF"/>
          </a:solidFill>
          <a:ln w="12700">
            <a:solidFill>
              <a:srgbClr val="D9CCBC"/>
            </a:solidFill>
            <a:prstDash val="solid"/>
          </a:ln>
        </p:spPr>
        <p:txBody>
          <a:bodyPr/>
          <a:lstStyle/>
          <a:p>
            <a:endParaRPr lang="en-US"/>
          </a:p>
        </p:txBody>
      </p:sp>
      <p:sp>
        <p:nvSpPr>
          <p:cNvPr id="7" name="Shape 5"/>
          <p:cNvSpPr/>
          <p:nvPr/>
        </p:nvSpPr>
        <p:spPr>
          <a:xfrm>
            <a:off x="1664208" y="2651760"/>
            <a:ext cx="475488" cy="237744"/>
          </a:xfrm>
          <a:prstGeom prst="roundRect">
            <a:avLst>
              <a:gd name="adj" fmla="val 19231"/>
            </a:avLst>
          </a:prstGeom>
          <a:solidFill>
            <a:srgbClr val="B9CAD7"/>
          </a:solidFill>
          <a:ln w="12700">
            <a:solidFill>
              <a:srgbClr val="B9CAD7">
                <a:alpha val="0"/>
              </a:srgbClr>
            </a:solidFill>
            <a:prstDash val="solid"/>
          </a:ln>
        </p:spPr>
        <p:txBody>
          <a:bodyPr/>
          <a:lstStyle/>
          <a:p>
            <a:endParaRPr lang="en-US"/>
          </a:p>
        </p:txBody>
      </p:sp>
      <p:sp>
        <p:nvSpPr>
          <p:cNvPr id="8" name="Text 6"/>
          <p:cNvSpPr/>
          <p:nvPr/>
        </p:nvSpPr>
        <p:spPr>
          <a:xfrm>
            <a:off x="1664208" y="2695651"/>
            <a:ext cx="475488" cy="146304"/>
          </a:xfrm>
          <a:prstGeom prst="rect">
            <a:avLst/>
          </a:prstGeom>
          <a:noFill/>
          <a:ln/>
        </p:spPr>
        <p:txBody>
          <a:bodyPr wrap="square" lIns="0" tIns="0" rIns="0" bIns="0" rtlCol="0" anchor="ctr"/>
          <a:lstStyle/>
          <a:p>
            <a:pPr marL="0" indent="0" algn="ctr">
              <a:buNone/>
            </a:pPr>
            <a:r>
              <a:rPr lang="en-US" sz="820" b="1" dirty="0">
                <a:solidFill>
                  <a:srgbClr val="22313B"/>
                </a:solidFill>
                <a:latin typeface="Helvetica Neue" pitchFamily="34" charset="0"/>
                <a:ea typeface="Helvetica Neue" pitchFamily="34" charset="-122"/>
                <a:cs typeface="Helvetica Neue" pitchFamily="34" charset="-120"/>
              </a:rPr>
              <a:t>01</a:t>
            </a:r>
            <a:endParaRPr lang="en-US" sz="820" dirty="0"/>
          </a:p>
        </p:txBody>
      </p:sp>
      <p:sp>
        <p:nvSpPr>
          <p:cNvPr id="9" name="Text 7"/>
          <p:cNvSpPr/>
          <p:nvPr/>
        </p:nvSpPr>
        <p:spPr>
          <a:xfrm>
            <a:off x="2432304" y="2697480"/>
            <a:ext cx="7680960" cy="256032"/>
          </a:xfrm>
          <a:prstGeom prst="rect">
            <a:avLst/>
          </a:prstGeom>
          <a:noFill/>
          <a:ln/>
        </p:spPr>
        <p:txBody>
          <a:bodyPr wrap="square" lIns="0" tIns="0" rIns="0" bIns="0" rtlCol="0" anchor="ctr"/>
          <a:lstStyle/>
          <a:p>
            <a:pPr marL="0" indent="0" algn="ctr">
              <a:buNone/>
            </a:pPr>
            <a:r>
              <a:rPr lang="en-US" sz="1640" b="1" dirty="0">
                <a:solidFill>
                  <a:srgbClr val="22313B"/>
                </a:solidFill>
                <a:latin typeface="Helvetica Neue" pitchFamily="34" charset="0"/>
                <a:ea typeface="Helvetica Neue" pitchFamily="34" charset="-122"/>
                <a:cs typeface="Helvetica Neue" pitchFamily="34" charset="-120"/>
              </a:rPr>
              <a:t>V1 shipped the product</a:t>
            </a:r>
            <a:endParaRPr lang="en-US" sz="1640" dirty="0"/>
          </a:p>
        </p:txBody>
      </p:sp>
      <p:sp>
        <p:nvSpPr>
          <p:cNvPr id="10" name="Shape 8"/>
          <p:cNvSpPr/>
          <p:nvPr/>
        </p:nvSpPr>
        <p:spPr>
          <a:xfrm>
            <a:off x="1444752" y="3511296"/>
            <a:ext cx="9272016" cy="731520"/>
          </a:xfrm>
          <a:prstGeom prst="roundRect">
            <a:avLst>
              <a:gd name="adj" fmla="val 10000"/>
            </a:avLst>
          </a:prstGeom>
          <a:solidFill>
            <a:srgbClr val="E6D6C4"/>
          </a:solidFill>
          <a:ln w="12700">
            <a:solidFill>
              <a:srgbClr val="D9CCBC"/>
            </a:solidFill>
            <a:prstDash val="solid"/>
          </a:ln>
        </p:spPr>
        <p:txBody>
          <a:bodyPr/>
          <a:lstStyle/>
          <a:p>
            <a:endParaRPr lang="en-US"/>
          </a:p>
        </p:txBody>
      </p:sp>
      <p:sp>
        <p:nvSpPr>
          <p:cNvPr id="11" name="Shape 9"/>
          <p:cNvSpPr/>
          <p:nvPr/>
        </p:nvSpPr>
        <p:spPr>
          <a:xfrm>
            <a:off x="1664208" y="3675888"/>
            <a:ext cx="475488" cy="237744"/>
          </a:xfrm>
          <a:prstGeom prst="roundRect">
            <a:avLst>
              <a:gd name="adj" fmla="val 19231"/>
            </a:avLst>
          </a:prstGeom>
          <a:solidFill>
            <a:srgbClr val="B8874F"/>
          </a:solidFill>
          <a:ln w="12700">
            <a:solidFill>
              <a:srgbClr val="B8874F">
                <a:alpha val="0"/>
              </a:srgbClr>
            </a:solidFill>
            <a:prstDash val="solid"/>
          </a:ln>
        </p:spPr>
        <p:txBody>
          <a:bodyPr/>
          <a:lstStyle/>
          <a:p>
            <a:endParaRPr lang="en-US"/>
          </a:p>
        </p:txBody>
      </p:sp>
      <p:sp>
        <p:nvSpPr>
          <p:cNvPr id="12" name="Text 10"/>
          <p:cNvSpPr/>
          <p:nvPr/>
        </p:nvSpPr>
        <p:spPr>
          <a:xfrm>
            <a:off x="1664208" y="3719779"/>
            <a:ext cx="475488" cy="146304"/>
          </a:xfrm>
          <a:prstGeom prst="rect">
            <a:avLst/>
          </a:prstGeom>
          <a:noFill/>
          <a:ln/>
        </p:spPr>
        <p:txBody>
          <a:bodyPr wrap="square" lIns="0" tIns="0" rIns="0" bIns="0" rtlCol="0" anchor="ctr"/>
          <a:lstStyle/>
          <a:p>
            <a:pPr marL="0" indent="0" algn="ctr">
              <a:buNone/>
            </a:pPr>
            <a:r>
              <a:rPr lang="en-US" sz="820" b="1" dirty="0">
                <a:solidFill>
                  <a:srgbClr val="22313B"/>
                </a:solidFill>
                <a:latin typeface="Helvetica Neue" pitchFamily="34" charset="0"/>
                <a:ea typeface="Helvetica Neue" pitchFamily="34" charset="-122"/>
                <a:cs typeface="Helvetica Neue" pitchFamily="34" charset="-120"/>
              </a:rPr>
              <a:t>02</a:t>
            </a:r>
            <a:endParaRPr lang="en-US" sz="820" dirty="0"/>
          </a:p>
        </p:txBody>
      </p:sp>
      <p:sp>
        <p:nvSpPr>
          <p:cNvPr id="13" name="Text 11"/>
          <p:cNvSpPr/>
          <p:nvPr/>
        </p:nvSpPr>
        <p:spPr>
          <a:xfrm>
            <a:off x="2432304" y="3721608"/>
            <a:ext cx="7680960" cy="256032"/>
          </a:xfrm>
          <a:prstGeom prst="rect">
            <a:avLst/>
          </a:prstGeom>
          <a:noFill/>
          <a:ln/>
        </p:spPr>
        <p:txBody>
          <a:bodyPr wrap="square" lIns="0" tIns="0" rIns="0" bIns="0" rtlCol="0" anchor="ctr"/>
          <a:lstStyle/>
          <a:p>
            <a:pPr marL="0" indent="0" algn="ctr">
              <a:buNone/>
            </a:pPr>
            <a:r>
              <a:rPr lang="en-US" sz="1640" b="1" dirty="0">
                <a:solidFill>
                  <a:srgbClr val="22313B"/>
                </a:solidFill>
                <a:latin typeface="Helvetica Neue" pitchFamily="34" charset="0"/>
                <a:ea typeface="Helvetica Neue" pitchFamily="34" charset="-122"/>
                <a:cs typeface="Helvetica Neue" pitchFamily="34" charset="-120"/>
              </a:rPr>
              <a:t>The thesis turned a scaling pain into evidence</a:t>
            </a:r>
            <a:endParaRPr lang="en-US" sz="1640" dirty="0"/>
          </a:p>
        </p:txBody>
      </p:sp>
      <p:sp>
        <p:nvSpPr>
          <p:cNvPr id="14" name="Shape 12"/>
          <p:cNvSpPr/>
          <p:nvPr/>
        </p:nvSpPr>
        <p:spPr>
          <a:xfrm>
            <a:off x="1444752" y="4535424"/>
            <a:ext cx="9272016" cy="731520"/>
          </a:xfrm>
          <a:prstGeom prst="roundRect">
            <a:avLst>
              <a:gd name="adj" fmla="val 10000"/>
            </a:avLst>
          </a:prstGeom>
          <a:solidFill>
            <a:srgbClr val="D7E3EB"/>
          </a:solidFill>
          <a:ln w="12700">
            <a:solidFill>
              <a:srgbClr val="D9CCBC"/>
            </a:solidFill>
            <a:prstDash val="solid"/>
          </a:ln>
        </p:spPr>
        <p:txBody>
          <a:bodyPr/>
          <a:lstStyle/>
          <a:p>
            <a:endParaRPr lang="en-US"/>
          </a:p>
        </p:txBody>
      </p:sp>
      <p:sp>
        <p:nvSpPr>
          <p:cNvPr id="15" name="Shape 13"/>
          <p:cNvSpPr/>
          <p:nvPr/>
        </p:nvSpPr>
        <p:spPr>
          <a:xfrm>
            <a:off x="1664208" y="4700016"/>
            <a:ext cx="475488" cy="237744"/>
          </a:xfrm>
          <a:prstGeom prst="roundRect">
            <a:avLst>
              <a:gd name="adj" fmla="val 19231"/>
            </a:avLst>
          </a:prstGeom>
          <a:solidFill>
            <a:srgbClr val="B9CAD7"/>
          </a:solidFill>
          <a:ln w="12700">
            <a:solidFill>
              <a:srgbClr val="B9CAD7">
                <a:alpha val="0"/>
              </a:srgbClr>
            </a:solidFill>
            <a:prstDash val="solid"/>
          </a:ln>
        </p:spPr>
        <p:txBody>
          <a:bodyPr/>
          <a:lstStyle/>
          <a:p>
            <a:endParaRPr lang="en-US"/>
          </a:p>
        </p:txBody>
      </p:sp>
      <p:sp>
        <p:nvSpPr>
          <p:cNvPr id="16" name="Text 14"/>
          <p:cNvSpPr/>
          <p:nvPr/>
        </p:nvSpPr>
        <p:spPr>
          <a:xfrm>
            <a:off x="1664208" y="4743907"/>
            <a:ext cx="475488" cy="146304"/>
          </a:xfrm>
          <a:prstGeom prst="rect">
            <a:avLst/>
          </a:prstGeom>
          <a:noFill/>
          <a:ln/>
        </p:spPr>
        <p:txBody>
          <a:bodyPr wrap="square" lIns="0" tIns="0" rIns="0" bIns="0" rtlCol="0" anchor="ctr"/>
          <a:lstStyle/>
          <a:p>
            <a:pPr marL="0" indent="0" algn="ctr">
              <a:buNone/>
            </a:pPr>
            <a:r>
              <a:rPr lang="en-US" sz="820" b="1" dirty="0">
                <a:solidFill>
                  <a:srgbClr val="22313B"/>
                </a:solidFill>
                <a:latin typeface="Helvetica Neue" pitchFamily="34" charset="0"/>
                <a:ea typeface="Helvetica Neue" pitchFamily="34" charset="-122"/>
                <a:cs typeface="Helvetica Neue" pitchFamily="34" charset="-120"/>
              </a:rPr>
              <a:t>03</a:t>
            </a:r>
            <a:endParaRPr lang="en-US" sz="820" dirty="0"/>
          </a:p>
        </p:txBody>
      </p:sp>
      <p:sp>
        <p:nvSpPr>
          <p:cNvPr id="17" name="Text 15"/>
          <p:cNvSpPr/>
          <p:nvPr/>
        </p:nvSpPr>
        <p:spPr>
          <a:xfrm>
            <a:off x="2432304" y="4745736"/>
            <a:ext cx="7680960" cy="256032"/>
          </a:xfrm>
          <a:prstGeom prst="rect">
            <a:avLst/>
          </a:prstGeom>
          <a:noFill/>
          <a:ln/>
        </p:spPr>
        <p:txBody>
          <a:bodyPr wrap="square" lIns="0" tIns="0" rIns="0" bIns="0" rtlCol="0" anchor="ctr"/>
          <a:lstStyle/>
          <a:p>
            <a:pPr marL="0" indent="0" algn="ctr">
              <a:buNone/>
            </a:pPr>
            <a:r>
              <a:rPr lang="en-US" sz="1640" b="1" dirty="0">
                <a:solidFill>
                  <a:srgbClr val="22313B"/>
                </a:solidFill>
                <a:latin typeface="Helvetica Neue" pitchFamily="34" charset="0"/>
                <a:ea typeface="Helvetica Neue" pitchFamily="34" charset="-122"/>
                <a:cs typeface="Helvetica Neue" pitchFamily="34" charset="-120"/>
              </a:rPr>
              <a:t>We now have a clearer storage roadmap</a:t>
            </a:r>
            <a:endParaRPr lang="en-US" sz="1640" dirty="0"/>
          </a:p>
        </p:txBody>
      </p:sp>
      <p:sp>
        <p:nvSpPr>
          <p:cNvPr id="18" name="Text 16"/>
          <p:cNvSpPr/>
          <p:nvPr/>
        </p:nvSpPr>
        <p:spPr>
          <a:xfrm>
            <a:off x="9089136" y="5815584"/>
            <a:ext cx="1408176" cy="182880"/>
          </a:xfrm>
          <a:prstGeom prst="rect">
            <a:avLst/>
          </a:prstGeom>
          <a:noFill/>
          <a:ln/>
        </p:spPr>
        <p:txBody>
          <a:bodyPr wrap="square" lIns="0" tIns="0" rIns="0" bIns="0" rtlCol="0" anchor="ctr"/>
          <a:lstStyle/>
          <a:p>
            <a:pPr marL="0" indent="0" algn="r">
              <a:buNone/>
            </a:pPr>
            <a:r>
              <a:rPr lang="en-US" sz="1120" i="1" dirty="0">
                <a:solidFill>
                  <a:srgbClr val="53626C"/>
                </a:solidFill>
                <a:latin typeface="Helvetica Neue" pitchFamily="34" charset="0"/>
                <a:ea typeface="Helvetica Neue" pitchFamily="34" charset="-122"/>
                <a:cs typeface="Helvetica Neue" pitchFamily="34" charset="-120"/>
              </a:rPr>
              <a:t>Questions</a:t>
            </a:r>
            <a:endParaRPr lang="en-US" sz="1120" dirty="0"/>
          </a:p>
        </p:txBody>
      </p:sp>
      <p:sp>
        <p:nvSpPr>
          <p:cNvPr id="19" name="Shape 17"/>
          <p:cNvSpPr/>
          <p:nvPr/>
        </p:nvSpPr>
        <p:spPr>
          <a:xfrm>
            <a:off x="8814816" y="530352"/>
            <a:ext cx="1005840" cy="365760"/>
          </a:xfrm>
          <a:prstGeom prst="roundRect">
            <a:avLst>
              <a:gd name="adj" fmla="val 15000"/>
            </a:avLst>
          </a:prstGeom>
          <a:solidFill>
            <a:srgbClr val="F2E9DE"/>
          </a:solidFill>
          <a:ln w="12700">
            <a:solidFill>
              <a:srgbClr val="D9CCBC"/>
            </a:solidFill>
            <a:prstDash val="solid"/>
          </a:ln>
        </p:spPr>
        <p:txBody>
          <a:bodyPr/>
          <a:lstStyle/>
          <a:p>
            <a:endParaRPr lang="en-US"/>
          </a:p>
        </p:txBody>
      </p:sp>
      <p:sp>
        <p:nvSpPr>
          <p:cNvPr id="20" name="Text 18"/>
          <p:cNvSpPr/>
          <p:nvPr/>
        </p:nvSpPr>
        <p:spPr>
          <a:xfrm>
            <a:off x="8814816" y="603504"/>
            <a:ext cx="1005840" cy="219456"/>
          </a:xfrm>
          <a:prstGeom prst="rect">
            <a:avLst/>
          </a:prstGeom>
          <a:noFill/>
          <a:ln/>
        </p:spPr>
        <p:txBody>
          <a:bodyPr wrap="square" lIns="0" tIns="0" rIns="0" bIns="0" rtlCol="0" anchor="ctr"/>
          <a:lstStyle/>
          <a:p>
            <a:pPr marL="0" indent="0" algn="ctr">
              <a:buNone/>
            </a:pPr>
            <a:r>
              <a:rPr lang="en-US" sz="1050" dirty="0">
                <a:solidFill>
                  <a:srgbClr val="53626C"/>
                </a:solidFill>
                <a:latin typeface="Helvetica Neue" pitchFamily="34" charset="0"/>
                <a:ea typeface="Helvetica Neue" pitchFamily="34" charset="-122"/>
                <a:cs typeface="Helvetica Neue" pitchFamily="34" charset="-120"/>
              </a:rPr>
              <a:t>Slide 13</a:t>
            </a:r>
            <a:endParaRPr lang="en-US" sz="1050" dirty="0"/>
          </a:p>
        </p:txBody>
      </p:sp>
      <p:sp>
        <p:nvSpPr>
          <p:cNvPr id="21" name="Shape 19"/>
          <p:cNvSpPr/>
          <p:nvPr/>
        </p:nvSpPr>
        <p:spPr>
          <a:xfrm>
            <a:off x="9948672" y="530352"/>
            <a:ext cx="1335024" cy="365760"/>
          </a:xfrm>
          <a:prstGeom prst="roundRect">
            <a:avLst>
              <a:gd name="adj" fmla="val 15000"/>
            </a:avLst>
          </a:prstGeom>
          <a:solidFill>
            <a:srgbClr val="F2E9DE"/>
          </a:solidFill>
          <a:ln w="12700">
            <a:solidFill>
              <a:srgbClr val="D9CCBC"/>
            </a:solidFill>
            <a:prstDash val="solid"/>
          </a:ln>
        </p:spPr>
        <p:txBody>
          <a:bodyPr/>
          <a:lstStyle/>
          <a:p>
            <a:endParaRPr lang="en-US"/>
          </a:p>
        </p:txBody>
      </p:sp>
      <p:sp>
        <p:nvSpPr>
          <p:cNvPr id="22" name="Text 20"/>
          <p:cNvSpPr/>
          <p:nvPr/>
        </p:nvSpPr>
        <p:spPr>
          <a:xfrm>
            <a:off x="9948672" y="603504"/>
            <a:ext cx="1335024" cy="219456"/>
          </a:xfrm>
          <a:prstGeom prst="rect">
            <a:avLst/>
          </a:prstGeom>
          <a:noFill/>
          <a:ln/>
        </p:spPr>
        <p:txBody>
          <a:bodyPr wrap="square" lIns="0" tIns="0" rIns="0" bIns="0" rtlCol="0" anchor="ctr"/>
          <a:lstStyle/>
          <a:p>
            <a:pPr marL="0" indent="0" algn="ctr">
              <a:buNone/>
            </a:pPr>
            <a:r>
              <a:rPr lang="en-US" sz="1050" dirty="0">
                <a:solidFill>
                  <a:srgbClr val="53626C"/>
                </a:solidFill>
                <a:latin typeface="Helvetica Neue" pitchFamily="34" charset="0"/>
                <a:ea typeface="Helvetica Neue" pitchFamily="34" charset="-122"/>
                <a:cs typeface="Helvetica Neue" pitchFamily="34" charset="-120"/>
              </a:rPr>
              <a:t>Close</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Helvetica Neu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3399</Words>
  <Application>Microsoft Macintosh PowerPoint</Application>
  <PresentationFormat>Widescreen</PresentationFormat>
  <Paragraphs>287</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Georgia</vt:lpstr>
      <vt:lpstr>Helvetica Neue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Scatterin AB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Experiment to Insight: How we de-risked the next generation of Scatterin's data platform</dc:title>
  <dc:subject>Internal presentation</dc:subject>
  <dc:creator>Casper Ove Kristiansson</dc:creator>
  <cp:lastModifiedBy>Casper Kristiansson</cp:lastModifiedBy>
  <cp:revision>1</cp:revision>
  <dcterms:created xsi:type="dcterms:W3CDTF">2026-04-04T14:15:50Z</dcterms:created>
  <dcterms:modified xsi:type="dcterms:W3CDTF">2026-04-04T14:18:44Z</dcterms:modified>
</cp:coreProperties>
</file>